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embeddedFontLst>
    <p:embeddedFont>
      <p:font typeface="Lato" panose="020F0502020204030203" pitchFamily="34" charset="0"/>
      <p:regular r:id="rId40"/>
      <p:bold r:id="rId41"/>
      <p:italic r:id="rId42"/>
      <p:boldItalic r:id="rId43"/>
    </p:embeddedFont>
    <p:embeddedFont>
      <p:font typeface="Montserrat" panose="000005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2A62B8-4E0E-41A4-985D-600F20FF3183}">
  <a:tblStyle styleId="{802A62B8-4E0E-41A4-985D-600F20FF31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yu Zhu" userId="13cc7b25a6ca6aed" providerId="LiveId" clId="{02DC8A4E-35D1-46B1-AB70-C6243DD51829}"/>
    <pc:docChg chg="undo custSel modSld sldOrd">
      <pc:chgData name="Ziyu Zhu" userId="13cc7b25a6ca6aed" providerId="LiveId" clId="{02DC8A4E-35D1-46B1-AB70-C6243DD51829}" dt="2025-02-12T01:05:11.436" v="20" actId="20577"/>
      <pc:docMkLst>
        <pc:docMk/>
      </pc:docMkLst>
      <pc:sldChg chg="ord modNotes">
        <pc:chgData name="Ziyu Zhu" userId="13cc7b25a6ca6aed" providerId="LiveId" clId="{02DC8A4E-35D1-46B1-AB70-C6243DD51829}" dt="2025-02-12T00:49:22.745" v="2" actId="20578"/>
        <pc:sldMkLst>
          <pc:docMk/>
          <pc:sldMk cId="0" sldId="260"/>
        </pc:sldMkLst>
      </pc:sldChg>
      <pc:sldChg chg="modSp mod">
        <pc:chgData name="Ziyu Zhu" userId="13cc7b25a6ca6aed" providerId="LiveId" clId="{02DC8A4E-35D1-46B1-AB70-C6243DD51829}" dt="2025-02-12T01:05:11.436" v="20" actId="20577"/>
        <pc:sldMkLst>
          <pc:docMk/>
          <pc:sldMk cId="0" sldId="291"/>
        </pc:sldMkLst>
        <pc:spChg chg="mod">
          <ac:chgData name="Ziyu Zhu" userId="13cc7b25a6ca6aed" providerId="LiveId" clId="{02DC8A4E-35D1-46B1-AB70-C6243DD51829}" dt="2025-02-12T01:05:11.436" v="20" actId="20577"/>
          <ac:spMkLst>
            <pc:docMk/>
            <pc:sldMk cId="0" sldId="291"/>
            <ac:spMk id="4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2b7a582be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2b7a582be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02b7a582be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02b7a582be_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2b7a582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02b7a582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2b7a582be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02b7a582be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f859637e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f859637e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02b7a582be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02b7a582be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2b7a582be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02b7a582be_2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855c9a7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f855c9a7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855c9a70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f855c9a70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2b7a582be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2b7a582be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2b7a582be_2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02b7a582be_2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02b7a582be_2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02b7a582be_2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02b7a582be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02b7a582be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f855c9a70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f855c9a70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42731927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42731927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042731927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042731927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0490671ab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0490671ab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0490671ab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0490671ab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0490671ab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0490671ab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02b7a582be_2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02b7a582be_2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02b7a582be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02b7a582be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02b7a582be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02b7a582be_2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02b7a582be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02b7a582be_2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02fb40725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02fb40725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85644a82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f85644a82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02b7a582be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02b7a582be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f859637e0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f859637e0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02b7a582b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02b7a582be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02b7a582b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02b7a582b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02b7a582b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02b7a582b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f85644a82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f85644a82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02b7a582be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02b7a582be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f855c9a70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f855c9a70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f855c9a70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f855c9a70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02b7a582be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02b7a582be_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04a9b5865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04a9b5865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Fleet Services Analysis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Henry, Karen, Alissa, and Bowen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820200" y="1567550"/>
            <a:ext cx="75036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5,610 vehicles under management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28 divisions (e.g. Parks, Forestry, and Recreation, Toronto Water, etc.)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22 vehicle category classes (e.g. Class 1, Class 2, Tram, Boats)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Average lifetime usage is about 1540 hours, 31,400 km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Average age is 7.6 years, median is 6.3 years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40 vehicles were missing their age and 12 had an age less than 0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Average and median expected age is 10 years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utilization optimization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Utilization: Definition </a:t>
            </a:r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>
            <a:off x="1297500" y="927000"/>
            <a:ext cx="70389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600"/>
              <a:t>Utilization = (Actual KM (or Hrs) usage per year) / (Expected KM (or Hrs) usage per year)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600"/>
              <a:t>The avg utilization (by hours) of four category groups exceed 1.0, indicating estimation errors in expected usage.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600"/>
              <a:t>We may give more weight to utilization by KM in our analysis.</a:t>
            </a:r>
            <a:endParaRPr sz="1600"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241" y="2571750"/>
            <a:ext cx="3964082" cy="243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7845" y="2554100"/>
            <a:ext cx="3899206" cy="243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Utilization: Under-utilization Categories</a:t>
            </a: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"/>
          </p:nvPr>
        </p:nvSpPr>
        <p:spPr>
          <a:xfrm>
            <a:off x="1297500" y="1095450"/>
            <a:ext cx="7038900" cy="4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We may pay attention to at least the top N under-utilized category groups.</a:t>
            </a:r>
            <a:endParaRPr sz="1400"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100" y="1510000"/>
            <a:ext cx="7299299" cy="356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/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Utilization: Sharing Among Divisions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6426700" y="1510050"/>
            <a:ext cx="2380800" cy="3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SEDAN-PASS  group presents the highest-impact sharing-among-divisions opportunity, followed by PICKU-1/2T and PICKU-3/4T groups.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6121900" cy="3368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Utilization: Reduction Possible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6426700" y="1510050"/>
            <a:ext cx="2380800" cy="3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fleets under the top 10 groups, except TRUCK-DUMP,  belong to a small number of classes.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Therefore, the fleets should be interchangeable, and the number of fleets can be reduced.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25" y="1420213"/>
            <a:ext cx="6061050" cy="349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Utilization: Recommendations</a:t>
            </a:r>
            <a:endParaRPr/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700" y="1379625"/>
            <a:ext cx="2882725" cy="364361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3439425" y="1510050"/>
            <a:ext cx="4896900" cy="3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Study the fleets under SEDAN-PASS, PICKU-1/2T and PICKU-3/4T groups for consolidation: reducing the number of fleets and sharing them among cost centers.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Study the possibility of a cost sharing model to enable the cost centers using the fleets to pay rents to the owning cost.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Study the possibility of employee reimbursement program for SEDAN-PASS.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Further study the possibility of improving utilization of all groups to be above 0.5.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>
            <a:spLocks noGrp="1"/>
          </p:cNvSpPr>
          <p:nvPr>
            <p:ph type="title"/>
          </p:nvPr>
        </p:nvSpPr>
        <p:spPr>
          <a:xfrm>
            <a:off x="1017475" y="3474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Utilization: Fleet Distribution </a:t>
            </a:r>
            <a:endParaRPr/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450" y="823304"/>
            <a:ext cx="7237649" cy="417516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>
            <a:spLocks noGrp="1"/>
          </p:cNvSpPr>
          <p:nvPr>
            <p:ph type="body" idx="1"/>
          </p:nvPr>
        </p:nvSpPr>
        <p:spPr>
          <a:xfrm>
            <a:off x="5684850" y="3075050"/>
            <a:ext cx="2699100" cy="16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Location with relatively large amount of  vehicle that have higher standard deviation of utilization : 25 Old Elington Avenue and 1026 Finch Ave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 orders may not evenly assigned to vehicle at the these  locations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>
            <a:spLocks noGrp="1"/>
          </p:cNvSpPr>
          <p:nvPr>
            <p:ph type="title"/>
          </p:nvPr>
        </p:nvSpPr>
        <p:spPr>
          <a:xfrm>
            <a:off x="976575" y="2954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Utilization: Fleet Distribution </a:t>
            </a:r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body" idx="1"/>
          </p:nvPr>
        </p:nvSpPr>
        <p:spPr>
          <a:xfrm>
            <a:off x="7320750" y="1087500"/>
            <a:ext cx="1542600" cy="32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Recommendation: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Assign order evenly to each heavy duty vehicles to 25 Old Ellington (Mack) Avenue and 1026 Finch Ave (Freightliner).</a:t>
            </a:r>
            <a:endParaRPr b="1"/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75" y="1209525"/>
            <a:ext cx="7015952" cy="3424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63327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budgeting for renewal needs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Budgeting: Oldness Definition 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body" idx="1"/>
          </p:nvPr>
        </p:nvSpPr>
        <p:spPr>
          <a:xfrm>
            <a:off x="1297500" y="927000"/>
            <a:ext cx="70389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600"/>
              <a:t>Oldness = (Actual lifetime KM (or Hrs) usage) / (Expected lifetime KM (or Hrs) usage)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600"/>
              <a:t>The avg Oldness (by hours) of one category group exceed 1.0, indicating estimation errors in expected usage.</a:t>
            </a:r>
            <a:endParaRPr sz="1600"/>
          </a:p>
        </p:txBody>
      </p:sp>
      <p:pic>
        <p:nvPicPr>
          <p:cNvPr id="208" name="Google Shape;2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625" y="2214050"/>
            <a:ext cx="4198476" cy="27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>
            <a:spLocks noGrp="1"/>
          </p:cNvSpPr>
          <p:nvPr>
            <p:ph type="body" idx="1"/>
          </p:nvPr>
        </p:nvSpPr>
        <p:spPr>
          <a:xfrm>
            <a:off x="5033350" y="2494800"/>
            <a:ext cx="3774000" cy="24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Based on Oldness(Hrs) metric, the GM-TURF-SWP, TRUCK-SLOAD, TRUCK-RLOAD, and (high-priority) TRUCK-UTIL groups may need budget to update.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Budgeting: Old Fleet Groups </a:t>
            </a:r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1"/>
          </p:nvPr>
        </p:nvSpPr>
        <p:spPr>
          <a:xfrm>
            <a:off x="1297500" y="927000"/>
            <a:ext cx="70389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" sz="1600"/>
              <a:t>The avg Oldness (by KM) does not exceed 1.0, implying it to be a potentially better metric.</a:t>
            </a:r>
            <a:endParaRPr sz="160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1"/>
          </p:nvPr>
        </p:nvSpPr>
        <p:spPr>
          <a:xfrm>
            <a:off x="5135200" y="2494800"/>
            <a:ext cx="3672300" cy="24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Based on Oldness(KM) metric, the TRUCK-FLATBAP, BUS-BOOK, and (high-priority) TRUCK-UTIL groups may need budget to update.</a:t>
            </a:r>
            <a:endParaRPr sz="1600"/>
          </a:p>
        </p:txBody>
      </p:sp>
      <p:pic>
        <p:nvPicPr>
          <p:cNvPr id="217" name="Google Shape;2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024" y="2274650"/>
            <a:ext cx="4231899" cy="271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Budgeting: Recommendations </a:t>
            </a:r>
            <a:endParaRPr/>
          </a:p>
        </p:txBody>
      </p:sp>
      <p:sp>
        <p:nvSpPr>
          <p:cNvPr id="223" name="Google Shape;223;p26"/>
          <p:cNvSpPr txBox="1">
            <a:spLocks noGrp="1"/>
          </p:cNvSpPr>
          <p:nvPr>
            <p:ph type="body" idx="1"/>
          </p:nvPr>
        </p:nvSpPr>
        <p:spPr>
          <a:xfrm>
            <a:off x="5123975" y="1248225"/>
            <a:ext cx="3672300" cy="35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Based on utilization and oldness, GM-TURF-SWP group likely needs a budget to update the fleets, followed by TRUCK_FLATBAP and BUS-BOOK groups.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other groups’ needs may be dealt with through utilization optimization.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graphicFrame>
        <p:nvGraphicFramePr>
          <p:cNvPr id="224" name="Google Shape;224;p26"/>
          <p:cNvGraphicFramePr/>
          <p:nvPr/>
        </p:nvGraphicFramePr>
        <p:xfrm>
          <a:off x="626825" y="173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{802A62B8-4E0E-41A4-985D-600F20FF3183}</a:tableStyleId>
              </a:tblPr>
              <a:tblGrid>
                <a:gridCol w="197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GROUP</a:t>
                      </a:r>
                      <a:endParaRPr sz="1600"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UTILIZATION(KM)</a:t>
                      </a:r>
                      <a:endParaRPr sz="1600"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GM-TURF-SWP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0.78 (by Hrs)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TRUCK-SLOAD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0.35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TRUCK-RLOAD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0.32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TRUCK-UTIL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TRUCK-FLATBAP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BUS-BOOK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>
            <a:spLocks noGrp="1"/>
          </p:cNvSpPr>
          <p:nvPr>
            <p:ph type="title"/>
          </p:nvPr>
        </p:nvSpPr>
        <p:spPr>
          <a:xfrm>
            <a:off x="618375" y="3265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Budgeting: Cost Center</a:t>
            </a:r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body" idx="1"/>
          </p:nvPr>
        </p:nvSpPr>
        <p:spPr>
          <a:xfrm>
            <a:off x="7408150" y="971725"/>
            <a:ext cx="1532100" cy="3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Remaining life = Expected Life(Yr) - Age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only vehicles with ‘Active’ Status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/>
              <a:t>Recommendation</a:t>
            </a:r>
            <a:r>
              <a:rPr lang="en"/>
              <a:t>: Allocate more budget to cost centers with the highest number of vehicles whose age exceeds their expected life,  for maybe replacement program</a:t>
            </a:r>
            <a:endParaRPr/>
          </a:p>
        </p:txBody>
      </p:sp>
      <p:pic>
        <p:nvPicPr>
          <p:cNvPr id="231" name="Google Shape;2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725" y="971726"/>
            <a:ext cx="6652201" cy="37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>
            <a:spLocks noGrp="1"/>
          </p:cNvSpPr>
          <p:nvPr>
            <p:ph type="body" idx="1"/>
          </p:nvPr>
        </p:nvSpPr>
        <p:spPr>
          <a:xfrm>
            <a:off x="6164800" y="388775"/>
            <a:ext cx="2979300" cy="40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u="sng"/>
              <a:t>Budgeting: Optimization</a:t>
            </a:r>
            <a:endParaRPr sz="1400" b="1" u="sng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Cluster 1: High Utilization and Low Oldness.</a:t>
            </a:r>
            <a:endParaRPr sz="1400"/>
          </a:p>
          <a:p>
            <a:pPr marL="457200" lvl="0" indent="-3365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700"/>
              <a:buChar char="●"/>
            </a:pPr>
            <a:r>
              <a:rPr lang="en" sz="14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Allocate budget for </a:t>
            </a:r>
            <a:r>
              <a:rPr lang="en" sz="1400" b="1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preventive maintenance</a:t>
            </a:r>
            <a:endParaRPr sz="14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Redistributing the vehicles to balance workloads</a:t>
            </a:r>
            <a:endParaRPr sz="11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Cluster 3: Low Utilization and High Oldness. </a:t>
            </a:r>
            <a:endParaRPr sz="1400"/>
          </a:p>
          <a:p>
            <a:pPr marL="457200" lvl="0" indent="-3175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Reduce maintenance   budget, and consider replacement</a:t>
            </a:r>
            <a:endParaRPr sz="14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975" y="206137"/>
            <a:ext cx="5728775" cy="442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>
            <a:spLocks noGrp="1"/>
          </p:cNvSpPr>
          <p:nvPr>
            <p:ph type="title"/>
          </p:nvPr>
        </p:nvSpPr>
        <p:spPr>
          <a:xfrm>
            <a:off x="316975" y="0"/>
            <a:ext cx="7038900" cy="3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Budgeting: Visualization of Models in Clusters</a:t>
            </a:r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4" name="Google Shape;24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438" y="494850"/>
            <a:ext cx="8283124" cy="455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6250" y="1043875"/>
            <a:ext cx="2987299" cy="230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>
            <a:spLocks noGrp="1"/>
          </p:cNvSpPr>
          <p:nvPr>
            <p:ph type="title"/>
          </p:nvPr>
        </p:nvSpPr>
        <p:spPr>
          <a:xfrm>
            <a:off x="1021325" y="255400"/>
            <a:ext cx="7300500" cy="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of Most Frequent Models in Each Cluster</a:t>
            </a:r>
            <a:endParaRPr/>
          </a:p>
        </p:txBody>
      </p:sp>
      <p:sp>
        <p:nvSpPr>
          <p:cNvPr id="251" name="Google Shape;251;p30"/>
          <p:cNvSpPr txBox="1">
            <a:spLocks noGrp="1"/>
          </p:cNvSpPr>
          <p:nvPr>
            <p:ph type="body" idx="1"/>
          </p:nvPr>
        </p:nvSpPr>
        <p:spPr>
          <a:xfrm>
            <a:off x="631875" y="547846"/>
            <a:ext cx="1933500" cy="6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2" name="Google Shape;25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575" y="686800"/>
            <a:ext cx="2764937" cy="3236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4114" y="686800"/>
            <a:ext cx="2764935" cy="195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4114" y="882588"/>
            <a:ext cx="2764937" cy="199595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 txBox="1"/>
          <p:nvPr/>
        </p:nvSpPr>
        <p:spPr>
          <a:xfrm>
            <a:off x="3904125" y="3074350"/>
            <a:ext cx="3745500" cy="1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82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More maintenance budget on highlighted models  in Cluster 1.</a:t>
            </a:r>
            <a:endParaRPr sz="1282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82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Less budget on  maintenance and more on replacement for those highlighted in Cluster 3.</a:t>
            </a:r>
            <a:endParaRPr sz="1282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812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6" name="Google Shape;256;p30"/>
          <p:cNvCxnSpPr/>
          <p:nvPr/>
        </p:nvCxnSpPr>
        <p:spPr>
          <a:xfrm>
            <a:off x="1128596" y="2080642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0"/>
          <p:cNvCxnSpPr/>
          <p:nvPr/>
        </p:nvCxnSpPr>
        <p:spPr>
          <a:xfrm>
            <a:off x="1128608" y="2305217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30"/>
          <p:cNvCxnSpPr/>
          <p:nvPr/>
        </p:nvCxnSpPr>
        <p:spPr>
          <a:xfrm>
            <a:off x="1128596" y="2497492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30"/>
          <p:cNvCxnSpPr/>
          <p:nvPr/>
        </p:nvCxnSpPr>
        <p:spPr>
          <a:xfrm>
            <a:off x="1128608" y="2691917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" name="Google Shape;260;p30"/>
          <p:cNvCxnSpPr/>
          <p:nvPr/>
        </p:nvCxnSpPr>
        <p:spPr>
          <a:xfrm>
            <a:off x="1128608" y="2878542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30"/>
          <p:cNvCxnSpPr/>
          <p:nvPr/>
        </p:nvCxnSpPr>
        <p:spPr>
          <a:xfrm>
            <a:off x="3948133" y="1077692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" name="Google Shape;262;p30"/>
          <p:cNvCxnSpPr/>
          <p:nvPr/>
        </p:nvCxnSpPr>
        <p:spPr>
          <a:xfrm>
            <a:off x="3948133" y="1300142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" name="Google Shape;263;p30"/>
          <p:cNvCxnSpPr/>
          <p:nvPr/>
        </p:nvCxnSpPr>
        <p:spPr>
          <a:xfrm>
            <a:off x="3948133" y="1480567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30"/>
          <p:cNvCxnSpPr/>
          <p:nvPr/>
        </p:nvCxnSpPr>
        <p:spPr>
          <a:xfrm>
            <a:off x="3948133" y="1660992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30"/>
          <p:cNvCxnSpPr/>
          <p:nvPr/>
        </p:nvCxnSpPr>
        <p:spPr>
          <a:xfrm>
            <a:off x="3948133" y="1880567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>
            <a:spLocks noGrp="1"/>
          </p:cNvSpPr>
          <p:nvPr>
            <p:ph type="title"/>
          </p:nvPr>
        </p:nvSpPr>
        <p:spPr>
          <a:xfrm>
            <a:off x="527550" y="140075"/>
            <a:ext cx="808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Budgeting: Visualization of Category Groups  in Clusters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2" name="Google Shape;2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00" y="778324"/>
            <a:ext cx="8570800" cy="4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4200" y="1307850"/>
            <a:ext cx="2987299" cy="230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>
            <a:spLocks noGrp="1"/>
          </p:cNvSpPr>
          <p:nvPr>
            <p:ph type="title"/>
          </p:nvPr>
        </p:nvSpPr>
        <p:spPr>
          <a:xfrm>
            <a:off x="1073400" y="335600"/>
            <a:ext cx="8004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of Most Frequent Category Groups in Each Cluster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2"/>
          <p:cNvSpPr txBox="1">
            <a:spLocks noGrp="1"/>
          </p:cNvSpPr>
          <p:nvPr>
            <p:ph type="body" idx="1"/>
          </p:nvPr>
        </p:nvSpPr>
        <p:spPr>
          <a:xfrm>
            <a:off x="3843450" y="3625200"/>
            <a:ext cx="3988200" cy="7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282"/>
              <a:t>More maintenance budget on highlighted Category Groups in Cluster 1.</a:t>
            </a:r>
            <a:endParaRPr sz="1282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282"/>
              <a:t>Less budget on  maintenance and more on replacement for those highlighted in Cluster 3.</a:t>
            </a:r>
            <a:endParaRPr sz="1282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812"/>
          </a:p>
        </p:txBody>
      </p:sp>
      <p:pic>
        <p:nvPicPr>
          <p:cNvPr id="280" name="Google Shape;2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3438" y="784188"/>
            <a:ext cx="2676925" cy="19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388" y="784200"/>
            <a:ext cx="2676916" cy="376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3438" y="986862"/>
            <a:ext cx="2676925" cy="254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32"/>
          <p:cNvCxnSpPr/>
          <p:nvPr/>
        </p:nvCxnSpPr>
        <p:spPr>
          <a:xfrm>
            <a:off x="1073408" y="2430817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32"/>
          <p:cNvCxnSpPr/>
          <p:nvPr/>
        </p:nvCxnSpPr>
        <p:spPr>
          <a:xfrm>
            <a:off x="1073400" y="2666321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32"/>
          <p:cNvCxnSpPr/>
          <p:nvPr/>
        </p:nvCxnSpPr>
        <p:spPr>
          <a:xfrm>
            <a:off x="1073408" y="2916548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" name="Google Shape;286;p32"/>
          <p:cNvCxnSpPr/>
          <p:nvPr/>
        </p:nvCxnSpPr>
        <p:spPr>
          <a:xfrm>
            <a:off x="3939452" y="1227726"/>
            <a:ext cx="2484900" cy="4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2"/>
          <p:cNvCxnSpPr/>
          <p:nvPr/>
        </p:nvCxnSpPr>
        <p:spPr>
          <a:xfrm>
            <a:off x="3939440" y="1480734"/>
            <a:ext cx="2484900" cy="4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2"/>
          <p:cNvCxnSpPr/>
          <p:nvPr/>
        </p:nvCxnSpPr>
        <p:spPr>
          <a:xfrm>
            <a:off x="3939452" y="1733717"/>
            <a:ext cx="2484900" cy="4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32"/>
          <p:cNvCxnSpPr/>
          <p:nvPr/>
        </p:nvCxnSpPr>
        <p:spPr>
          <a:xfrm>
            <a:off x="1073400" y="3350459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32"/>
          <p:cNvCxnSpPr/>
          <p:nvPr/>
        </p:nvCxnSpPr>
        <p:spPr>
          <a:xfrm>
            <a:off x="1016088" y="3140487"/>
            <a:ext cx="2676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32"/>
          <p:cNvCxnSpPr/>
          <p:nvPr/>
        </p:nvCxnSpPr>
        <p:spPr>
          <a:xfrm>
            <a:off x="3939452" y="1986726"/>
            <a:ext cx="2484900" cy="4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32"/>
          <p:cNvCxnSpPr/>
          <p:nvPr/>
        </p:nvCxnSpPr>
        <p:spPr>
          <a:xfrm>
            <a:off x="3939452" y="2180801"/>
            <a:ext cx="2484900" cy="4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 analysis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Reliability: High VEU Fleets</a:t>
            </a:r>
            <a:endParaRPr/>
          </a:p>
        </p:txBody>
      </p:sp>
      <p:sp>
        <p:nvSpPr>
          <p:cNvPr id="303" name="Google Shape;303;p34"/>
          <p:cNvSpPr txBox="1">
            <a:spLocks noGrp="1"/>
          </p:cNvSpPr>
          <p:nvPr>
            <p:ph type="body" idx="1"/>
          </p:nvPr>
        </p:nvSpPr>
        <p:spPr>
          <a:xfrm>
            <a:off x="6583925" y="1218975"/>
            <a:ext cx="2246100" cy="37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600"/>
              <a:t>Four groups with both high VEU and high number of fleets: TRUCK-RLOAD, TRUCK-SLOAD, TRUCK-DUMP, and TRUCK-UTIL.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600"/>
              <a:t>TRUCK-DUMP group is the only one we have not covered previously. Its utilization(KM) is 0.36. May reduce its quantity.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600"/>
          </a:p>
        </p:txBody>
      </p:sp>
      <p:pic>
        <p:nvPicPr>
          <p:cNvPr id="304" name="Google Shape;30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76" y="1506550"/>
            <a:ext cx="6315500" cy="30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Reliability: VEU by Make</a:t>
            </a:r>
            <a:endParaRPr/>
          </a:p>
        </p:txBody>
      </p:sp>
      <p:sp>
        <p:nvSpPr>
          <p:cNvPr id="310" name="Google Shape;310;p35"/>
          <p:cNvSpPr txBox="1">
            <a:spLocks noGrp="1"/>
          </p:cNvSpPr>
          <p:nvPr>
            <p:ph type="body" idx="1"/>
          </p:nvPr>
        </p:nvSpPr>
        <p:spPr>
          <a:xfrm>
            <a:off x="6179625" y="1248225"/>
            <a:ext cx="2616600" cy="35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Japanese maker Isuzu has high VEU, just as American makers do.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American maker Ford has a range of low VEU to high VEU.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Therefore, it is the category group that matters most.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pic>
        <p:nvPicPr>
          <p:cNvPr id="311" name="Google Shape;3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5649360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Reliability: Downtime by Make</a:t>
            </a:r>
            <a:endParaRPr/>
          </a:p>
        </p:txBody>
      </p:sp>
      <p:sp>
        <p:nvSpPr>
          <p:cNvPr id="317" name="Google Shape;317;p36"/>
          <p:cNvSpPr txBox="1">
            <a:spLocks noGrp="1"/>
          </p:cNvSpPr>
          <p:nvPr>
            <p:ph type="body" idx="1"/>
          </p:nvPr>
        </p:nvSpPr>
        <p:spPr>
          <a:xfrm>
            <a:off x="6179625" y="1307850"/>
            <a:ext cx="2616600" cy="3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same results can be observed using downtime.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We cannot simply use the national origin of the makers to decide on fleet reliability.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pic>
        <p:nvPicPr>
          <p:cNvPr id="318" name="Google Shape;3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475" y="1387450"/>
            <a:ext cx="5751751" cy="36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Reliability: Average Downtime Per Year</a:t>
            </a:r>
            <a:endParaRPr/>
          </a:p>
        </p:txBody>
      </p:sp>
      <p:sp>
        <p:nvSpPr>
          <p:cNvPr id="324" name="Google Shape;324;p37"/>
          <p:cNvSpPr txBox="1">
            <a:spLocks noGrp="1"/>
          </p:cNvSpPr>
          <p:nvPr>
            <p:ph type="body" idx="1"/>
          </p:nvPr>
        </p:nvSpPr>
        <p:spPr>
          <a:xfrm>
            <a:off x="6831000" y="1544675"/>
            <a:ext cx="1965300" cy="33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Different makers excelled in different classes in quality.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Class 1 and class 2 had the largest quantities. For them, avoid Chrysler in the future.</a:t>
            </a:r>
            <a:endParaRPr sz="1600"/>
          </a:p>
        </p:txBody>
      </p:sp>
      <p:graphicFrame>
        <p:nvGraphicFramePr>
          <p:cNvPr id="325" name="Google Shape;325;p37"/>
          <p:cNvGraphicFramePr/>
          <p:nvPr/>
        </p:nvGraphicFramePr>
        <p:xfrm>
          <a:off x="492075" y="174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{802A62B8-4E0E-41A4-985D-600F20FF3183}</a:tableStyleId>
              </a:tblPr>
              <a:tblGrid>
                <a:gridCol w="154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</a:t>
                      </a:r>
                      <a:endParaRPr sz="1600"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Count</a:t>
                      </a:r>
                      <a:endParaRPr sz="1600"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Worst</a:t>
                      </a:r>
                      <a:endParaRPr sz="1600"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Best</a:t>
                      </a:r>
                      <a:endParaRPr sz="1600"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 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968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Chrysler (82.0)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Mitsubishi (0.6)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 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1232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Chrysler (167.9)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GMC (5.0)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 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194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Chevrolet (60.0)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Mercedes (17.2)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 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136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Ford (22.7)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GMC (4.6)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 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228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Ford (361.5)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GMC (11.4)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Reliability: Lifting and Ground Make Reliability </a:t>
            </a:r>
            <a:endParaRPr/>
          </a:p>
        </p:txBody>
      </p:sp>
      <p:sp>
        <p:nvSpPr>
          <p:cNvPr id="331" name="Google Shape;331;p38"/>
          <p:cNvSpPr txBox="1">
            <a:spLocks noGrp="1"/>
          </p:cNvSpPr>
          <p:nvPr>
            <p:ph type="body" idx="1"/>
          </p:nvPr>
        </p:nvSpPr>
        <p:spPr>
          <a:xfrm>
            <a:off x="270875" y="1654950"/>
            <a:ext cx="38067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Of all makes, CAT lifts (14 vehicles) are the most unreliable with the highest avg. downtime-usage ratio. 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Accounting for avg. oldness in hours, CAT lifts (0.06) are more unreliable than lifts of similar oldness. Skyjack lifts with an avg. oldness of 0.05 have a downtime-usage ratio of 0.47.</a:t>
            </a:r>
            <a:endParaRPr sz="1600"/>
          </a:p>
        </p:txBody>
      </p:sp>
      <p:pic>
        <p:nvPicPr>
          <p:cNvPr id="332" name="Google Shape;33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575" y="1118375"/>
            <a:ext cx="4795550" cy="34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Reliability: Recommendations</a:t>
            </a:r>
            <a:endParaRPr/>
          </a:p>
        </p:txBody>
      </p:sp>
      <p:sp>
        <p:nvSpPr>
          <p:cNvPr id="338" name="Google Shape;338;p39"/>
          <p:cNvSpPr txBox="1">
            <a:spLocks noGrp="1"/>
          </p:cNvSpPr>
          <p:nvPr>
            <p:ph type="body" idx="1"/>
          </p:nvPr>
        </p:nvSpPr>
        <p:spPr>
          <a:xfrm>
            <a:off x="485850" y="1510050"/>
            <a:ext cx="7850400" cy="32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Reduce the number of fleets in TRUCK-DUMP group due to its low priority, high VEU, high quantity, and low utilization.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Future purchases of class 1 and class 2 should avoid Chrysler. Further study the make reliability of other classes to help make future purchase decisions.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lifting category, CAT was the most unreliable. Seek alternatives.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0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 analysis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Maintenance: Avg. Downtime by VEU</a:t>
            </a:r>
            <a:endParaRPr/>
          </a:p>
        </p:txBody>
      </p:sp>
      <p:sp>
        <p:nvSpPr>
          <p:cNvPr id="349" name="Google Shape;349;p41"/>
          <p:cNvSpPr txBox="1">
            <a:spLocks noGrp="1"/>
          </p:cNvSpPr>
          <p:nvPr>
            <p:ph type="body" idx="1"/>
          </p:nvPr>
        </p:nvSpPr>
        <p:spPr>
          <a:xfrm>
            <a:off x="4372088" y="1625925"/>
            <a:ext cx="4515600" cy="28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VEU (vehicle equivalent unit) is a score comparing how much maintenance, fuel consumption, or operational complexity a vehicle needs per year compared to a sedan.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In particular, it’s unusual that the average downtime for a VEU of 2 is so long. This warrants investigation.</a:t>
            </a:r>
            <a:endParaRPr sz="1600"/>
          </a:p>
        </p:txBody>
      </p:sp>
      <p:pic>
        <p:nvPicPr>
          <p:cNvPr id="350" name="Google Shape;3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00" y="1578025"/>
            <a:ext cx="3922300" cy="29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"/>
          <p:cNvSpPr txBox="1">
            <a:spLocks noGrp="1"/>
          </p:cNvSpPr>
          <p:nvPr>
            <p:ph type="body" idx="1"/>
          </p:nvPr>
        </p:nvSpPr>
        <p:spPr>
          <a:xfrm>
            <a:off x="339500" y="1505850"/>
            <a:ext cx="5180400" cy="36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Lifting: </a:t>
            </a:r>
            <a:endParaRPr sz="1600" b="1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Mostly used in Exhibition Place, Fleet Services,  Toronto Water, and Solid Waste Management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Highest downtime-to-life usage hours ratio (5.29)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/>
              <a:t>Ground:</a:t>
            </a:r>
            <a:endParaRPr sz="1600" b="1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Used in Transportation Services and Parks, Forestry &amp; Recreation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High downtime-to-life usage hours ratio (2.01)</a:t>
            </a:r>
            <a:endParaRPr sz="1600"/>
          </a:p>
        </p:txBody>
      </p:sp>
      <p:pic>
        <p:nvPicPr>
          <p:cNvPr id="356" name="Google Shape;35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9988" y="2790462"/>
            <a:ext cx="3284525" cy="204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9987" y="304863"/>
            <a:ext cx="3284524" cy="23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4429800" cy="11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Maintenance: VEU=2 Characteristics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Maintenance: VEU=2 Characteristics (cont’)</a:t>
            </a:r>
            <a:endParaRPr/>
          </a:p>
        </p:txBody>
      </p:sp>
      <p:sp>
        <p:nvSpPr>
          <p:cNvPr id="364" name="Google Shape;364;p43"/>
          <p:cNvSpPr txBox="1">
            <a:spLocks noGrp="1"/>
          </p:cNvSpPr>
          <p:nvPr>
            <p:ph type="body" idx="1"/>
          </p:nvPr>
        </p:nvSpPr>
        <p:spPr>
          <a:xfrm>
            <a:off x="7669050" y="1307850"/>
            <a:ext cx="1475100" cy="36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10 lifts, 60 ground vehicles in worst N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b="1"/>
              <a:t>Note: </a:t>
            </a:r>
            <a:r>
              <a:rPr lang="en" sz="1600"/>
              <a:t>Ground downtime data in for Toro, Smithco, Cherrington makes missing</a:t>
            </a:r>
            <a:endParaRPr sz="1600"/>
          </a:p>
        </p:txBody>
      </p:sp>
      <p:pic>
        <p:nvPicPr>
          <p:cNvPr id="365" name="Google Shape;3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75" y="1150923"/>
            <a:ext cx="7488912" cy="18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800" y="3087775"/>
            <a:ext cx="7493249" cy="1786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2720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Maintenance: Worst N Vehicles Repair Locations</a:t>
            </a:r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body" idx="1"/>
          </p:nvPr>
        </p:nvSpPr>
        <p:spPr>
          <a:xfrm>
            <a:off x="173750" y="1867200"/>
            <a:ext cx="3738300" cy="32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For Lifting vehicles of interest, repair locations with the highest avg. yearly downtime potentially indicate low maintenance efficiency. 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For Ground vehicles of interest, repair locations Finch Garage (14 vehicles), Ingram Garage (5), and Eastern Garage (33) had the highest avg. yearly downtime.</a:t>
            </a:r>
            <a:endParaRPr sz="1600"/>
          </a:p>
        </p:txBody>
      </p:sp>
      <p:pic>
        <p:nvPicPr>
          <p:cNvPr id="373" name="Google Shape;373;p44"/>
          <p:cNvPicPr preferRelativeResize="0"/>
          <p:nvPr/>
        </p:nvPicPr>
        <p:blipFill rotWithShape="1">
          <a:blip r:embed="rId3">
            <a:alphaModFix/>
          </a:blip>
          <a:srcRect b="48940"/>
          <a:stretch/>
        </p:blipFill>
        <p:spPr>
          <a:xfrm>
            <a:off x="3843989" y="126475"/>
            <a:ext cx="5126273" cy="243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4"/>
          <p:cNvPicPr preferRelativeResize="0"/>
          <p:nvPr/>
        </p:nvPicPr>
        <p:blipFill rotWithShape="1">
          <a:blip r:embed="rId3">
            <a:alphaModFix/>
          </a:blip>
          <a:srcRect t="50641"/>
          <a:stretch/>
        </p:blipFill>
        <p:spPr>
          <a:xfrm>
            <a:off x="3843987" y="2661648"/>
            <a:ext cx="5126275" cy="2355302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4"/>
          <p:cNvSpPr txBox="1"/>
          <p:nvPr/>
        </p:nvSpPr>
        <p:spPr>
          <a:xfrm>
            <a:off x="6197763" y="498625"/>
            <a:ext cx="4713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514</a:t>
            </a:r>
            <a:endParaRPr sz="10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" name="Google Shape;376;p44"/>
          <p:cNvSpPr txBox="1"/>
          <p:nvPr/>
        </p:nvSpPr>
        <p:spPr>
          <a:xfrm>
            <a:off x="5412638" y="674100"/>
            <a:ext cx="4713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432</a:t>
            </a:r>
            <a:endParaRPr sz="10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44"/>
          <p:cNvSpPr txBox="1"/>
          <p:nvPr/>
        </p:nvSpPr>
        <p:spPr>
          <a:xfrm>
            <a:off x="4571988" y="1683900"/>
            <a:ext cx="4713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62</a:t>
            </a:r>
            <a:endParaRPr sz="10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8" name="Google Shape;378;p44"/>
          <p:cNvSpPr txBox="1"/>
          <p:nvPr/>
        </p:nvSpPr>
        <p:spPr>
          <a:xfrm>
            <a:off x="5697938" y="3208500"/>
            <a:ext cx="4713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261</a:t>
            </a:r>
            <a:endParaRPr sz="10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" name="Google Shape;379;p44"/>
          <p:cNvSpPr txBox="1"/>
          <p:nvPr/>
        </p:nvSpPr>
        <p:spPr>
          <a:xfrm>
            <a:off x="7631113" y="3455125"/>
            <a:ext cx="4713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249</a:t>
            </a:r>
            <a:endParaRPr sz="10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0" name="Google Shape;380;p44"/>
          <p:cNvSpPr txBox="1"/>
          <p:nvPr/>
        </p:nvSpPr>
        <p:spPr>
          <a:xfrm>
            <a:off x="4594813" y="4154100"/>
            <a:ext cx="4713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220</a:t>
            </a:r>
            <a:endParaRPr sz="1000">
              <a:solidFill>
                <a:srgbClr val="B45F0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Maintenance: VEU=2 Recommendations</a:t>
            </a:r>
            <a:endParaRPr/>
          </a:p>
        </p:txBody>
      </p:sp>
      <p:grpSp>
        <p:nvGrpSpPr>
          <p:cNvPr id="386" name="Google Shape;386;p45"/>
          <p:cNvGrpSpPr/>
          <p:nvPr/>
        </p:nvGrpSpPr>
        <p:grpSpPr>
          <a:xfrm>
            <a:off x="616997" y="1192979"/>
            <a:ext cx="3739909" cy="3703036"/>
            <a:chOff x="431925" y="1304875"/>
            <a:chExt cx="2628925" cy="3416400"/>
          </a:xfrm>
        </p:grpSpPr>
        <p:sp>
          <p:nvSpPr>
            <p:cNvPr id="387" name="Google Shape;387;p4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8" name="Google Shape;388;p4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89" name="Google Shape;389;p45"/>
          <p:cNvSpPr txBox="1"/>
          <p:nvPr/>
        </p:nvSpPr>
        <p:spPr>
          <a:xfrm>
            <a:off x="1089100" y="1224175"/>
            <a:ext cx="27957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Lifting Category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" name="Google Shape;390;p45"/>
          <p:cNvSpPr txBox="1"/>
          <p:nvPr/>
        </p:nvSpPr>
        <p:spPr>
          <a:xfrm>
            <a:off x="617000" y="1801750"/>
            <a:ext cx="3682200" cy="30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Less important to look into because 11% of vehicles are skewing the downtime-usage ratio.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Investigate maintenance efficiency at Ellesmere Garage and Eastern Garage.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91" name="Google Shape;391;p45"/>
          <p:cNvGrpSpPr/>
          <p:nvPr/>
        </p:nvGrpSpPr>
        <p:grpSpPr>
          <a:xfrm>
            <a:off x="4787261" y="1192879"/>
            <a:ext cx="3739730" cy="3703036"/>
            <a:chOff x="3320450" y="1304875"/>
            <a:chExt cx="2632500" cy="3416400"/>
          </a:xfrm>
        </p:grpSpPr>
        <p:sp>
          <p:nvSpPr>
            <p:cNvPr id="392" name="Google Shape;392;p4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3" name="Google Shape;393;p4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94" name="Google Shape;394;p45"/>
          <p:cNvSpPr txBox="1"/>
          <p:nvPr/>
        </p:nvSpPr>
        <p:spPr>
          <a:xfrm>
            <a:off x="5185325" y="1224175"/>
            <a:ext cx="28863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Ground Category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" name="Google Shape;395;p45"/>
          <p:cNvSpPr txBox="1"/>
          <p:nvPr/>
        </p:nvSpPr>
        <p:spPr>
          <a:xfrm>
            <a:off x="4787375" y="1801675"/>
            <a:ext cx="3682200" cy="30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More important to look into</a:t>
            </a:r>
            <a:r>
              <a:rPr lang="en" sz="16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because 88% of vehicles have high downtime-usage ratio.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Investigate maintenance efficiency at Finch Garage, Eastern Garage, and Ingram Garage.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Record downtime data for Toro, Smithco, and Cherrington </a:t>
            </a: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makes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6"/>
          <p:cNvSpPr txBox="1">
            <a:spLocks noGrp="1"/>
          </p:cNvSpPr>
          <p:nvPr>
            <p:ph type="title"/>
          </p:nvPr>
        </p:nvSpPr>
        <p:spPr>
          <a:xfrm>
            <a:off x="960700" y="1968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Maintenance: Maintenance Location</a:t>
            </a:r>
            <a:endParaRPr/>
          </a:p>
        </p:txBody>
      </p:sp>
      <p:sp>
        <p:nvSpPr>
          <p:cNvPr id="401" name="Google Shape;401;p46"/>
          <p:cNvSpPr txBox="1">
            <a:spLocks noGrp="1"/>
          </p:cNvSpPr>
          <p:nvPr>
            <p:ph type="body" idx="1"/>
          </p:nvPr>
        </p:nvSpPr>
        <p:spPr>
          <a:xfrm>
            <a:off x="6858400" y="871800"/>
            <a:ext cx="1881000" cy="39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of the vehicles have been assigned to maintenance center with high efficiency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However, the peaks of the orange line indicate maintenance locations with high downtime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Canadian National Exhibition will not be discussed since it has only one downtime record</a:t>
            </a:r>
            <a:endParaRPr/>
          </a:p>
        </p:txBody>
      </p:sp>
      <p:pic>
        <p:nvPicPr>
          <p:cNvPr id="402" name="Google Shape;4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250" y="927125"/>
            <a:ext cx="6169103" cy="37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"/>
          <p:cNvSpPr txBox="1">
            <a:spLocks noGrp="1"/>
          </p:cNvSpPr>
          <p:nvPr>
            <p:ph type="title"/>
          </p:nvPr>
        </p:nvSpPr>
        <p:spPr>
          <a:xfrm>
            <a:off x="864925" y="2280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 Location with High Downtime</a:t>
            </a:r>
            <a:endParaRPr/>
          </a:p>
        </p:txBody>
      </p:sp>
      <p:sp>
        <p:nvSpPr>
          <p:cNvPr id="408" name="Google Shape;408;p4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09" name="Google Shape;40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913" y="924352"/>
            <a:ext cx="7414173" cy="404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7"/>
          <p:cNvSpPr txBox="1"/>
          <p:nvPr/>
        </p:nvSpPr>
        <p:spPr>
          <a:xfrm>
            <a:off x="5318600" y="3303275"/>
            <a:ext cx="2867700" cy="15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All vehicles are in Construct Class, off-road Unit type, have VEU of 8 and made by Case, CAT and Volvo. 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Recommendation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Assign vehicles with the characteristics mentioned above to maintenance locations like Eastern Garage to optimize efficiency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>
            <a:spLocks noGrp="1"/>
          </p:cNvSpPr>
          <p:nvPr>
            <p:ph type="title"/>
          </p:nvPr>
        </p:nvSpPr>
        <p:spPr>
          <a:xfrm>
            <a:off x="804800" y="70045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body" idx="4294967295"/>
          </p:nvPr>
        </p:nvSpPr>
        <p:spPr>
          <a:xfrm>
            <a:off x="471850" y="1496025"/>
            <a:ext cx="7850400" cy="32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We have conducted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Utilization analysis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Budgeting need analysis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Reliability analysis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Maintenance analysis</a:t>
            </a: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Risk analysis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We have recommended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Reducing redundant capacity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Sharing underutilized capacity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Relocating some vehicles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Seeking alternatives to unreliable models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Prioritizing high-performing garages</a:t>
            </a:r>
            <a:endParaRPr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9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Microsoft Office PowerPoint</Application>
  <PresentationFormat>On-screen Show (16:9)</PresentationFormat>
  <Paragraphs>180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Lato</vt:lpstr>
      <vt:lpstr>Arial</vt:lpstr>
      <vt:lpstr>Montserrat</vt:lpstr>
      <vt:lpstr>Focus</vt:lpstr>
      <vt:lpstr>Fleet Services Analysis</vt:lpstr>
      <vt:lpstr>Dataset </vt:lpstr>
      <vt:lpstr>Objective:  utilization optimization</vt:lpstr>
      <vt:lpstr>Utilization: Definition </vt:lpstr>
      <vt:lpstr>Utilization: Under-utilization Categories</vt:lpstr>
      <vt:lpstr>PowerPoint Presentation</vt:lpstr>
      <vt:lpstr>PowerPoint Presentation</vt:lpstr>
      <vt:lpstr>Utilization: Recommendations</vt:lpstr>
      <vt:lpstr>Utilization: Fleet Distribution </vt:lpstr>
      <vt:lpstr>Utilization: Fleet Distribution </vt:lpstr>
      <vt:lpstr>Objective:  budgeting for renewal needs</vt:lpstr>
      <vt:lpstr>Budgeting: Oldness Definition </vt:lpstr>
      <vt:lpstr>Budgeting: Old Fleet Groups </vt:lpstr>
      <vt:lpstr>Budgeting: Recommendations </vt:lpstr>
      <vt:lpstr>Budgeting: Cost Center</vt:lpstr>
      <vt:lpstr>PowerPoint Presentation</vt:lpstr>
      <vt:lpstr>Budgeting: Visualization of Models in Clusters</vt:lpstr>
      <vt:lpstr>List of Most Frequent Models in Each Cluster</vt:lpstr>
      <vt:lpstr>Budgeting: Visualization of Category Groups  in Clusters </vt:lpstr>
      <vt:lpstr>List of Most Frequent Category Groups in Each Cluster </vt:lpstr>
      <vt:lpstr>Objective:  reliability analysis</vt:lpstr>
      <vt:lpstr>Reliability: High VEU Fleets</vt:lpstr>
      <vt:lpstr>Reliability: VEU by Make</vt:lpstr>
      <vt:lpstr>Reliability: Downtime by Make</vt:lpstr>
      <vt:lpstr>Reliability: Average Downtime Per Year</vt:lpstr>
      <vt:lpstr>Reliability: Lifting and Ground Make Reliability </vt:lpstr>
      <vt:lpstr>Reliability: Recommendations</vt:lpstr>
      <vt:lpstr>Objective:  maintenance analysis</vt:lpstr>
      <vt:lpstr>Maintenance: Avg. Downtime by VEU</vt:lpstr>
      <vt:lpstr>Maintenance: VEU=2 Characteristics </vt:lpstr>
      <vt:lpstr>Maintenance: VEU=2 Characteristics (cont’)</vt:lpstr>
      <vt:lpstr>Maintenance: Worst N Vehicles Repair Locations</vt:lpstr>
      <vt:lpstr>Maintenance: VEU=2 Recommendations</vt:lpstr>
      <vt:lpstr>Maintenance: Maintenance Location</vt:lpstr>
      <vt:lpstr>Maintenance Location with High Downtime</vt:lpstr>
      <vt:lpstr>Summary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Ziyu Zhu</cp:lastModifiedBy>
  <cp:revision>1</cp:revision>
  <dcterms:modified xsi:type="dcterms:W3CDTF">2025-02-12T01:05:23Z</dcterms:modified>
</cp:coreProperties>
</file>