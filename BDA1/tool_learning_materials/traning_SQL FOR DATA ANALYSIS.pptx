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96" r:id="rId2"/>
    <p:sldId id="300" r:id="rId3"/>
    <p:sldId id="277" r:id="rId4"/>
    <p:sldId id="278" r:id="rId5"/>
    <p:sldId id="297" r:id="rId6"/>
    <p:sldId id="298" r:id="rId7"/>
    <p:sldId id="299" r:id="rId8"/>
    <p:sldId id="302" r:id="rId9"/>
    <p:sldId id="257" r:id="rId10"/>
    <p:sldId id="279" r:id="rId11"/>
    <p:sldId id="294" r:id="rId12"/>
    <p:sldId id="295" r:id="rId13"/>
    <p:sldId id="258" r:id="rId14"/>
    <p:sldId id="280" r:id="rId15"/>
    <p:sldId id="259" r:id="rId16"/>
    <p:sldId id="281" r:id="rId17"/>
    <p:sldId id="260" r:id="rId18"/>
    <p:sldId id="261" r:id="rId19"/>
    <p:sldId id="282" r:id="rId20"/>
    <p:sldId id="262" r:id="rId21"/>
    <p:sldId id="283" r:id="rId22"/>
    <p:sldId id="273" r:id="rId23"/>
    <p:sldId id="274" r:id="rId24"/>
    <p:sldId id="275" r:id="rId25"/>
    <p:sldId id="263" r:id="rId26"/>
    <p:sldId id="284" r:id="rId27"/>
    <p:sldId id="264" r:id="rId28"/>
    <p:sldId id="285" r:id="rId29"/>
    <p:sldId id="265" r:id="rId30"/>
    <p:sldId id="286" r:id="rId31"/>
    <p:sldId id="266" r:id="rId32"/>
    <p:sldId id="287" r:id="rId33"/>
    <p:sldId id="267" r:id="rId34"/>
    <p:sldId id="288" r:id="rId35"/>
    <p:sldId id="268" r:id="rId36"/>
    <p:sldId id="289" r:id="rId37"/>
    <p:sldId id="269" r:id="rId38"/>
    <p:sldId id="290" r:id="rId39"/>
    <p:sldId id="270" r:id="rId40"/>
    <p:sldId id="291" r:id="rId41"/>
    <p:sldId id="292" r:id="rId42"/>
    <p:sldId id="271" r:id="rId43"/>
    <p:sldId id="272" r:id="rId44"/>
    <p:sldId id="293" r:id="rId45"/>
    <p:sldId id="276" r:id="rId46"/>
    <p:sldId id="301" r:id="rId47"/>
    <p:sldId id="303" r:id="rId48"/>
    <p:sldId id="304" r:id="rId4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6A8F660-A116-4946-A4BB-699075D94259}" v="77" dt="2023-12-02T17:35:08.68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55"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iyu Zhu" userId="13cc7b25a6ca6aed" providerId="LiveId" clId="{C6A8F660-A116-4946-A4BB-699075D94259}"/>
    <pc:docChg chg="undo custSel addSld delSld modSld">
      <pc:chgData name="Ziyu Zhu" userId="13cc7b25a6ca6aed" providerId="LiveId" clId="{C6A8F660-A116-4946-A4BB-699075D94259}" dt="2023-12-02T17:35:08.680" v="141" actId="20577"/>
      <pc:docMkLst>
        <pc:docMk/>
      </pc:docMkLst>
      <pc:sldChg chg="modSp mod">
        <pc:chgData name="Ziyu Zhu" userId="13cc7b25a6ca6aed" providerId="LiveId" clId="{C6A8F660-A116-4946-A4BB-699075D94259}" dt="2023-11-25T17:20:21.619" v="63" actId="1076"/>
        <pc:sldMkLst>
          <pc:docMk/>
          <pc:sldMk cId="1579895329" sldId="260"/>
        </pc:sldMkLst>
        <pc:spChg chg="mod">
          <ac:chgData name="Ziyu Zhu" userId="13cc7b25a6ca6aed" providerId="LiveId" clId="{C6A8F660-A116-4946-A4BB-699075D94259}" dt="2023-11-25T17:20:20.136" v="62" actId="1076"/>
          <ac:spMkLst>
            <pc:docMk/>
            <pc:sldMk cId="1579895329" sldId="260"/>
            <ac:spMk id="3" creationId="{F732812B-5517-445B-B80B-C63947CC015B}"/>
          </ac:spMkLst>
        </pc:spChg>
        <pc:picChg chg="mod">
          <ac:chgData name="Ziyu Zhu" userId="13cc7b25a6ca6aed" providerId="LiveId" clId="{C6A8F660-A116-4946-A4BB-699075D94259}" dt="2023-11-25T17:20:21.619" v="63" actId="1076"/>
          <ac:picMkLst>
            <pc:docMk/>
            <pc:sldMk cId="1579895329" sldId="260"/>
            <ac:picMk id="1026" creationId="{B0A591F2-142F-458D-90A9-B38DE219BEBA}"/>
          </ac:picMkLst>
        </pc:picChg>
      </pc:sldChg>
      <pc:sldChg chg="modSp mod">
        <pc:chgData name="Ziyu Zhu" userId="13cc7b25a6ca6aed" providerId="LiveId" clId="{C6A8F660-A116-4946-A4BB-699075D94259}" dt="2023-12-02T17:35:08.680" v="141" actId="20577"/>
        <pc:sldMkLst>
          <pc:docMk/>
          <pc:sldMk cId="2779570788" sldId="292"/>
        </pc:sldMkLst>
        <pc:spChg chg="mod">
          <ac:chgData name="Ziyu Zhu" userId="13cc7b25a6ca6aed" providerId="LiveId" clId="{C6A8F660-A116-4946-A4BB-699075D94259}" dt="2023-12-02T17:35:08.680" v="141" actId="20577"/>
          <ac:spMkLst>
            <pc:docMk/>
            <pc:sldMk cId="2779570788" sldId="292"/>
            <ac:spMk id="3" creationId="{F732812B-5517-445B-B80B-C63947CC015B}"/>
          </ac:spMkLst>
        </pc:spChg>
      </pc:sldChg>
      <pc:sldChg chg="addSp modSp mod">
        <pc:chgData name="Ziyu Zhu" userId="13cc7b25a6ca6aed" providerId="LiveId" clId="{C6A8F660-A116-4946-A4BB-699075D94259}" dt="2023-11-25T15:28:06.909" v="51" actId="1076"/>
        <pc:sldMkLst>
          <pc:docMk/>
          <pc:sldMk cId="1202028424" sldId="298"/>
        </pc:sldMkLst>
        <pc:spChg chg="add mod">
          <ac:chgData name="Ziyu Zhu" userId="13cc7b25a6ca6aed" providerId="LiveId" clId="{C6A8F660-A116-4946-A4BB-699075D94259}" dt="2023-11-25T15:28:04.288" v="50" actId="1076"/>
          <ac:spMkLst>
            <pc:docMk/>
            <pc:sldMk cId="1202028424" sldId="298"/>
            <ac:spMk id="3" creationId="{83FFD26C-BA7E-CCC6-DD85-CA1569BF5A1D}"/>
          </ac:spMkLst>
        </pc:spChg>
        <pc:spChg chg="mod">
          <ac:chgData name="Ziyu Zhu" userId="13cc7b25a6ca6aed" providerId="LiveId" clId="{C6A8F660-A116-4946-A4BB-699075D94259}" dt="2023-11-25T15:28:04.288" v="50" actId="1076"/>
          <ac:spMkLst>
            <pc:docMk/>
            <pc:sldMk cId="1202028424" sldId="298"/>
            <ac:spMk id="4" creationId="{F7AF8812-0A1F-4438-B3DF-6307B26BCE84}"/>
          </ac:spMkLst>
        </pc:spChg>
        <pc:spChg chg="mod">
          <ac:chgData name="Ziyu Zhu" userId="13cc7b25a6ca6aed" providerId="LiveId" clId="{C6A8F660-A116-4946-A4BB-699075D94259}" dt="2023-11-25T15:28:04.288" v="50" actId="1076"/>
          <ac:spMkLst>
            <pc:docMk/>
            <pc:sldMk cId="1202028424" sldId="298"/>
            <ac:spMk id="5" creationId="{AC6AB0C9-E341-DD48-2042-170F6395F014}"/>
          </ac:spMkLst>
        </pc:spChg>
        <pc:spChg chg="mod">
          <ac:chgData name="Ziyu Zhu" userId="13cc7b25a6ca6aed" providerId="LiveId" clId="{C6A8F660-A116-4946-A4BB-699075D94259}" dt="2023-11-25T15:28:06.909" v="51" actId="1076"/>
          <ac:spMkLst>
            <pc:docMk/>
            <pc:sldMk cId="1202028424" sldId="298"/>
            <ac:spMk id="7" creationId="{FEC617BE-4DA0-8DD9-6D76-CFA428AF92E4}"/>
          </ac:spMkLst>
        </pc:spChg>
        <pc:spChg chg="mod">
          <ac:chgData name="Ziyu Zhu" userId="13cc7b25a6ca6aed" providerId="LiveId" clId="{C6A8F660-A116-4946-A4BB-699075D94259}" dt="2023-11-25T15:28:04.288" v="50" actId="1076"/>
          <ac:spMkLst>
            <pc:docMk/>
            <pc:sldMk cId="1202028424" sldId="298"/>
            <ac:spMk id="8" creationId="{3E9B4DF3-1FC8-89A9-5E92-B5763C7DF1D7}"/>
          </ac:spMkLst>
        </pc:spChg>
      </pc:sldChg>
      <pc:sldChg chg="modSp mod">
        <pc:chgData name="Ziyu Zhu" userId="13cc7b25a6ca6aed" providerId="LiveId" clId="{C6A8F660-A116-4946-A4BB-699075D94259}" dt="2023-11-25T18:30:18.559" v="68" actId="1076"/>
        <pc:sldMkLst>
          <pc:docMk/>
          <pc:sldMk cId="912912651" sldId="301"/>
        </pc:sldMkLst>
        <pc:spChg chg="mod">
          <ac:chgData name="Ziyu Zhu" userId="13cc7b25a6ca6aed" providerId="LiveId" clId="{C6A8F660-A116-4946-A4BB-699075D94259}" dt="2023-11-25T18:30:18.559" v="68" actId="1076"/>
          <ac:spMkLst>
            <pc:docMk/>
            <pc:sldMk cId="912912651" sldId="301"/>
            <ac:spMk id="8" creationId="{C5A15B18-4F4E-B5AA-7BD2-A61B0F0CB879}"/>
          </ac:spMkLst>
        </pc:spChg>
      </pc:sldChg>
      <pc:sldChg chg="addSp delSp modSp add mod">
        <pc:chgData name="Ziyu Zhu" userId="13cc7b25a6ca6aed" providerId="LiveId" clId="{C6A8F660-A116-4946-A4BB-699075D94259}" dt="2023-11-25T15:36:37.595" v="59" actId="1076"/>
        <pc:sldMkLst>
          <pc:docMk/>
          <pc:sldMk cId="1630875381" sldId="302"/>
        </pc:sldMkLst>
        <pc:spChg chg="mod">
          <ac:chgData name="Ziyu Zhu" userId="13cc7b25a6ca6aed" providerId="LiveId" clId="{C6A8F660-A116-4946-A4BB-699075D94259}" dt="2023-11-25T15:14:26.937" v="48" actId="1076"/>
          <ac:spMkLst>
            <pc:docMk/>
            <pc:sldMk cId="1630875381" sldId="302"/>
            <ac:spMk id="2" creationId="{1B7285A8-6EB4-44C6-9ACB-4CC45D21736D}"/>
          </ac:spMkLst>
        </pc:spChg>
        <pc:spChg chg="del">
          <ac:chgData name="Ziyu Zhu" userId="13cc7b25a6ca6aed" providerId="LiveId" clId="{C6A8F660-A116-4946-A4BB-699075D94259}" dt="2023-11-25T15:08:36.471" v="31" actId="478"/>
          <ac:spMkLst>
            <pc:docMk/>
            <pc:sldMk cId="1630875381" sldId="302"/>
            <ac:spMk id="3" creationId="{05FD61B2-BB6F-1A30-A994-09B4093F45DE}"/>
          </ac:spMkLst>
        </pc:spChg>
        <pc:spChg chg="add mod">
          <ac:chgData name="Ziyu Zhu" userId="13cc7b25a6ca6aed" providerId="LiveId" clId="{C6A8F660-A116-4946-A4BB-699075D94259}" dt="2023-11-25T15:14:32.424" v="49" actId="164"/>
          <ac:spMkLst>
            <pc:docMk/>
            <pc:sldMk cId="1630875381" sldId="302"/>
            <ac:spMk id="5" creationId="{A4339013-A468-B423-B851-91262D9FD1F0}"/>
          </ac:spMkLst>
        </pc:spChg>
        <pc:spChg chg="del">
          <ac:chgData name="Ziyu Zhu" userId="13cc7b25a6ca6aed" providerId="LiveId" clId="{C6A8F660-A116-4946-A4BB-699075D94259}" dt="2023-11-25T15:08:34.799" v="30" actId="478"/>
          <ac:spMkLst>
            <pc:docMk/>
            <pc:sldMk cId="1630875381" sldId="302"/>
            <ac:spMk id="6" creationId="{9E346BDA-2C1C-013F-1A1D-B59435424E56}"/>
          </ac:spMkLst>
        </pc:spChg>
        <pc:spChg chg="del">
          <ac:chgData name="Ziyu Zhu" userId="13cc7b25a6ca6aed" providerId="LiveId" clId="{C6A8F660-A116-4946-A4BB-699075D94259}" dt="2023-11-25T15:08:34.799" v="30" actId="478"/>
          <ac:spMkLst>
            <pc:docMk/>
            <pc:sldMk cId="1630875381" sldId="302"/>
            <ac:spMk id="8" creationId="{3E9B4DF3-1FC8-89A9-5E92-B5763C7DF1D7}"/>
          </ac:spMkLst>
        </pc:spChg>
        <pc:spChg chg="del">
          <ac:chgData name="Ziyu Zhu" userId="13cc7b25a6ca6aed" providerId="LiveId" clId="{C6A8F660-A116-4946-A4BB-699075D94259}" dt="2023-11-25T15:08:34.799" v="30" actId="478"/>
          <ac:spMkLst>
            <pc:docMk/>
            <pc:sldMk cId="1630875381" sldId="302"/>
            <ac:spMk id="9" creationId="{C72FCD98-72AF-6929-FECE-D0DFD76DC30F}"/>
          </ac:spMkLst>
        </pc:spChg>
        <pc:spChg chg="del">
          <ac:chgData name="Ziyu Zhu" userId="13cc7b25a6ca6aed" providerId="LiveId" clId="{C6A8F660-A116-4946-A4BB-699075D94259}" dt="2023-11-25T15:08:34.799" v="30" actId="478"/>
          <ac:spMkLst>
            <pc:docMk/>
            <pc:sldMk cId="1630875381" sldId="302"/>
            <ac:spMk id="10" creationId="{5ABFB4F2-0668-DF14-26CB-9251646A89AE}"/>
          </ac:spMkLst>
        </pc:spChg>
        <pc:spChg chg="del">
          <ac:chgData name="Ziyu Zhu" userId="13cc7b25a6ca6aed" providerId="LiveId" clId="{C6A8F660-A116-4946-A4BB-699075D94259}" dt="2023-11-25T15:08:34.799" v="30" actId="478"/>
          <ac:spMkLst>
            <pc:docMk/>
            <pc:sldMk cId="1630875381" sldId="302"/>
            <ac:spMk id="11" creationId="{F4D86804-642F-B17A-4F8E-816F0ED42C88}"/>
          </ac:spMkLst>
        </pc:spChg>
        <pc:spChg chg="del">
          <ac:chgData name="Ziyu Zhu" userId="13cc7b25a6ca6aed" providerId="LiveId" clId="{C6A8F660-A116-4946-A4BB-699075D94259}" dt="2023-11-25T15:08:34.799" v="30" actId="478"/>
          <ac:spMkLst>
            <pc:docMk/>
            <pc:sldMk cId="1630875381" sldId="302"/>
            <ac:spMk id="12" creationId="{414B426B-F3DC-915A-D1C3-2F29082E8C11}"/>
          </ac:spMkLst>
        </pc:spChg>
        <pc:spChg chg="del">
          <ac:chgData name="Ziyu Zhu" userId="13cc7b25a6ca6aed" providerId="LiveId" clId="{C6A8F660-A116-4946-A4BB-699075D94259}" dt="2023-11-25T15:08:34.799" v="30" actId="478"/>
          <ac:spMkLst>
            <pc:docMk/>
            <pc:sldMk cId="1630875381" sldId="302"/>
            <ac:spMk id="13" creationId="{035B0035-4CBC-F4F4-FDD6-D5652538715C}"/>
          </ac:spMkLst>
        </pc:spChg>
        <pc:spChg chg="del">
          <ac:chgData name="Ziyu Zhu" userId="13cc7b25a6ca6aed" providerId="LiveId" clId="{C6A8F660-A116-4946-A4BB-699075D94259}" dt="2023-11-25T15:08:34.799" v="30" actId="478"/>
          <ac:spMkLst>
            <pc:docMk/>
            <pc:sldMk cId="1630875381" sldId="302"/>
            <ac:spMk id="14" creationId="{FBA56F3A-B02B-C172-4E08-4DA1E2A5E21D}"/>
          </ac:spMkLst>
        </pc:spChg>
        <pc:spChg chg="del">
          <ac:chgData name="Ziyu Zhu" userId="13cc7b25a6ca6aed" providerId="LiveId" clId="{C6A8F660-A116-4946-A4BB-699075D94259}" dt="2023-11-25T15:08:34.799" v="30" actId="478"/>
          <ac:spMkLst>
            <pc:docMk/>
            <pc:sldMk cId="1630875381" sldId="302"/>
            <ac:spMk id="15" creationId="{7AA44AA8-71D2-5776-5A50-32655CA06796}"/>
          </ac:spMkLst>
        </pc:spChg>
        <pc:grpChg chg="add mod">
          <ac:chgData name="Ziyu Zhu" userId="13cc7b25a6ca6aed" providerId="LiveId" clId="{C6A8F660-A116-4946-A4BB-699075D94259}" dt="2023-11-25T15:36:37.595" v="59" actId="1076"/>
          <ac:grpSpMkLst>
            <pc:docMk/>
            <pc:sldMk cId="1630875381" sldId="302"/>
            <ac:grpSpMk id="7" creationId="{9F42495C-1897-7F26-81A8-AF5D4CBB71E2}"/>
          </ac:grpSpMkLst>
        </pc:grpChg>
        <pc:picChg chg="add mod">
          <ac:chgData name="Ziyu Zhu" userId="13cc7b25a6ca6aed" providerId="LiveId" clId="{C6A8F660-A116-4946-A4BB-699075D94259}" dt="2023-11-25T15:14:32.424" v="49" actId="164"/>
          <ac:picMkLst>
            <pc:docMk/>
            <pc:sldMk cId="1630875381" sldId="302"/>
            <ac:picMk id="4" creationId="{7D150801-6409-5E96-B163-AA46FABF26D5}"/>
          </ac:picMkLst>
        </pc:picChg>
      </pc:sldChg>
      <pc:sldChg chg="modSp add mod">
        <pc:chgData name="Ziyu Zhu" userId="13cc7b25a6ca6aed" providerId="LiveId" clId="{C6A8F660-A116-4946-A4BB-699075D94259}" dt="2023-12-02T17:05:22.438" v="107" actId="1076"/>
        <pc:sldMkLst>
          <pc:docMk/>
          <pc:sldMk cId="2971951197" sldId="303"/>
        </pc:sldMkLst>
        <pc:spChg chg="mod">
          <ac:chgData name="Ziyu Zhu" userId="13cc7b25a6ca6aed" providerId="LiveId" clId="{C6A8F660-A116-4946-A4BB-699075D94259}" dt="2023-11-25T18:35:14.314" v="87" actId="20577"/>
          <ac:spMkLst>
            <pc:docMk/>
            <pc:sldMk cId="2971951197" sldId="303"/>
            <ac:spMk id="2" creationId="{1B7285A8-6EB4-44C6-9ACB-4CC45D21736D}"/>
          </ac:spMkLst>
        </pc:spChg>
        <pc:spChg chg="mod">
          <ac:chgData name="Ziyu Zhu" userId="13cc7b25a6ca6aed" providerId="LiveId" clId="{C6A8F660-A116-4946-A4BB-699075D94259}" dt="2023-12-02T17:05:22.438" v="107" actId="1076"/>
          <ac:spMkLst>
            <pc:docMk/>
            <pc:sldMk cId="2971951197" sldId="303"/>
            <ac:spMk id="8" creationId="{C5A15B18-4F4E-B5AA-7BD2-A61B0F0CB879}"/>
          </ac:spMkLst>
        </pc:spChg>
      </pc:sldChg>
      <pc:sldChg chg="del">
        <pc:chgData name="Ziyu Zhu" userId="13cc7b25a6ca6aed" providerId="LiveId" clId="{C6A8F660-A116-4946-A4BB-699075D94259}" dt="2023-11-25T16:32:14.843" v="60" actId="47"/>
        <pc:sldMkLst>
          <pc:docMk/>
          <pc:sldMk cId="4257278635" sldId="303"/>
        </pc:sldMkLst>
      </pc:sldChg>
      <pc:sldChg chg="del">
        <pc:chgData name="Ziyu Zhu" userId="13cc7b25a6ca6aed" providerId="LiveId" clId="{C6A8F660-A116-4946-A4BB-699075D94259}" dt="2023-12-02T16:52:14.676" v="101" actId="47"/>
        <pc:sldMkLst>
          <pc:docMk/>
          <pc:sldMk cId="309352055" sldId="304"/>
        </pc:sldMkLst>
      </pc:sldChg>
      <pc:sldChg chg="add">
        <pc:chgData name="Ziyu Zhu" userId="13cc7b25a6ca6aed" providerId="LiveId" clId="{C6A8F660-A116-4946-A4BB-699075D94259}" dt="2023-12-02T17:05:10.206" v="104" actId="2890"/>
        <pc:sldMkLst>
          <pc:docMk/>
          <pc:sldMk cId="2422102795" sldId="304"/>
        </pc:sldMkLst>
      </pc:sldChg>
      <pc:sldChg chg="addSp delSp modSp add del mod">
        <pc:chgData name="Ziyu Zhu" userId="13cc7b25a6ca6aed" providerId="LiveId" clId="{C6A8F660-A116-4946-A4BB-699075D94259}" dt="2023-11-25T15:36:25.271" v="58" actId="47"/>
        <pc:sldMkLst>
          <pc:docMk/>
          <pc:sldMk cId="2751968176" sldId="304"/>
        </pc:sldMkLst>
        <pc:grpChg chg="del">
          <ac:chgData name="Ziyu Zhu" userId="13cc7b25a6ca6aed" providerId="LiveId" clId="{C6A8F660-A116-4946-A4BB-699075D94259}" dt="2023-11-25T15:36:01.499" v="53" actId="478"/>
          <ac:grpSpMkLst>
            <pc:docMk/>
            <pc:sldMk cId="2751968176" sldId="304"/>
            <ac:grpSpMk id="7" creationId="{9F42495C-1897-7F26-81A8-AF5D4CBB71E2}"/>
          </ac:grpSpMkLst>
        </pc:grpChg>
        <pc:picChg chg="add del mod">
          <ac:chgData name="Ziyu Zhu" userId="13cc7b25a6ca6aed" providerId="LiveId" clId="{C6A8F660-A116-4946-A4BB-699075D94259}" dt="2023-11-25T15:36:21.929" v="57" actId="478"/>
          <ac:picMkLst>
            <pc:docMk/>
            <pc:sldMk cId="2751968176" sldId="304"/>
            <ac:picMk id="6" creationId="{5853B30D-3125-6225-3E12-2922E2F67E3C}"/>
          </ac:picMkLst>
        </pc:picChg>
      </pc:sldChg>
      <pc:sldChg chg="del">
        <pc:chgData name="Ziyu Zhu" userId="13cc7b25a6ca6aed" providerId="LiveId" clId="{C6A8F660-A116-4946-A4BB-699075D94259}" dt="2023-11-25T16:32:16.073" v="61" actId="47"/>
        <pc:sldMkLst>
          <pc:docMk/>
          <pc:sldMk cId="2918845159" sldId="304"/>
        </pc:sldMkLst>
      </pc:sldChg>
    </pc:docChg>
  </pc:docChgLst>
  <pc:docChgLst>
    <pc:chgData name="Ziyu Zhu" userId="13cc7b25a6ca6aed" providerId="LiveId" clId="{9C203AD5-A621-4F29-A48E-89DE878CB493}"/>
    <pc:docChg chg="custSel modSld">
      <pc:chgData name="Ziyu Zhu" userId="13cc7b25a6ca6aed" providerId="LiveId" clId="{9C203AD5-A621-4F29-A48E-89DE878CB493}" dt="2023-08-04T02:07:10.529" v="28" actId="20577"/>
      <pc:docMkLst>
        <pc:docMk/>
      </pc:docMkLst>
      <pc:sldChg chg="modSp mod">
        <pc:chgData name="Ziyu Zhu" userId="13cc7b25a6ca6aed" providerId="LiveId" clId="{9C203AD5-A621-4F29-A48E-89DE878CB493}" dt="2023-08-04T01:44:07.849" v="10" actId="20577"/>
        <pc:sldMkLst>
          <pc:docMk/>
          <pc:sldMk cId="606995073" sldId="270"/>
        </pc:sldMkLst>
        <pc:spChg chg="mod">
          <ac:chgData name="Ziyu Zhu" userId="13cc7b25a6ca6aed" providerId="LiveId" clId="{9C203AD5-A621-4F29-A48E-89DE878CB493}" dt="2023-08-04T01:44:07.849" v="10" actId="20577"/>
          <ac:spMkLst>
            <pc:docMk/>
            <pc:sldMk cId="606995073" sldId="270"/>
            <ac:spMk id="3" creationId="{F732812B-5517-445B-B80B-C63947CC015B}"/>
          </ac:spMkLst>
        </pc:spChg>
      </pc:sldChg>
      <pc:sldChg chg="modSp mod">
        <pc:chgData name="Ziyu Zhu" userId="13cc7b25a6ca6aed" providerId="LiveId" clId="{9C203AD5-A621-4F29-A48E-89DE878CB493}" dt="2023-08-03T23:30:41.683" v="0" actId="1076"/>
        <pc:sldMkLst>
          <pc:docMk/>
          <pc:sldMk cId="529616718" sldId="274"/>
        </pc:sldMkLst>
        <pc:spChg chg="mod">
          <ac:chgData name="Ziyu Zhu" userId="13cc7b25a6ca6aed" providerId="LiveId" clId="{9C203AD5-A621-4F29-A48E-89DE878CB493}" dt="2023-08-03T23:30:41.683" v="0" actId="1076"/>
          <ac:spMkLst>
            <pc:docMk/>
            <pc:sldMk cId="529616718" sldId="274"/>
            <ac:spMk id="5" creationId="{7A92F0A9-2664-4229-9EDC-453B667BB6D4}"/>
          </ac:spMkLst>
        </pc:spChg>
      </pc:sldChg>
      <pc:sldChg chg="modSp mod">
        <pc:chgData name="Ziyu Zhu" userId="13cc7b25a6ca6aed" providerId="LiveId" clId="{9C203AD5-A621-4F29-A48E-89DE878CB493}" dt="2023-08-04T01:55:29.876" v="23" actId="20577"/>
        <pc:sldMkLst>
          <pc:docMk/>
          <pc:sldMk cId="180361683" sldId="276"/>
        </pc:sldMkLst>
        <pc:spChg chg="mod">
          <ac:chgData name="Ziyu Zhu" userId="13cc7b25a6ca6aed" providerId="LiveId" clId="{9C203AD5-A621-4F29-A48E-89DE878CB493}" dt="2023-08-04T01:55:29.876" v="23" actId="20577"/>
          <ac:spMkLst>
            <pc:docMk/>
            <pc:sldMk cId="180361683" sldId="276"/>
            <ac:spMk id="6" creationId="{92BB8542-0453-4BA3-9CD2-95838244AA45}"/>
          </ac:spMkLst>
        </pc:spChg>
      </pc:sldChg>
      <pc:sldChg chg="modSp mod">
        <pc:chgData name="Ziyu Zhu" userId="13cc7b25a6ca6aed" providerId="LiveId" clId="{9C203AD5-A621-4F29-A48E-89DE878CB493}" dt="2023-08-04T01:44:18.216" v="20" actId="20577"/>
        <pc:sldMkLst>
          <pc:docMk/>
          <pc:sldMk cId="885664812" sldId="291"/>
        </pc:sldMkLst>
        <pc:spChg chg="mod">
          <ac:chgData name="Ziyu Zhu" userId="13cc7b25a6ca6aed" providerId="LiveId" clId="{9C203AD5-A621-4F29-A48E-89DE878CB493}" dt="2023-08-04T01:44:18.216" v="20" actId="20577"/>
          <ac:spMkLst>
            <pc:docMk/>
            <pc:sldMk cId="885664812" sldId="291"/>
            <ac:spMk id="3" creationId="{F732812B-5517-445B-B80B-C63947CC015B}"/>
          </ac:spMkLst>
        </pc:spChg>
      </pc:sldChg>
      <pc:sldChg chg="modSp">
        <pc:chgData name="Ziyu Zhu" userId="13cc7b25a6ca6aed" providerId="LiveId" clId="{9C203AD5-A621-4F29-A48E-89DE878CB493}" dt="2023-08-04T01:44:33.448" v="22" actId="20578"/>
        <pc:sldMkLst>
          <pc:docMk/>
          <pc:sldMk cId="2779570788" sldId="292"/>
        </pc:sldMkLst>
        <pc:spChg chg="mod">
          <ac:chgData name="Ziyu Zhu" userId="13cc7b25a6ca6aed" providerId="LiveId" clId="{9C203AD5-A621-4F29-A48E-89DE878CB493}" dt="2023-08-04T01:44:33.448" v="22" actId="20578"/>
          <ac:spMkLst>
            <pc:docMk/>
            <pc:sldMk cId="2779570788" sldId="292"/>
            <ac:spMk id="6" creationId="{92BB8542-0453-4BA3-9CD2-95838244AA45}"/>
          </ac:spMkLst>
        </pc:spChg>
      </pc:sldChg>
      <pc:sldChg chg="modSp mod">
        <pc:chgData name="Ziyu Zhu" userId="13cc7b25a6ca6aed" providerId="LiveId" clId="{9C203AD5-A621-4F29-A48E-89DE878CB493}" dt="2023-08-04T02:07:10.529" v="28" actId="20577"/>
        <pc:sldMkLst>
          <pc:docMk/>
          <pc:sldMk cId="912912651" sldId="301"/>
        </pc:sldMkLst>
        <pc:spChg chg="mod">
          <ac:chgData name="Ziyu Zhu" userId="13cc7b25a6ca6aed" providerId="LiveId" clId="{9C203AD5-A621-4F29-A48E-89DE878CB493}" dt="2023-08-04T02:07:10.529" v="28" actId="20577"/>
          <ac:spMkLst>
            <pc:docMk/>
            <pc:sldMk cId="912912651" sldId="301"/>
            <ac:spMk id="8" creationId="{C5A15B18-4F4E-B5AA-7BD2-A61B0F0CB879}"/>
          </ac:spMkLst>
        </pc:spChg>
      </pc:sldChg>
    </pc:docChg>
  </pc:docChgLst>
  <pc:docChgLst>
    <pc:chgData name="Ziyu Zhu" userId="13cc7b25a6ca6aed" providerId="LiveId" clId="{9FD9DA85-685A-4809-9EB5-9058473716A8}"/>
    <pc:docChg chg="undo custSel addSld delSld">
      <pc:chgData name="Ziyu Zhu" userId="13cc7b25a6ca6aed" providerId="LiveId" clId="{9FD9DA85-685A-4809-9EB5-9058473716A8}" dt="2023-12-02T16:22:15.439" v="6" actId="680"/>
      <pc:docMkLst>
        <pc:docMk/>
      </pc:docMkLst>
      <pc:sldChg chg="new">
        <pc:chgData name="Ziyu Zhu" userId="13cc7b25a6ca6aed" providerId="LiveId" clId="{9FD9DA85-685A-4809-9EB5-9058473716A8}" dt="2023-11-25T15:31:48.287" v="0" actId="680"/>
        <pc:sldMkLst>
          <pc:docMk/>
          <pc:sldMk cId="4257278635" sldId="303"/>
        </pc:sldMkLst>
      </pc:sldChg>
      <pc:sldChg chg="new">
        <pc:chgData name="Ziyu Zhu" userId="13cc7b25a6ca6aed" providerId="LiveId" clId="{9FD9DA85-685A-4809-9EB5-9058473716A8}" dt="2023-12-02T15:17:41.825" v="2" actId="680"/>
        <pc:sldMkLst>
          <pc:docMk/>
          <pc:sldMk cId="309352055" sldId="304"/>
        </pc:sldMkLst>
      </pc:sldChg>
      <pc:sldChg chg="new">
        <pc:chgData name="Ziyu Zhu" userId="13cc7b25a6ca6aed" providerId="LiveId" clId="{9FD9DA85-685A-4809-9EB5-9058473716A8}" dt="2023-11-25T15:36:45.935" v="1" actId="680"/>
        <pc:sldMkLst>
          <pc:docMk/>
          <pc:sldMk cId="2918845159" sldId="304"/>
        </pc:sldMkLst>
      </pc:sldChg>
      <pc:sldChg chg="new del">
        <pc:chgData name="Ziyu Zhu" userId="13cc7b25a6ca6aed" providerId="LiveId" clId="{9FD9DA85-685A-4809-9EB5-9058473716A8}" dt="2023-12-02T16:17:12.614" v="4" actId="680"/>
        <pc:sldMkLst>
          <pc:docMk/>
          <pc:sldMk cId="1722348449" sldId="305"/>
        </pc:sldMkLst>
      </pc:sldChg>
      <pc:sldChg chg="new del">
        <pc:chgData name="Ziyu Zhu" userId="13cc7b25a6ca6aed" providerId="LiveId" clId="{9FD9DA85-685A-4809-9EB5-9058473716A8}" dt="2023-12-02T16:22:15.439" v="6" actId="680"/>
        <pc:sldMkLst>
          <pc:docMk/>
          <pc:sldMk cId="2981576965" sldId="305"/>
        </pc:sldMkLst>
      </pc:sld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tx2">
                  <a:lumMod val="5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7077511" y="5410201"/>
            <a:ext cx="2743200" cy="365125"/>
          </a:xfrm>
        </p:spPr>
        <p:txBody>
          <a:bodyPr/>
          <a:lstStyle/>
          <a:p>
            <a:fld id="{48A87A34-81AB-432B-8DAE-1953F412C126}" type="datetimeFigureOut">
              <a:rPr lang="en-US" dirty="0"/>
              <a:t>12/2/2023</a:t>
            </a:fld>
            <a:endParaRPr lang="en-US"/>
          </a:p>
        </p:txBody>
      </p:sp>
      <p:sp>
        <p:nvSpPr>
          <p:cNvPr id="5" name="Footer Placeholder 4"/>
          <p:cNvSpPr>
            <a:spLocks noGrp="1"/>
          </p:cNvSpPr>
          <p:nvPr>
            <p:ph type="ftr" sz="quarter" idx="11"/>
          </p:nvPr>
        </p:nvSpPr>
        <p:spPr>
          <a:xfrm>
            <a:off x="1876424" y="5410201"/>
            <a:ext cx="5124886" cy="365125"/>
          </a:xfrm>
        </p:spPr>
        <p:txBody>
          <a:bodyPr/>
          <a:lstStyle/>
          <a:p>
            <a:endParaRPr lang="en-US"/>
          </a:p>
        </p:txBody>
      </p:sp>
      <p:sp>
        <p:nvSpPr>
          <p:cNvPr id="6" name="Slide Number Placeholder 5"/>
          <p:cNvSpPr>
            <a:spLocks noGrp="1"/>
          </p:cNvSpPr>
          <p:nvPr>
            <p:ph type="sldNum" sz="quarter" idx="12"/>
          </p:nvPr>
        </p:nvSpPr>
        <p:spPr>
          <a:xfrm>
            <a:off x="9896911" y="5410199"/>
            <a:ext cx="771089" cy="365125"/>
          </a:xfrm>
        </p:spPr>
        <p:txBody>
          <a:bodyPr/>
          <a:lstStyle/>
          <a:p>
            <a:fld id="{6D22F896-40B5-4ADD-8801-0D06FADFA095}" type="slidenum">
              <a:rPr lang="en-US" dirty="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8A87A34-81AB-432B-8DAE-1953F412C126}" type="datetimeFigureOut">
              <a:rPr lang="en-US" dirty="0"/>
              <a:t>12/2/2023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12/2/2023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8A87A34-81AB-432B-8DAE-1953F412C126}" type="datetimeFigureOut">
              <a:rPr lang="en-US" dirty="0"/>
              <a:t>12/2/2023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8A87A34-81AB-432B-8DAE-1953F412C126}" type="datetimeFigureOut">
              <a:rPr lang="en-US" dirty="0"/>
              <a:t>12/2/2023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8A87A34-81AB-432B-8DAE-1953F412C126}" type="datetimeFigureOut">
              <a:rPr lang="en-US" dirty="0"/>
              <a:t>12/2/2023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12/2/2023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12/2/2023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12/2/2023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12/2/2023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12/2/2023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12/2/2023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12/2/2023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12/2/2023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12/2/2023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8A87A34-81AB-432B-8DAE-1953F412C126}" type="datetimeFigureOut">
              <a:rPr lang="en-US" dirty="0"/>
              <a:t>12/2/2023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8A87A34-81AB-432B-8DAE-1953F412C126}" type="datetimeFigureOut">
              <a:rPr lang="en-US" dirty="0"/>
              <a:t>12/2/2023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12053888" cy="6858001"/>
            <a:chOff x="-14288" y="0"/>
            <a:chExt cx="12053888" cy="6858001"/>
          </a:xfrm>
          <a:gradFill flip="none" rotWithShape="1">
            <a:gsLst>
              <a:gs pos="0">
                <a:schemeClr val="tx2"/>
              </a:gs>
              <a:gs pos="100000">
                <a:schemeClr val="tx2">
                  <a:lumMod val="50000"/>
                </a:schemeClr>
              </a:gs>
            </a:gsLst>
            <a:lin ang="5400000" scaled="0"/>
            <a:tileRect/>
          </a:gradFill>
        </p:grpSpPr>
        <p:grpSp>
          <p:nvGrpSpPr>
            <p:cNvPr id="9" name="Group 8"/>
            <p:cNvGrpSpPr/>
            <p:nvPr/>
          </p:nvGrpSpPr>
          <p:grpSpPr>
            <a:xfrm>
              <a:off x="-14288" y="0"/>
              <a:ext cx="1220788" cy="6858001"/>
              <a:chOff x="-14288" y="0"/>
              <a:chExt cx="1220788" cy="6858001"/>
            </a:xfrm>
            <a:grp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p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8A87A34-81AB-432B-8DAE-1953F412C126}" type="datetimeFigureOut">
              <a:rPr lang="en-US" dirty="0"/>
              <a:pPr/>
              <a:t>12/2/2023</a:t>
            </a:fld>
            <a:endParaRPr lang="en-US"/>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D22F896-40B5-4ADD-8801-0D06FADFA095}" type="slidenum">
              <a:rPr lang="en-US" dirty="0"/>
              <a:pPr/>
              <a:t>‹#›</a:t>
            </a:fld>
            <a:endParaRPr lang="en-US"/>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7285A8-6EB4-44C6-9ACB-4CC45D21736D}"/>
              </a:ext>
            </a:extLst>
          </p:cNvPr>
          <p:cNvSpPr>
            <a:spLocks noGrp="1"/>
          </p:cNvSpPr>
          <p:nvPr>
            <p:ph type="ctrTitle"/>
          </p:nvPr>
        </p:nvSpPr>
        <p:spPr>
          <a:xfrm>
            <a:off x="1873973" y="459131"/>
            <a:ext cx="8791575" cy="757238"/>
          </a:xfrm>
        </p:spPr>
        <p:txBody>
          <a:bodyPr/>
          <a:lstStyle/>
          <a:p>
            <a:pPr algn="ctr"/>
            <a:r>
              <a:rPr lang="en-US"/>
              <a:t>SQL FOR DATA ANALYSIS </a:t>
            </a:r>
          </a:p>
        </p:txBody>
      </p:sp>
      <p:sp>
        <p:nvSpPr>
          <p:cNvPr id="5" name="TextBox 4">
            <a:extLst>
              <a:ext uri="{FF2B5EF4-FFF2-40B4-BE49-F238E27FC236}">
                <a16:creationId xmlns:a16="http://schemas.microsoft.com/office/drawing/2014/main" id="{EE42FB93-A955-2947-E9C9-B0C1904E691D}"/>
              </a:ext>
            </a:extLst>
          </p:cNvPr>
          <p:cNvSpPr txBox="1"/>
          <p:nvPr/>
        </p:nvSpPr>
        <p:spPr>
          <a:xfrm>
            <a:off x="4562406" y="2231603"/>
            <a:ext cx="3067187" cy="769441"/>
          </a:xfrm>
          <a:prstGeom prst="rect">
            <a:avLst/>
          </a:prstGeom>
          <a:noFill/>
        </p:spPr>
        <p:txBody>
          <a:bodyPr wrap="square" rtlCol="0">
            <a:spAutoFit/>
          </a:bodyPr>
          <a:lstStyle/>
          <a:p>
            <a:pPr algn="ctr"/>
            <a:r>
              <a:rPr lang="en-CA" sz="4400"/>
              <a:t>Scope</a:t>
            </a:r>
            <a:endParaRPr lang="en-US" sz="4400"/>
          </a:p>
        </p:txBody>
      </p:sp>
      <p:sp>
        <p:nvSpPr>
          <p:cNvPr id="6" name="TextBox 5">
            <a:extLst>
              <a:ext uri="{FF2B5EF4-FFF2-40B4-BE49-F238E27FC236}">
                <a16:creationId xmlns:a16="http://schemas.microsoft.com/office/drawing/2014/main" id="{F1090CE5-2F78-EA6D-071A-1598A144D1AA}"/>
              </a:ext>
            </a:extLst>
          </p:cNvPr>
          <p:cNvSpPr txBox="1"/>
          <p:nvPr/>
        </p:nvSpPr>
        <p:spPr>
          <a:xfrm>
            <a:off x="2424612" y="4016278"/>
            <a:ext cx="3067187" cy="769441"/>
          </a:xfrm>
          <a:prstGeom prst="rect">
            <a:avLst/>
          </a:prstGeom>
          <a:noFill/>
        </p:spPr>
        <p:txBody>
          <a:bodyPr wrap="square" rtlCol="0">
            <a:spAutoFit/>
          </a:bodyPr>
          <a:lstStyle/>
          <a:p>
            <a:pPr algn="ctr"/>
            <a:r>
              <a:rPr lang="en-CA" sz="4400"/>
              <a:t>IT SQL</a:t>
            </a:r>
            <a:endParaRPr lang="en-US" sz="4400"/>
          </a:p>
        </p:txBody>
      </p:sp>
      <p:sp>
        <p:nvSpPr>
          <p:cNvPr id="8" name="TextBox 7">
            <a:extLst>
              <a:ext uri="{FF2B5EF4-FFF2-40B4-BE49-F238E27FC236}">
                <a16:creationId xmlns:a16="http://schemas.microsoft.com/office/drawing/2014/main" id="{36762498-887A-7D83-EB68-02A989AEBC63}"/>
              </a:ext>
            </a:extLst>
          </p:cNvPr>
          <p:cNvSpPr txBox="1"/>
          <p:nvPr/>
        </p:nvSpPr>
        <p:spPr>
          <a:xfrm>
            <a:off x="6570172" y="4016279"/>
            <a:ext cx="4385851" cy="769441"/>
          </a:xfrm>
          <a:prstGeom prst="rect">
            <a:avLst/>
          </a:prstGeom>
          <a:noFill/>
        </p:spPr>
        <p:txBody>
          <a:bodyPr wrap="square" rtlCol="0">
            <a:spAutoFit/>
          </a:bodyPr>
          <a:lstStyle/>
          <a:p>
            <a:pPr algn="ctr"/>
            <a:r>
              <a:rPr lang="en-CA" sz="4400"/>
              <a:t>Data Analysis SQL</a:t>
            </a:r>
            <a:endParaRPr lang="en-US" sz="4400"/>
          </a:p>
        </p:txBody>
      </p:sp>
      <p:sp>
        <p:nvSpPr>
          <p:cNvPr id="9" name="TextBox 8">
            <a:extLst>
              <a:ext uri="{FF2B5EF4-FFF2-40B4-BE49-F238E27FC236}">
                <a16:creationId xmlns:a16="http://schemas.microsoft.com/office/drawing/2014/main" id="{385BE83D-3128-B30B-A28D-022334D1CC31}"/>
              </a:ext>
            </a:extLst>
          </p:cNvPr>
          <p:cNvSpPr txBox="1"/>
          <p:nvPr/>
        </p:nvSpPr>
        <p:spPr>
          <a:xfrm>
            <a:off x="2424611" y="5031512"/>
            <a:ext cx="3067187" cy="769441"/>
          </a:xfrm>
          <a:prstGeom prst="rect">
            <a:avLst/>
          </a:prstGeom>
          <a:noFill/>
        </p:spPr>
        <p:txBody>
          <a:bodyPr wrap="square" rtlCol="0">
            <a:spAutoFit/>
          </a:bodyPr>
          <a:lstStyle/>
          <a:p>
            <a:pPr algn="ctr"/>
            <a:r>
              <a:rPr lang="en-CA" sz="4400"/>
              <a:t>DBA</a:t>
            </a:r>
            <a:endParaRPr lang="en-US" sz="4400"/>
          </a:p>
        </p:txBody>
      </p:sp>
      <p:sp>
        <p:nvSpPr>
          <p:cNvPr id="10" name="TextBox 9">
            <a:extLst>
              <a:ext uri="{FF2B5EF4-FFF2-40B4-BE49-F238E27FC236}">
                <a16:creationId xmlns:a16="http://schemas.microsoft.com/office/drawing/2014/main" id="{BCFACE59-D204-796B-4BC8-E6DEEA555689}"/>
              </a:ext>
            </a:extLst>
          </p:cNvPr>
          <p:cNvSpPr txBox="1"/>
          <p:nvPr/>
        </p:nvSpPr>
        <p:spPr>
          <a:xfrm>
            <a:off x="6880563" y="5031511"/>
            <a:ext cx="3784985" cy="769441"/>
          </a:xfrm>
          <a:prstGeom prst="rect">
            <a:avLst/>
          </a:prstGeom>
          <a:noFill/>
        </p:spPr>
        <p:txBody>
          <a:bodyPr wrap="square" rtlCol="0">
            <a:spAutoFit/>
          </a:bodyPr>
          <a:lstStyle/>
          <a:p>
            <a:pPr algn="ctr"/>
            <a:r>
              <a:rPr lang="en-CA" sz="4400"/>
              <a:t>BI/Data analyst</a:t>
            </a:r>
            <a:endParaRPr lang="en-US" sz="4400"/>
          </a:p>
        </p:txBody>
      </p:sp>
    </p:spTree>
    <p:extLst>
      <p:ext uri="{BB962C8B-B14F-4D97-AF65-F5344CB8AC3E}">
        <p14:creationId xmlns:p14="http://schemas.microsoft.com/office/powerpoint/2010/main" val="9537762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7285A8-6EB4-44C6-9ACB-4CC45D21736D}"/>
              </a:ext>
            </a:extLst>
          </p:cNvPr>
          <p:cNvSpPr>
            <a:spLocks noGrp="1"/>
          </p:cNvSpPr>
          <p:nvPr>
            <p:ph type="ctrTitle"/>
          </p:nvPr>
        </p:nvSpPr>
        <p:spPr>
          <a:xfrm>
            <a:off x="1873973" y="459131"/>
            <a:ext cx="8791575" cy="757238"/>
          </a:xfrm>
        </p:spPr>
        <p:txBody>
          <a:bodyPr/>
          <a:lstStyle/>
          <a:p>
            <a:pPr algn="ctr"/>
            <a:r>
              <a:rPr lang="en-US"/>
              <a:t>SQL FOR DATA ANALYSIS </a:t>
            </a:r>
          </a:p>
        </p:txBody>
      </p:sp>
      <p:sp>
        <p:nvSpPr>
          <p:cNvPr id="10" name="TextBox 9">
            <a:extLst>
              <a:ext uri="{FF2B5EF4-FFF2-40B4-BE49-F238E27FC236}">
                <a16:creationId xmlns:a16="http://schemas.microsoft.com/office/drawing/2014/main" id="{BCFACE59-D204-796B-4BC8-E6DEEA555689}"/>
              </a:ext>
            </a:extLst>
          </p:cNvPr>
          <p:cNvSpPr txBox="1"/>
          <p:nvPr/>
        </p:nvSpPr>
        <p:spPr>
          <a:xfrm>
            <a:off x="6648027" y="4241560"/>
            <a:ext cx="3784985" cy="769441"/>
          </a:xfrm>
          <a:prstGeom prst="rect">
            <a:avLst/>
          </a:prstGeom>
          <a:noFill/>
        </p:spPr>
        <p:txBody>
          <a:bodyPr wrap="square" rtlCol="0">
            <a:spAutoFit/>
          </a:bodyPr>
          <a:lstStyle/>
          <a:p>
            <a:pPr algn="ctr"/>
            <a:r>
              <a:rPr lang="en-CA" sz="4400"/>
              <a:t>BI/Data analyst</a:t>
            </a:r>
            <a:endParaRPr lang="en-US" sz="4400"/>
          </a:p>
        </p:txBody>
      </p:sp>
      <p:sp>
        <p:nvSpPr>
          <p:cNvPr id="3" name="TextBox 2">
            <a:extLst>
              <a:ext uri="{FF2B5EF4-FFF2-40B4-BE49-F238E27FC236}">
                <a16:creationId xmlns:a16="http://schemas.microsoft.com/office/drawing/2014/main" id="{30FAE7C1-BC7D-92E5-D75F-D0AA733A0B44}"/>
              </a:ext>
            </a:extLst>
          </p:cNvPr>
          <p:cNvSpPr txBox="1"/>
          <p:nvPr/>
        </p:nvSpPr>
        <p:spPr>
          <a:xfrm>
            <a:off x="3313868" y="2015386"/>
            <a:ext cx="5759384" cy="769441"/>
          </a:xfrm>
          <a:prstGeom prst="rect">
            <a:avLst/>
          </a:prstGeom>
          <a:noFill/>
        </p:spPr>
        <p:txBody>
          <a:bodyPr wrap="square" rtlCol="0">
            <a:spAutoFit/>
          </a:bodyPr>
          <a:lstStyle/>
          <a:p>
            <a:pPr algn="ctr"/>
            <a:r>
              <a:rPr lang="en-CA" sz="4400"/>
              <a:t>Business Data analysis</a:t>
            </a:r>
            <a:endParaRPr lang="en-US" sz="4400"/>
          </a:p>
        </p:txBody>
      </p:sp>
      <p:sp>
        <p:nvSpPr>
          <p:cNvPr id="4" name="TextBox 3">
            <a:extLst>
              <a:ext uri="{FF2B5EF4-FFF2-40B4-BE49-F238E27FC236}">
                <a16:creationId xmlns:a16="http://schemas.microsoft.com/office/drawing/2014/main" id="{063CE927-B043-F738-11FA-7668431CD641}"/>
              </a:ext>
            </a:extLst>
          </p:cNvPr>
          <p:cNvSpPr txBox="1"/>
          <p:nvPr/>
        </p:nvSpPr>
        <p:spPr>
          <a:xfrm>
            <a:off x="1660613" y="4241560"/>
            <a:ext cx="3784985" cy="769441"/>
          </a:xfrm>
          <a:prstGeom prst="rect">
            <a:avLst/>
          </a:prstGeom>
          <a:noFill/>
        </p:spPr>
        <p:txBody>
          <a:bodyPr wrap="square" rtlCol="0">
            <a:spAutoFit/>
          </a:bodyPr>
          <a:lstStyle/>
          <a:p>
            <a:pPr algn="ctr"/>
            <a:r>
              <a:rPr lang="en-CA" sz="4400"/>
              <a:t>Business analyst</a:t>
            </a:r>
            <a:endParaRPr lang="en-US" sz="4400"/>
          </a:p>
        </p:txBody>
      </p:sp>
    </p:spTree>
    <p:extLst>
      <p:ext uri="{BB962C8B-B14F-4D97-AF65-F5344CB8AC3E}">
        <p14:creationId xmlns:p14="http://schemas.microsoft.com/office/powerpoint/2010/main" val="23833011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7285A8-6EB4-44C6-9ACB-4CC45D21736D}"/>
              </a:ext>
            </a:extLst>
          </p:cNvPr>
          <p:cNvSpPr>
            <a:spLocks noGrp="1"/>
          </p:cNvSpPr>
          <p:nvPr>
            <p:ph type="ctrTitle"/>
          </p:nvPr>
        </p:nvSpPr>
        <p:spPr>
          <a:xfrm>
            <a:off x="1873973" y="459131"/>
            <a:ext cx="8791575" cy="757238"/>
          </a:xfrm>
        </p:spPr>
        <p:txBody>
          <a:bodyPr/>
          <a:lstStyle/>
          <a:p>
            <a:pPr algn="ctr"/>
            <a:r>
              <a:rPr lang="en-US"/>
              <a:t>SQL FOR DATA ANALYSIS </a:t>
            </a:r>
          </a:p>
        </p:txBody>
      </p:sp>
      <p:sp>
        <p:nvSpPr>
          <p:cNvPr id="7" name="TextBox 6">
            <a:extLst>
              <a:ext uri="{FF2B5EF4-FFF2-40B4-BE49-F238E27FC236}">
                <a16:creationId xmlns:a16="http://schemas.microsoft.com/office/drawing/2014/main" id="{D2357873-8DF2-4BD6-87CD-9BB70A2A30C1}"/>
              </a:ext>
            </a:extLst>
          </p:cNvPr>
          <p:cNvSpPr txBox="1"/>
          <p:nvPr/>
        </p:nvSpPr>
        <p:spPr>
          <a:xfrm>
            <a:off x="4720823" y="5370103"/>
            <a:ext cx="6097554" cy="369332"/>
          </a:xfrm>
          <a:prstGeom prst="rect">
            <a:avLst/>
          </a:prstGeom>
          <a:noFill/>
        </p:spPr>
        <p:txBody>
          <a:bodyPr wrap="square">
            <a:spAutoFit/>
          </a:bodyPr>
          <a:lstStyle/>
          <a:p>
            <a:r>
              <a:rPr lang="en-US" b="0" i="0">
                <a:solidFill>
                  <a:srgbClr val="FFC000"/>
                </a:solidFill>
                <a:effectLst/>
                <a:latin typeface="-apple-system"/>
              </a:rPr>
              <a:t>DML: Data Manipulation Language</a:t>
            </a:r>
            <a:endParaRPr lang="en-US">
              <a:solidFill>
                <a:srgbClr val="FFC000"/>
              </a:solidFill>
            </a:endParaRPr>
          </a:p>
        </p:txBody>
      </p:sp>
      <p:grpSp>
        <p:nvGrpSpPr>
          <p:cNvPr id="4" name="Group 3">
            <a:extLst>
              <a:ext uri="{FF2B5EF4-FFF2-40B4-BE49-F238E27FC236}">
                <a16:creationId xmlns:a16="http://schemas.microsoft.com/office/drawing/2014/main" id="{F3D8F9E8-9B3F-6757-E60D-0F4170967A0A}"/>
              </a:ext>
            </a:extLst>
          </p:cNvPr>
          <p:cNvGrpSpPr/>
          <p:nvPr/>
        </p:nvGrpSpPr>
        <p:grpSpPr>
          <a:xfrm>
            <a:off x="3364289" y="1410322"/>
            <a:ext cx="6179684" cy="3571875"/>
            <a:chOff x="3364289" y="1410322"/>
            <a:chExt cx="6179684" cy="3571875"/>
          </a:xfrm>
        </p:grpSpPr>
        <p:pic>
          <p:nvPicPr>
            <p:cNvPr id="1026" name="Picture 2" descr="SQL command can be divided into three subgroups, DDL, DML and DCL">
              <a:extLst>
                <a:ext uri="{FF2B5EF4-FFF2-40B4-BE49-F238E27FC236}">
                  <a16:creationId xmlns:a16="http://schemas.microsoft.com/office/drawing/2014/main" id="{A372249F-4448-4FDC-9ECD-2FA1A34E504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64289" y="1410322"/>
              <a:ext cx="6179684" cy="3571875"/>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Rounded Corners 2">
              <a:extLst>
                <a:ext uri="{FF2B5EF4-FFF2-40B4-BE49-F238E27FC236}">
                  <a16:creationId xmlns:a16="http://schemas.microsoft.com/office/drawing/2014/main" id="{B626C66E-6607-E593-091B-5F09EB14C46B}"/>
                </a:ext>
              </a:extLst>
            </p:cNvPr>
            <p:cNvSpPr/>
            <p:nvPr/>
          </p:nvSpPr>
          <p:spPr>
            <a:xfrm>
              <a:off x="6561513" y="4051069"/>
              <a:ext cx="2205643" cy="371302"/>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grpSp>
    </p:spTree>
    <p:extLst>
      <p:ext uri="{BB962C8B-B14F-4D97-AF65-F5344CB8AC3E}">
        <p14:creationId xmlns:p14="http://schemas.microsoft.com/office/powerpoint/2010/main" val="40543991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7285A8-6EB4-44C6-9ACB-4CC45D21736D}"/>
              </a:ext>
            </a:extLst>
          </p:cNvPr>
          <p:cNvSpPr>
            <a:spLocks noGrp="1"/>
          </p:cNvSpPr>
          <p:nvPr>
            <p:ph type="ctrTitle"/>
          </p:nvPr>
        </p:nvSpPr>
        <p:spPr>
          <a:xfrm>
            <a:off x="1847847" y="653084"/>
            <a:ext cx="8791575" cy="757238"/>
          </a:xfrm>
        </p:spPr>
        <p:txBody>
          <a:bodyPr/>
          <a:lstStyle/>
          <a:p>
            <a:pPr algn="ctr"/>
            <a:r>
              <a:rPr lang="en-US"/>
              <a:t>SQL FOR DATA ANALYSIS </a:t>
            </a:r>
          </a:p>
        </p:txBody>
      </p:sp>
      <p:graphicFrame>
        <p:nvGraphicFramePr>
          <p:cNvPr id="4" name="Table 3">
            <a:extLst>
              <a:ext uri="{FF2B5EF4-FFF2-40B4-BE49-F238E27FC236}">
                <a16:creationId xmlns:a16="http://schemas.microsoft.com/office/drawing/2014/main" id="{0A9A677C-921B-473D-88CE-C9B026A8A7DB}"/>
              </a:ext>
            </a:extLst>
          </p:cNvPr>
          <p:cNvGraphicFramePr>
            <a:graphicFrameLocks noGrp="1"/>
          </p:cNvGraphicFramePr>
          <p:nvPr>
            <p:extLst>
              <p:ext uri="{D42A27DB-BD31-4B8C-83A1-F6EECF244321}">
                <p14:modId xmlns:p14="http://schemas.microsoft.com/office/powerpoint/2010/main" val="533390058"/>
              </p:ext>
            </p:extLst>
          </p:nvPr>
        </p:nvGraphicFramePr>
        <p:xfrm>
          <a:off x="4676091" y="1959112"/>
          <a:ext cx="3135085" cy="4185724"/>
        </p:xfrm>
        <a:graphic>
          <a:graphicData uri="http://schemas.openxmlformats.org/drawingml/2006/table">
            <a:tbl>
              <a:tblPr>
                <a:tableStyleId>{5C22544A-7EE6-4342-B048-85BDC9FD1C3A}</a:tableStyleId>
              </a:tblPr>
              <a:tblGrid>
                <a:gridCol w="3135085">
                  <a:extLst>
                    <a:ext uri="{9D8B030D-6E8A-4147-A177-3AD203B41FA5}">
                      <a16:colId xmlns:a16="http://schemas.microsoft.com/office/drawing/2014/main" val="205425101"/>
                    </a:ext>
                  </a:extLst>
                </a:gridCol>
              </a:tblGrid>
              <a:tr h="208322">
                <a:tc>
                  <a:txBody>
                    <a:bodyPr/>
                    <a:lstStyle/>
                    <a:p>
                      <a:pPr algn="l" fontAlgn="b"/>
                      <a:r>
                        <a:rPr lang="en-US" sz="1000" u="none" strike="noStrike">
                          <a:effectLst/>
                        </a:rPr>
                        <a:t>SELECT Statement Practice</a:t>
                      </a:r>
                      <a:endParaRPr lang="en-US" sz="1000" b="0" i="0" u="none" strike="noStrike">
                        <a:solidFill>
                          <a:srgbClr val="000000"/>
                        </a:solidFill>
                        <a:effectLst/>
                        <a:latin typeface="Calibri" panose="020F0502020204030204" pitchFamily="34" charset="0"/>
                      </a:endParaRPr>
                    </a:p>
                  </a:txBody>
                  <a:tcPr marL="8854" marR="8854" marT="8854" marB="0" anchor="b"/>
                </a:tc>
                <a:extLst>
                  <a:ext uri="{0D108BD9-81ED-4DB2-BD59-A6C34878D82A}">
                    <a16:rowId xmlns:a16="http://schemas.microsoft.com/office/drawing/2014/main" val="1319630529"/>
                  </a:ext>
                </a:extLst>
              </a:tr>
              <a:tr h="208322">
                <a:tc>
                  <a:txBody>
                    <a:bodyPr/>
                    <a:lstStyle/>
                    <a:p>
                      <a:pPr algn="l" fontAlgn="b"/>
                      <a:r>
                        <a:rPr lang="en-US" sz="1000" u="none" strike="noStrike">
                          <a:effectLst/>
                        </a:rPr>
                        <a:t>where Statement Practice</a:t>
                      </a:r>
                      <a:endParaRPr lang="en-US" sz="1000" b="0" i="0" u="none" strike="noStrike">
                        <a:solidFill>
                          <a:srgbClr val="000000"/>
                        </a:solidFill>
                        <a:effectLst/>
                        <a:latin typeface="Calibri" panose="020F0502020204030204" pitchFamily="34" charset="0"/>
                      </a:endParaRPr>
                    </a:p>
                  </a:txBody>
                  <a:tcPr marL="8854" marR="8854" marT="8854" marB="0" anchor="b"/>
                </a:tc>
                <a:extLst>
                  <a:ext uri="{0D108BD9-81ED-4DB2-BD59-A6C34878D82A}">
                    <a16:rowId xmlns:a16="http://schemas.microsoft.com/office/drawing/2014/main" val="4137410302"/>
                  </a:ext>
                </a:extLst>
              </a:tr>
              <a:tr h="208322">
                <a:tc>
                  <a:txBody>
                    <a:bodyPr/>
                    <a:lstStyle/>
                    <a:p>
                      <a:pPr algn="l" fontAlgn="b"/>
                      <a:r>
                        <a:rPr lang="en-US" sz="1000" u="none" strike="noStrike">
                          <a:effectLst/>
                        </a:rPr>
                        <a:t>JOIN Statement Practice</a:t>
                      </a:r>
                      <a:endParaRPr lang="en-US" sz="1000" b="0" i="0" u="none" strike="noStrike">
                        <a:solidFill>
                          <a:srgbClr val="000000"/>
                        </a:solidFill>
                        <a:effectLst/>
                        <a:latin typeface="Calibri" panose="020F0502020204030204" pitchFamily="34" charset="0"/>
                      </a:endParaRPr>
                    </a:p>
                  </a:txBody>
                  <a:tcPr marL="8854" marR="8854" marT="8854" marB="0" anchor="b"/>
                </a:tc>
                <a:extLst>
                  <a:ext uri="{0D108BD9-81ED-4DB2-BD59-A6C34878D82A}">
                    <a16:rowId xmlns:a16="http://schemas.microsoft.com/office/drawing/2014/main" val="3305670794"/>
                  </a:ext>
                </a:extLst>
              </a:tr>
              <a:tr h="208322">
                <a:tc>
                  <a:txBody>
                    <a:bodyPr/>
                    <a:lstStyle/>
                    <a:p>
                      <a:pPr algn="l" fontAlgn="b"/>
                      <a:r>
                        <a:rPr lang="en-US" sz="1000" u="none" strike="noStrike">
                          <a:effectLst/>
                        </a:rPr>
                        <a:t>INNER JOIN Statement Practice</a:t>
                      </a:r>
                      <a:endParaRPr lang="en-US" sz="1000" b="0" i="0" u="none" strike="noStrike">
                        <a:solidFill>
                          <a:srgbClr val="000000"/>
                        </a:solidFill>
                        <a:effectLst/>
                        <a:latin typeface="Calibri" panose="020F0502020204030204" pitchFamily="34" charset="0"/>
                      </a:endParaRPr>
                    </a:p>
                  </a:txBody>
                  <a:tcPr marL="8854" marR="8854" marT="8854" marB="0" anchor="b"/>
                </a:tc>
                <a:extLst>
                  <a:ext uri="{0D108BD9-81ED-4DB2-BD59-A6C34878D82A}">
                    <a16:rowId xmlns:a16="http://schemas.microsoft.com/office/drawing/2014/main" val="2453720549"/>
                  </a:ext>
                </a:extLst>
              </a:tr>
              <a:tr h="208322">
                <a:tc>
                  <a:txBody>
                    <a:bodyPr/>
                    <a:lstStyle/>
                    <a:p>
                      <a:pPr algn="l" fontAlgn="b"/>
                      <a:r>
                        <a:rPr lang="en-US" sz="1000" u="none" strike="noStrike">
                          <a:effectLst/>
                        </a:rPr>
                        <a:t>RIGHT &amp; LEFT JOIN Statement Practice</a:t>
                      </a:r>
                      <a:endParaRPr lang="en-US" sz="1000" b="0" i="0" u="none" strike="noStrike">
                        <a:solidFill>
                          <a:srgbClr val="000000"/>
                        </a:solidFill>
                        <a:effectLst/>
                        <a:latin typeface="Calibri" panose="020F0502020204030204" pitchFamily="34" charset="0"/>
                      </a:endParaRPr>
                    </a:p>
                  </a:txBody>
                  <a:tcPr marL="8854" marR="8854" marT="8854" marB="0" anchor="b"/>
                </a:tc>
                <a:extLst>
                  <a:ext uri="{0D108BD9-81ED-4DB2-BD59-A6C34878D82A}">
                    <a16:rowId xmlns:a16="http://schemas.microsoft.com/office/drawing/2014/main" val="919200390"/>
                  </a:ext>
                </a:extLst>
              </a:tr>
              <a:tr h="208322">
                <a:tc>
                  <a:txBody>
                    <a:bodyPr/>
                    <a:lstStyle/>
                    <a:p>
                      <a:pPr algn="l" fontAlgn="b"/>
                      <a:r>
                        <a:rPr lang="en-US" sz="1000" u="none" strike="noStrike">
                          <a:effectLst/>
                        </a:rPr>
                        <a:t>union Statement Practice</a:t>
                      </a:r>
                      <a:endParaRPr lang="en-US" sz="1000" b="0" i="0" u="none" strike="noStrike">
                        <a:solidFill>
                          <a:srgbClr val="000000"/>
                        </a:solidFill>
                        <a:effectLst/>
                        <a:latin typeface="Calibri" panose="020F0502020204030204" pitchFamily="34" charset="0"/>
                      </a:endParaRPr>
                    </a:p>
                  </a:txBody>
                  <a:tcPr marL="8854" marR="8854" marT="8854" marB="0" anchor="b"/>
                </a:tc>
                <a:extLst>
                  <a:ext uri="{0D108BD9-81ED-4DB2-BD59-A6C34878D82A}">
                    <a16:rowId xmlns:a16="http://schemas.microsoft.com/office/drawing/2014/main" val="2865650232"/>
                  </a:ext>
                </a:extLst>
              </a:tr>
              <a:tr h="208322">
                <a:tc>
                  <a:txBody>
                    <a:bodyPr/>
                    <a:lstStyle/>
                    <a:p>
                      <a:pPr algn="l" fontAlgn="b"/>
                      <a:r>
                        <a:rPr lang="en-US" sz="1000" u="none" strike="noStrike">
                          <a:effectLst/>
                        </a:rPr>
                        <a:t>Union vs union all Statement Practice</a:t>
                      </a:r>
                      <a:endParaRPr lang="en-US" sz="1000" b="0" i="0" u="none" strike="noStrike">
                        <a:solidFill>
                          <a:srgbClr val="000000"/>
                        </a:solidFill>
                        <a:effectLst/>
                        <a:latin typeface="Calibri" panose="020F0502020204030204" pitchFamily="34" charset="0"/>
                      </a:endParaRPr>
                    </a:p>
                  </a:txBody>
                  <a:tcPr marL="8854" marR="8854" marT="8854" marB="0" anchor="b"/>
                </a:tc>
                <a:extLst>
                  <a:ext uri="{0D108BD9-81ED-4DB2-BD59-A6C34878D82A}">
                    <a16:rowId xmlns:a16="http://schemas.microsoft.com/office/drawing/2014/main" val="335082151"/>
                  </a:ext>
                </a:extLst>
              </a:tr>
              <a:tr h="208322">
                <a:tc>
                  <a:txBody>
                    <a:bodyPr/>
                    <a:lstStyle/>
                    <a:p>
                      <a:pPr algn="l" fontAlgn="b"/>
                      <a:r>
                        <a:rPr lang="en-US" sz="1000" u="none" strike="noStrike">
                          <a:effectLst/>
                        </a:rPr>
                        <a:t>intercept vs except Statement Practice</a:t>
                      </a:r>
                      <a:endParaRPr lang="en-US" sz="1000" b="0" i="0" u="none" strike="noStrike">
                        <a:solidFill>
                          <a:srgbClr val="000000"/>
                        </a:solidFill>
                        <a:effectLst/>
                        <a:latin typeface="Calibri" panose="020F0502020204030204" pitchFamily="34" charset="0"/>
                      </a:endParaRPr>
                    </a:p>
                  </a:txBody>
                  <a:tcPr marL="8854" marR="8854" marT="8854" marB="0" anchor="b"/>
                </a:tc>
                <a:extLst>
                  <a:ext uri="{0D108BD9-81ED-4DB2-BD59-A6C34878D82A}">
                    <a16:rowId xmlns:a16="http://schemas.microsoft.com/office/drawing/2014/main" val="2688579858"/>
                  </a:ext>
                </a:extLst>
              </a:tr>
              <a:tr h="208322">
                <a:tc>
                  <a:txBody>
                    <a:bodyPr/>
                    <a:lstStyle/>
                    <a:p>
                      <a:pPr algn="l" fontAlgn="b"/>
                      <a:r>
                        <a:rPr lang="en-US" sz="1000" u="none" strike="noStrike">
                          <a:effectLst/>
                        </a:rPr>
                        <a:t>aggregation Statement Practice</a:t>
                      </a:r>
                      <a:endParaRPr lang="en-US" sz="1000" b="0" i="0" u="none" strike="noStrike">
                        <a:solidFill>
                          <a:srgbClr val="000000"/>
                        </a:solidFill>
                        <a:effectLst/>
                        <a:latin typeface="Calibri" panose="020F0502020204030204" pitchFamily="34" charset="0"/>
                      </a:endParaRPr>
                    </a:p>
                  </a:txBody>
                  <a:tcPr marL="8854" marR="8854" marT="8854" marB="0" anchor="b"/>
                </a:tc>
                <a:extLst>
                  <a:ext uri="{0D108BD9-81ED-4DB2-BD59-A6C34878D82A}">
                    <a16:rowId xmlns:a16="http://schemas.microsoft.com/office/drawing/2014/main" val="2743208045"/>
                  </a:ext>
                </a:extLst>
              </a:tr>
              <a:tr h="227606">
                <a:tc>
                  <a:txBody>
                    <a:bodyPr/>
                    <a:lstStyle/>
                    <a:p>
                      <a:pPr algn="l" fontAlgn="b"/>
                      <a:r>
                        <a:rPr lang="en-US" sz="1000" u="none" strike="noStrike">
                          <a:effectLst/>
                        </a:rPr>
                        <a:t>SORT Statement Practice</a:t>
                      </a:r>
                      <a:endParaRPr lang="en-US" sz="1000" b="0" i="0" u="none" strike="noStrike">
                        <a:solidFill>
                          <a:srgbClr val="000000"/>
                        </a:solidFill>
                        <a:effectLst/>
                        <a:latin typeface="Calibri" panose="020F0502020204030204" pitchFamily="34" charset="0"/>
                      </a:endParaRPr>
                    </a:p>
                  </a:txBody>
                  <a:tcPr marL="8854" marR="8854" marT="8854" marB="0" anchor="b"/>
                </a:tc>
                <a:extLst>
                  <a:ext uri="{0D108BD9-81ED-4DB2-BD59-A6C34878D82A}">
                    <a16:rowId xmlns:a16="http://schemas.microsoft.com/office/drawing/2014/main" val="4127196484"/>
                  </a:ext>
                </a:extLst>
              </a:tr>
              <a:tr h="208322">
                <a:tc>
                  <a:txBody>
                    <a:bodyPr/>
                    <a:lstStyle/>
                    <a:p>
                      <a:pPr algn="l" fontAlgn="b"/>
                      <a:r>
                        <a:rPr lang="en-US" sz="1000" u="none" strike="noStrike">
                          <a:effectLst/>
                        </a:rPr>
                        <a:t>Group by Statement Practice</a:t>
                      </a:r>
                      <a:endParaRPr lang="en-US" sz="1000" b="0" i="0" u="none" strike="noStrike">
                        <a:solidFill>
                          <a:srgbClr val="000000"/>
                        </a:solidFill>
                        <a:effectLst/>
                        <a:latin typeface="Calibri" panose="020F0502020204030204" pitchFamily="34" charset="0"/>
                      </a:endParaRPr>
                    </a:p>
                  </a:txBody>
                  <a:tcPr marL="8854" marR="8854" marT="8854" marB="0" anchor="b"/>
                </a:tc>
                <a:extLst>
                  <a:ext uri="{0D108BD9-81ED-4DB2-BD59-A6C34878D82A}">
                    <a16:rowId xmlns:a16="http://schemas.microsoft.com/office/drawing/2014/main" val="2703625320"/>
                  </a:ext>
                </a:extLst>
              </a:tr>
              <a:tr h="208322">
                <a:tc>
                  <a:txBody>
                    <a:bodyPr/>
                    <a:lstStyle/>
                    <a:p>
                      <a:pPr algn="l" fontAlgn="b"/>
                      <a:r>
                        <a:rPr lang="en-US" sz="1000" u="none" strike="noStrike">
                          <a:effectLst/>
                        </a:rPr>
                        <a:t>Having Statement Practice</a:t>
                      </a:r>
                      <a:endParaRPr lang="en-US" sz="1000" b="0" i="0" u="none" strike="noStrike">
                        <a:solidFill>
                          <a:srgbClr val="000000"/>
                        </a:solidFill>
                        <a:effectLst/>
                        <a:latin typeface="Calibri" panose="020F0502020204030204" pitchFamily="34" charset="0"/>
                      </a:endParaRPr>
                    </a:p>
                  </a:txBody>
                  <a:tcPr marL="8854" marR="8854" marT="8854" marB="0" anchor="b"/>
                </a:tc>
                <a:extLst>
                  <a:ext uri="{0D108BD9-81ED-4DB2-BD59-A6C34878D82A}">
                    <a16:rowId xmlns:a16="http://schemas.microsoft.com/office/drawing/2014/main" val="3948738762"/>
                  </a:ext>
                </a:extLst>
              </a:tr>
              <a:tr h="208322">
                <a:tc>
                  <a:txBody>
                    <a:bodyPr/>
                    <a:lstStyle/>
                    <a:p>
                      <a:pPr algn="l" fontAlgn="b"/>
                      <a:r>
                        <a:rPr lang="en-US" sz="1000" u="none" strike="noStrike">
                          <a:effectLst/>
                        </a:rPr>
                        <a:t>String Statement Practice</a:t>
                      </a:r>
                      <a:endParaRPr lang="en-US" sz="1000" b="0" i="0" u="none" strike="noStrike">
                        <a:solidFill>
                          <a:srgbClr val="000000"/>
                        </a:solidFill>
                        <a:effectLst/>
                        <a:latin typeface="Calibri" panose="020F0502020204030204" pitchFamily="34" charset="0"/>
                      </a:endParaRPr>
                    </a:p>
                  </a:txBody>
                  <a:tcPr marL="8854" marR="8854" marT="8854" marB="0" anchor="b"/>
                </a:tc>
                <a:extLst>
                  <a:ext uri="{0D108BD9-81ED-4DB2-BD59-A6C34878D82A}">
                    <a16:rowId xmlns:a16="http://schemas.microsoft.com/office/drawing/2014/main" val="1882255343"/>
                  </a:ext>
                </a:extLst>
              </a:tr>
              <a:tr h="208322">
                <a:tc>
                  <a:txBody>
                    <a:bodyPr/>
                    <a:lstStyle/>
                    <a:p>
                      <a:pPr algn="l" fontAlgn="b"/>
                      <a:r>
                        <a:rPr lang="en-US" sz="1000" u="none" strike="noStrike">
                          <a:effectLst/>
                        </a:rPr>
                        <a:t>Date Statement Practice</a:t>
                      </a:r>
                      <a:endParaRPr lang="en-US" sz="1000" b="0" i="0" u="none" strike="noStrike">
                        <a:solidFill>
                          <a:srgbClr val="000000"/>
                        </a:solidFill>
                        <a:effectLst/>
                        <a:latin typeface="Calibri" panose="020F0502020204030204" pitchFamily="34" charset="0"/>
                      </a:endParaRPr>
                    </a:p>
                  </a:txBody>
                  <a:tcPr marL="8854" marR="8854" marT="8854" marB="0" anchor="b"/>
                </a:tc>
                <a:extLst>
                  <a:ext uri="{0D108BD9-81ED-4DB2-BD59-A6C34878D82A}">
                    <a16:rowId xmlns:a16="http://schemas.microsoft.com/office/drawing/2014/main" val="1483661424"/>
                  </a:ext>
                </a:extLst>
              </a:tr>
              <a:tr h="208322">
                <a:tc>
                  <a:txBody>
                    <a:bodyPr/>
                    <a:lstStyle/>
                    <a:p>
                      <a:pPr algn="l" fontAlgn="b"/>
                      <a:r>
                        <a:rPr lang="en-US" sz="1000" u="none" strike="noStrike">
                          <a:effectLst/>
                        </a:rPr>
                        <a:t>null Statement Practice</a:t>
                      </a:r>
                      <a:endParaRPr lang="en-US" sz="1000" b="0" i="0" u="none" strike="noStrike">
                        <a:solidFill>
                          <a:srgbClr val="000000"/>
                        </a:solidFill>
                        <a:effectLst/>
                        <a:latin typeface="Calibri" panose="020F0502020204030204" pitchFamily="34" charset="0"/>
                      </a:endParaRPr>
                    </a:p>
                  </a:txBody>
                  <a:tcPr marL="8854" marR="8854" marT="8854" marB="0" anchor="b"/>
                </a:tc>
                <a:extLst>
                  <a:ext uri="{0D108BD9-81ED-4DB2-BD59-A6C34878D82A}">
                    <a16:rowId xmlns:a16="http://schemas.microsoft.com/office/drawing/2014/main" val="1374886183"/>
                  </a:ext>
                </a:extLst>
              </a:tr>
              <a:tr h="208322">
                <a:tc>
                  <a:txBody>
                    <a:bodyPr/>
                    <a:lstStyle/>
                    <a:p>
                      <a:pPr algn="l" fontAlgn="b"/>
                      <a:r>
                        <a:rPr lang="en-US" sz="1000" u="none" strike="noStrike">
                          <a:effectLst/>
                        </a:rPr>
                        <a:t>cast Statement Practice</a:t>
                      </a:r>
                      <a:endParaRPr lang="en-US" sz="1000" b="0" i="0" u="none" strike="noStrike">
                        <a:solidFill>
                          <a:srgbClr val="000000"/>
                        </a:solidFill>
                        <a:effectLst/>
                        <a:latin typeface="Calibri" panose="020F0502020204030204" pitchFamily="34" charset="0"/>
                      </a:endParaRPr>
                    </a:p>
                  </a:txBody>
                  <a:tcPr marL="8854" marR="8854" marT="8854" marB="0" anchor="b"/>
                </a:tc>
                <a:extLst>
                  <a:ext uri="{0D108BD9-81ED-4DB2-BD59-A6C34878D82A}">
                    <a16:rowId xmlns:a16="http://schemas.microsoft.com/office/drawing/2014/main" val="2800010225"/>
                  </a:ext>
                </a:extLst>
              </a:tr>
              <a:tr h="208322">
                <a:tc>
                  <a:txBody>
                    <a:bodyPr/>
                    <a:lstStyle/>
                    <a:p>
                      <a:pPr algn="l" fontAlgn="b"/>
                      <a:r>
                        <a:rPr lang="en-US" sz="1000" u="none" strike="noStrike">
                          <a:effectLst/>
                        </a:rPr>
                        <a:t>derived Statement Practice</a:t>
                      </a:r>
                      <a:endParaRPr lang="en-US" sz="1000" b="0" i="0" u="none" strike="noStrike">
                        <a:solidFill>
                          <a:srgbClr val="000000"/>
                        </a:solidFill>
                        <a:effectLst/>
                        <a:latin typeface="Calibri" panose="020F0502020204030204" pitchFamily="34" charset="0"/>
                      </a:endParaRPr>
                    </a:p>
                  </a:txBody>
                  <a:tcPr marL="8854" marR="8854" marT="8854" marB="0" anchor="b"/>
                </a:tc>
                <a:extLst>
                  <a:ext uri="{0D108BD9-81ED-4DB2-BD59-A6C34878D82A}">
                    <a16:rowId xmlns:a16="http://schemas.microsoft.com/office/drawing/2014/main" val="1822172114"/>
                  </a:ext>
                </a:extLst>
              </a:tr>
              <a:tr h="208322">
                <a:tc>
                  <a:txBody>
                    <a:bodyPr/>
                    <a:lstStyle/>
                    <a:p>
                      <a:pPr algn="l" fontAlgn="b"/>
                      <a:r>
                        <a:rPr lang="en-US" sz="1000" u="none" strike="noStrike">
                          <a:effectLst/>
                        </a:rPr>
                        <a:t>with Statement Practice</a:t>
                      </a:r>
                      <a:endParaRPr lang="en-US" sz="1000" b="0" i="0" u="none" strike="noStrike">
                        <a:solidFill>
                          <a:srgbClr val="000000"/>
                        </a:solidFill>
                        <a:effectLst/>
                        <a:latin typeface="Calibri" panose="020F0502020204030204" pitchFamily="34" charset="0"/>
                      </a:endParaRPr>
                    </a:p>
                  </a:txBody>
                  <a:tcPr marL="8854" marR="8854" marT="8854" marB="0" anchor="b"/>
                </a:tc>
                <a:extLst>
                  <a:ext uri="{0D108BD9-81ED-4DB2-BD59-A6C34878D82A}">
                    <a16:rowId xmlns:a16="http://schemas.microsoft.com/office/drawing/2014/main" val="3046059021"/>
                  </a:ext>
                </a:extLst>
              </a:tr>
              <a:tr h="208322">
                <a:tc>
                  <a:txBody>
                    <a:bodyPr/>
                    <a:lstStyle/>
                    <a:p>
                      <a:pPr algn="l" fontAlgn="b"/>
                      <a:r>
                        <a:rPr lang="en-US" sz="1000" u="none" strike="noStrike">
                          <a:effectLst/>
                        </a:rPr>
                        <a:t>case Statement Practice</a:t>
                      </a:r>
                      <a:endParaRPr lang="en-US" sz="1000" b="0" i="0" u="none" strike="noStrike">
                        <a:solidFill>
                          <a:srgbClr val="000000"/>
                        </a:solidFill>
                        <a:effectLst/>
                        <a:latin typeface="Calibri" panose="020F0502020204030204" pitchFamily="34" charset="0"/>
                      </a:endParaRPr>
                    </a:p>
                  </a:txBody>
                  <a:tcPr marL="8854" marR="8854" marT="8854" marB="0" anchor="b"/>
                </a:tc>
                <a:extLst>
                  <a:ext uri="{0D108BD9-81ED-4DB2-BD59-A6C34878D82A}">
                    <a16:rowId xmlns:a16="http://schemas.microsoft.com/office/drawing/2014/main" val="1068448645"/>
                  </a:ext>
                </a:extLst>
              </a:tr>
              <a:tr h="208322">
                <a:tc>
                  <a:txBody>
                    <a:bodyPr/>
                    <a:lstStyle/>
                    <a:p>
                      <a:pPr algn="l" fontAlgn="b"/>
                      <a:r>
                        <a:rPr lang="en-US" sz="1000" u="none" strike="noStrike">
                          <a:effectLst/>
                        </a:rPr>
                        <a:t>Create, insert, update, delete Statement Practice</a:t>
                      </a:r>
                      <a:endParaRPr lang="en-US" sz="1000" b="0" i="0" u="none" strike="noStrike">
                        <a:solidFill>
                          <a:srgbClr val="000000"/>
                        </a:solidFill>
                        <a:effectLst/>
                        <a:latin typeface="Calibri" panose="020F0502020204030204" pitchFamily="34" charset="0"/>
                      </a:endParaRPr>
                    </a:p>
                  </a:txBody>
                  <a:tcPr marL="8854" marR="8854" marT="8854" marB="0" anchor="b"/>
                </a:tc>
                <a:extLst>
                  <a:ext uri="{0D108BD9-81ED-4DB2-BD59-A6C34878D82A}">
                    <a16:rowId xmlns:a16="http://schemas.microsoft.com/office/drawing/2014/main" val="3146373120"/>
                  </a:ext>
                </a:extLst>
              </a:tr>
            </a:tbl>
          </a:graphicData>
        </a:graphic>
      </p:graphicFrame>
      <p:sp>
        <p:nvSpPr>
          <p:cNvPr id="5" name="TextBox 4">
            <a:extLst>
              <a:ext uri="{FF2B5EF4-FFF2-40B4-BE49-F238E27FC236}">
                <a16:creationId xmlns:a16="http://schemas.microsoft.com/office/drawing/2014/main" id="{6D7A8769-8905-46DC-BE01-8F074F421564}"/>
              </a:ext>
            </a:extLst>
          </p:cNvPr>
          <p:cNvSpPr txBox="1"/>
          <p:nvPr/>
        </p:nvSpPr>
        <p:spPr>
          <a:xfrm>
            <a:off x="5164372" y="1500051"/>
            <a:ext cx="2387046" cy="369332"/>
          </a:xfrm>
          <a:prstGeom prst="rect">
            <a:avLst/>
          </a:prstGeom>
          <a:noFill/>
        </p:spPr>
        <p:txBody>
          <a:bodyPr wrap="square" rtlCol="0">
            <a:spAutoFit/>
          </a:bodyPr>
          <a:lstStyle/>
          <a:p>
            <a:r>
              <a:rPr lang="en-US"/>
              <a:t>Table of content</a:t>
            </a:r>
          </a:p>
        </p:txBody>
      </p:sp>
    </p:spTree>
    <p:extLst>
      <p:ext uri="{BB962C8B-B14F-4D97-AF65-F5344CB8AC3E}">
        <p14:creationId xmlns:p14="http://schemas.microsoft.com/office/powerpoint/2010/main" val="36587145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7285A8-6EB4-44C6-9ACB-4CC45D21736D}"/>
              </a:ext>
            </a:extLst>
          </p:cNvPr>
          <p:cNvSpPr>
            <a:spLocks noGrp="1"/>
          </p:cNvSpPr>
          <p:nvPr>
            <p:ph type="ctrTitle"/>
          </p:nvPr>
        </p:nvSpPr>
        <p:spPr>
          <a:xfrm>
            <a:off x="1847847" y="653084"/>
            <a:ext cx="8791575" cy="757238"/>
          </a:xfrm>
        </p:spPr>
        <p:txBody>
          <a:bodyPr/>
          <a:lstStyle/>
          <a:p>
            <a:pPr algn="ctr"/>
            <a:r>
              <a:rPr lang="en-US"/>
              <a:t>SQL FOR DATA ANALYSIS </a:t>
            </a:r>
          </a:p>
        </p:txBody>
      </p:sp>
      <p:sp>
        <p:nvSpPr>
          <p:cNvPr id="3" name="TextBox 2">
            <a:extLst>
              <a:ext uri="{FF2B5EF4-FFF2-40B4-BE49-F238E27FC236}">
                <a16:creationId xmlns:a16="http://schemas.microsoft.com/office/drawing/2014/main" id="{71E9E1A3-8663-DA33-3DE3-4F35AE381B64}"/>
              </a:ext>
            </a:extLst>
          </p:cNvPr>
          <p:cNvSpPr txBox="1"/>
          <p:nvPr/>
        </p:nvSpPr>
        <p:spPr>
          <a:xfrm>
            <a:off x="2986480" y="2535704"/>
            <a:ext cx="1895913" cy="923330"/>
          </a:xfrm>
          <a:prstGeom prst="rect">
            <a:avLst/>
          </a:prstGeom>
          <a:noFill/>
        </p:spPr>
        <p:txBody>
          <a:bodyPr wrap="square" rtlCol="0">
            <a:spAutoFit/>
          </a:bodyPr>
          <a:lstStyle/>
          <a:p>
            <a:r>
              <a:rPr lang="en-CA"/>
              <a:t>Resume: how to use SQL to do data analysis</a:t>
            </a:r>
            <a:endParaRPr lang="en-US"/>
          </a:p>
        </p:txBody>
      </p:sp>
      <p:sp>
        <p:nvSpPr>
          <p:cNvPr id="6" name="TextBox 5">
            <a:extLst>
              <a:ext uri="{FF2B5EF4-FFF2-40B4-BE49-F238E27FC236}">
                <a16:creationId xmlns:a16="http://schemas.microsoft.com/office/drawing/2014/main" id="{93F4F199-14EC-C1D7-F506-FC11A17C0AF8}"/>
              </a:ext>
            </a:extLst>
          </p:cNvPr>
          <p:cNvSpPr txBox="1"/>
          <p:nvPr/>
        </p:nvSpPr>
        <p:spPr>
          <a:xfrm>
            <a:off x="6720979" y="2505670"/>
            <a:ext cx="1895913" cy="923330"/>
          </a:xfrm>
          <a:prstGeom prst="rect">
            <a:avLst/>
          </a:prstGeom>
          <a:noFill/>
        </p:spPr>
        <p:txBody>
          <a:bodyPr wrap="square" rtlCol="0">
            <a:spAutoFit/>
          </a:bodyPr>
          <a:lstStyle/>
          <a:p>
            <a:r>
              <a:rPr lang="en-CA"/>
              <a:t>Interview: demo how you use SQL at work</a:t>
            </a:r>
            <a:endParaRPr lang="en-US"/>
          </a:p>
        </p:txBody>
      </p:sp>
    </p:spTree>
    <p:extLst>
      <p:ext uri="{BB962C8B-B14F-4D97-AF65-F5344CB8AC3E}">
        <p14:creationId xmlns:p14="http://schemas.microsoft.com/office/powerpoint/2010/main" val="5991823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7285A8-6EB4-44C6-9ACB-4CC45D21736D}"/>
              </a:ext>
            </a:extLst>
          </p:cNvPr>
          <p:cNvSpPr>
            <a:spLocks noGrp="1"/>
          </p:cNvSpPr>
          <p:nvPr>
            <p:ph type="ctrTitle"/>
          </p:nvPr>
        </p:nvSpPr>
        <p:spPr>
          <a:xfrm>
            <a:off x="1847847" y="653084"/>
            <a:ext cx="8791575" cy="757238"/>
          </a:xfrm>
        </p:spPr>
        <p:txBody>
          <a:bodyPr/>
          <a:lstStyle/>
          <a:p>
            <a:pPr algn="ctr"/>
            <a:r>
              <a:rPr lang="en-US"/>
              <a:t>SQL FOR DATA ANALYSIS </a:t>
            </a:r>
          </a:p>
        </p:txBody>
      </p:sp>
      <p:sp>
        <p:nvSpPr>
          <p:cNvPr id="4" name="Cylinder 3">
            <a:extLst>
              <a:ext uri="{FF2B5EF4-FFF2-40B4-BE49-F238E27FC236}">
                <a16:creationId xmlns:a16="http://schemas.microsoft.com/office/drawing/2014/main" id="{F7AF8812-0A1F-4438-B3DF-6307B26BCE84}"/>
              </a:ext>
            </a:extLst>
          </p:cNvPr>
          <p:cNvSpPr/>
          <p:nvPr/>
        </p:nvSpPr>
        <p:spPr>
          <a:xfrm>
            <a:off x="4576005" y="2911963"/>
            <a:ext cx="1493241" cy="1375795"/>
          </a:xfrm>
          <a:prstGeom prst="ca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a:t>Server</a:t>
            </a:r>
            <a:br>
              <a:rPr lang="en-CA"/>
            </a:br>
            <a:r>
              <a:rPr lang="en-CA"/>
              <a:t>Database</a:t>
            </a:r>
            <a:br>
              <a:rPr lang="en-CA"/>
            </a:br>
            <a:r>
              <a:rPr lang="en-CA"/>
              <a:t>tables</a:t>
            </a:r>
            <a:endParaRPr lang="en-US"/>
          </a:p>
        </p:txBody>
      </p:sp>
      <p:sp>
        <p:nvSpPr>
          <p:cNvPr id="5" name="Rectangle: Rounded Corners 4">
            <a:extLst>
              <a:ext uri="{FF2B5EF4-FFF2-40B4-BE49-F238E27FC236}">
                <a16:creationId xmlns:a16="http://schemas.microsoft.com/office/drawing/2014/main" id="{AC6AB0C9-E341-DD48-2042-170F6395F014}"/>
              </a:ext>
            </a:extLst>
          </p:cNvPr>
          <p:cNvSpPr/>
          <p:nvPr/>
        </p:nvSpPr>
        <p:spPr>
          <a:xfrm>
            <a:off x="6694065" y="3167828"/>
            <a:ext cx="1493241" cy="86406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err="1"/>
              <a:t>SSMS:Client</a:t>
            </a:r>
            <a:endParaRPr lang="en-US"/>
          </a:p>
        </p:txBody>
      </p:sp>
      <p:sp>
        <p:nvSpPr>
          <p:cNvPr id="7" name="Rectangle: Rounded Corners 6">
            <a:extLst>
              <a:ext uri="{FF2B5EF4-FFF2-40B4-BE49-F238E27FC236}">
                <a16:creationId xmlns:a16="http://schemas.microsoft.com/office/drawing/2014/main" id="{FEC617BE-4DA0-8DD9-6D76-CFA428AF92E4}"/>
              </a:ext>
            </a:extLst>
          </p:cNvPr>
          <p:cNvSpPr/>
          <p:nvPr/>
        </p:nvSpPr>
        <p:spPr>
          <a:xfrm>
            <a:off x="1192529" y="3302681"/>
            <a:ext cx="1493241" cy="86406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a:t>IT</a:t>
            </a:r>
            <a:endParaRPr lang="en-US"/>
          </a:p>
        </p:txBody>
      </p:sp>
      <p:sp>
        <p:nvSpPr>
          <p:cNvPr id="8" name="Rectangle: Rounded Corners 7">
            <a:extLst>
              <a:ext uri="{FF2B5EF4-FFF2-40B4-BE49-F238E27FC236}">
                <a16:creationId xmlns:a16="http://schemas.microsoft.com/office/drawing/2014/main" id="{3E9B4DF3-1FC8-89A9-5E92-B5763C7DF1D7}"/>
              </a:ext>
            </a:extLst>
          </p:cNvPr>
          <p:cNvSpPr/>
          <p:nvPr/>
        </p:nvSpPr>
        <p:spPr>
          <a:xfrm>
            <a:off x="8958393" y="3167828"/>
            <a:ext cx="2223195" cy="86406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a:t>AD HOC analysis/data pull</a:t>
            </a:r>
            <a:endParaRPr lang="en-US"/>
          </a:p>
        </p:txBody>
      </p:sp>
      <p:sp>
        <p:nvSpPr>
          <p:cNvPr id="3" name="Oval 2">
            <a:extLst>
              <a:ext uri="{FF2B5EF4-FFF2-40B4-BE49-F238E27FC236}">
                <a16:creationId xmlns:a16="http://schemas.microsoft.com/office/drawing/2014/main" id="{83FFD26C-BA7E-CCC6-DD85-CA1569BF5A1D}"/>
              </a:ext>
            </a:extLst>
          </p:cNvPr>
          <p:cNvSpPr/>
          <p:nvPr/>
        </p:nvSpPr>
        <p:spPr>
          <a:xfrm>
            <a:off x="3071314" y="3437534"/>
            <a:ext cx="1012636" cy="5943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a:t>ETL</a:t>
            </a:r>
            <a:endParaRPr lang="en-US"/>
          </a:p>
        </p:txBody>
      </p:sp>
    </p:spTree>
    <p:extLst>
      <p:ext uri="{BB962C8B-B14F-4D97-AF65-F5344CB8AC3E}">
        <p14:creationId xmlns:p14="http://schemas.microsoft.com/office/powerpoint/2010/main" val="12020284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7285A8-6EB4-44C6-9ACB-4CC45D21736D}"/>
              </a:ext>
            </a:extLst>
          </p:cNvPr>
          <p:cNvSpPr>
            <a:spLocks noGrp="1"/>
          </p:cNvSpPr>
          <p:nvPr>
            <p:ph type="ctrTitle"/>
          </p:nvPr>
        </p:nvSpPr>
        <p:spPr>
          <a:xfrm>
            <a:off x="1847847" y="653084"/>
            <a:ext cx="8791575" cy="757238"/>
          </a:xfrm>
        </p:spPr>
        <p:txBody>
          <a:bodyPr/>
          <a:lstStyle/>
          <a:p>
            <a:pPr algn="ctr"/>
            <a:r>
              <a:rPr lang="en-US"/>
              <a:t>SQL FOR DATA ANALYSIS </a:t>
            </a:r>
          </a:p>
        </p:txBody>
      </p:sp>
      <p:sp>
        <p:nvSpPr>
          <p:cNvPr id="8" name="Rectangle: Rounded Corners 7">
            <a:extLst>
              <a:ext uri="{FF2B5EF4-FFF2-40B4-BE49-F238E27FC236}">
                <a16:creationId xmlns:a16="http://schemas.microsoft.com/office/drawing/2014/main" id="{3E9B4DF3-1FC8-89A9-5E92-B5763C7DF1D7}"/>
              </a:ext>
            </a:extLst>
          </p:cNvPr>
          <p:cNvSpPr/>
          <p:nvPr/>
        </p:nvSpPr>
        <p:spPr>
          <a:xfrm>
            <a:off x="5253549" y="1846520"/>
            <a:ext cx="1493241" cy="86406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a:t>AD HOC analysis</a:t>
            </a:r>
            <a:endParaRPr lang="en-US"/>
          </a:p>
        </p:txBody>
      </p:sp>
      <p:sp>
        <p:nvSpPr>
          <p:cNvPr id="3" name="Rectangle: Rounded Corners 2">
            <a:extLst>
              <a:ext uri="{FF2B5EF4-FFF2-40B4-BE49-F238E27FC236}">
                <a16:creationId xmlns:a16="http://schemas.microsoft.com/office/drawing/2014/main" id="{05FD61B2-BB6F-1A30-A994-09B4093F45DE}"/>
              </a:ext>
            </a:extLst>
          </p:cNvPr>
          <p:cNvSpPr/>
          <p:nvPr/>
        </p:nvSpPr>
        <p:spPr>
          <a:xfrm>
            <a:off x="622551" y="3301767"/>
            <a:ext cx="1877247" cy="86406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a:t>Business Requirements</a:t>
            </a:r>
            <a:endParaRPr lang="en-US"/>
          </a:p>
        </p:txBody>
      </p:sp>
      <p:sp>
        <p:nvSpPr>
          <p:cNvPr id="6" name="Rectangle: Rounded Corners 5">
            <a:extLst>
              <a:ext uri="{FF2B5EF4-FFF2-40B4-BE49-F238E27FC236}">
                <a16:creationId xmlns:a16="http://schemas.microsoft.com/office/drawing/2014/main" id="{9E346BDA-2C1C-013F-1A1D-B59435424E56}"/>
              </a:ext>
            </a:extLst>
          </p:cNvPr>
          <p:cNvSpPr/>
          <p:nvPr/>
        </p:nvSpPr>
        <p:spPr>
          <a:xfrm>
            <a:off x="3758386" y="3301767"/>
            <a:ext cx="1877247" cy="86406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a:t>Technical Requirements</a:t>
            </a:r>
            <a:endParaRPr lang="en-US"/>
          </a:p>
        </p:txBody>
      </p:sp>
      <p:sp>
        <p:nvSpPr>
          <p:cNvPr id="9" name="Rectangle: Rounded Corners 8">
            <a:extLst>
              <a:ext uri="{FF2B5EF4-FFF2-40B4-BE49-F238E27FC236}">
                <a16:creationId xmlns:a16="http://schemas.microsoft.com/office/drawing/2014/main" id="{C72FCD98-72AF-6929-FECE-D0DFD76DC30F}"/>
              </a:ext>
            </a:extLst>
          </p:cNvPr>
          <p:cNvSpPr/>
          <p:nvPr/>
        </p:nvSpPr>
        <p:spPr>
          <a:xfrm>
            <a:off x="6842322" y="3301767"/>
            <a:ext cx="1877247" cy="86406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a:t>SQL Query</a:t>
            </a:r>
            <a:endParaRPr lang="en-US"/>
          </a:p>
        </p:txBody>
      </p:sp>
      <p:sp>
        <p:nvSpPr>
          <p:cNvPr id="10" name="Arrow: Right 9">
            <a:extLst>
              <a:ext uri="{FF2B5EF4-FFF2-40B4-BE49-F238E27FC236}">
                <a16:creationId xmlns:a16="http://schemas.microsoft.com/office/drawing/2014/main" id="{5ABFB4F2-0668-DF14-26CB-9251646A89AE}"/>
              </a:ext>
            </a:extLst>
          </p:cNvPr>
          <p:cNvSpPr/>
          <p:nvPr/>
        </p:nvSpPr>
        <p:spPr>
          <a:xfrm>
            <a:off x="2750820" y="3733800"/>
            <a:ext cx="822960" cy="17221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Arrow: Right 10">
            <a:extLst>
              <a:ext uri="{FF2B5EF4-FFF2-40B4-BE49-F238E27FC236}">
                <a16:creationId xmlns:a16="http://schemas.microsoft.com/office/drawing/2014/main" id="{F4D86804-642F-B17A-4F8E-816F0ED42C88}"/>
              </a:ext>
            </a:extLst>
          </p:cNvPr>
          <p:cNvSpPr/>
          <p:nvPr/>
        </p:nvSpPr>
        <p:spPr>
          <a:xfrm>
            <a:off x="5827497" y="3647694"/>
            <a:ext cx="822960" cy="17221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Rounded Corners 11">
            <a:extLst>
              <a:ext uri="{FF2B5EF4-FFF2-40B4-BE49-F238E27FC236}">
                <a16:creationId xmlns:a16="http://schemas.microsoft.com/office/drawing/2014/main" id="{414B426B-F3DC-915A-D1C3-2F29082E8C11}"/>
              </a:ext>
            </a:extLst>
          </p:cNvPr>
          <p:cNvSpPr/>
          <p:nvPr/>
        </p:nvSpPr>
        <p:spPr>
          <a:xfrm>
            <a:off x="9806502" y="3307080"/>
            <a:ext cx="1877247" cy="86406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a:t>Deliver Result</a:t>
            </a:r>
            <a:endParaRPr lang="en-US"/>
          </a:p>
        </p:txBody>
      </p:sp>
      <p:sp>
        <p:nvSpPr>
          <p:cNvPr id="13" name="Arrow: Right 12">
            <a:extLst>
              <a:ext uri="{FF2B5EF4-FFF2-40B4-BE49-F238E27FC236}">
                <a16:creationId xmlns:a16="http://schemas.microsoft.com/office/drawing/2014/main" id="{035B0035-4CBC-F4F4-FDD6-D5652538715C}"/>
              </a:ext>
            </a:extLst>
          </p:cNvPr>
          <p:cNvSpPr/>
          <p:nvPr/>
        </p:nvSpPr>
        <p:spPr>
          <a:xfrm>
            <a:off x="8851555" y="3647694"/>
            <a:ext cx="822960" cy="17221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Rounded Corners 13">
            <a:extLst>
              <a:ext uri="{FF2B5EF4-FFF2-40B4-BE49-F238E27FC236}">
                <a16:creationId xmlns:a16="http://schemas.microsoft.com/office/drawing/2014/main" id="{FBA56F3A-B02B-C172-4E08-4DA1E2A5E21D}"/>
              </a:ext>
            </a:extLst>
          </p:cNvPr>
          <p:cNvSpPr/>
          <p:nvPr/>
        </p:nvSpPr>
        <p:spPr>
          <a:xfrm>
            <a:off x="1391694" y="4757014"/>
            <a:ext cx="2816272" cy="86406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a:t>Communication skills: Understand Business Language</a:t>
            </a:r>
            <a:endParaRPr lang="en-US"/>
          </a:p>
        </p:txBody>
      </p:sp>
      <p:sp>
        <p:nvSpPr>
          <p:cNvPr id="15" name="Rectangle: Rounded Corners 14">
            <a:extLst>
              <a:ext uri="{FF2B5EF4-FFF2-40B4-BE49-F238E27FC236}">
                <a16:creationId xmlns:a16="http://schemas.microsoft.com/office/drawing/2014/main" id="{7AA44AA8-71D2-5776-5A50-32655CA06796}"/>
              </a:ext>
            </a:extLst>
          </p:cNvPr>
          <p:cNvSpPr/>
          <p:nvPr/>
        </p:nvSpPr>
        <p:spPr>
          <a:xfrm>
            <a:off x="8466063" y="4757014"/>
            <a:ext cx="2416904" cy="86406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a:t>Communication skill:</a:t>
            </a:r>
            <a:br>
              <a:rPr lang="en-CA"/>
            </a:br>
            <a:r>
              <a:rPr lang="en-CA"/>
              <a:t>explain technical terms to business terms</a:t>
            </a:r>
            <a:endParaRPr lang="en-US"/>
          </a:p>
        </p:txBody>
      </p:sp>
    </p:spTree>
    <p:extLst>
      <p:ext uri="{BB962C8B-B14F-4D97-AF65-F5344CB8AC3E}">
        <p14:creationId xmlns:p14="http://schemas.microsoft.com/office/powerpoint/2010/main" val="24685799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7285A8-6EB4-44C6-9ACB-4CC45D21736D}"/>
              </a:ext>
            </a:extLst>
          </p:cNvPr>
          <p:cNvSpPr>
            <a:spLocks noGrp="1"/>
          </p:cNvSpPr>
          <p:nvPr>
            <p:ph type="ctrTitle"/>
          </p:nvPr>
        </p:nvSpPr>
        <p:spPr>
          <a:xfrm>
            <a:off x="2175507" y="933514"/>
            <a:ext cx="8791575" cy="757238"/>
          </a:xfrm>
        </p:spPr>
        <p:txBody>
          <a:bodyPr/>
          <a:lstStyle/>
          <a:p>
            <a:pPr algn="ctr"/>
            <a:r>
              <a:rPr lang="en-US"/>
              <a:t>SQL FOR DATA ANALYSIS </a:t>
            </a:r>
          </a:p>
        </p:txBody>
      </p:sp>
      <p:grpSp>
        <p:nvGrpSpPr>
          <p:cNvPr id="7" name="Group 6">
            <a:extLst>
              <a:ext uri="{FF2B5EF4-FFF2-40B4-BE49-F238E27FC236}">
                <a16:creationId xmlns:a16="http://schemas.microsoft.com/office/drawing/2014/main" id="{9F42495C-1897-7F26-81A8-AF5D4CBB71E2}"/>
              </a:ext>
            </a:extLst>
          </p:cNvPr>
          <p:cNvGrpSpPr/>
          <p:nvPr/>
        </p:nvGrpSpPr>
        <p:grpSpPr>
          <a:xfrm>
            <a:off x="3678556" y="1993294"/>
            <a:ext cx="4581524" cy="3862469"/>
            <a:chOff x="3678556" y="1847244"/>
            <a:chExt cx="4581524" cy="3862469"/>
          </a:xfrm>
        </p:grpSpPr>
        <p:pic>
          <p:nvPicPr>
            <p:cNvPr id="4" name="Picture 3">
              <a:extLst>
                <a:ext uri="{FF2B5EF4-FFF2-40B4-BE49-F238E27FC236}">
                  <a16:creationId xmlns:a16="http://schemas.microsoft.com/office/drawing/2014/main" id="{7D150801-6409-5E96-B163-AA46FABF26D5}"/>
                </a:ext>
              </a:extLst>
            </p:cNvPr>
            <p:cNvPicPr>
              <a:picLocks noChangeAspect="1"/>
            </p:cNvPicPr>
            <p:nvPr/>
          </p:nvPicPr>
          <p:blipFill>
            <a:blip r:embed="rId2"/>
            <a:stretch>
              <a:fillRect/>
            </a:stretch>
          </p:blipFill>
          <p:spPr>
            <a:xfrm>
              <a:off x="3678556" y="1847244"/>
              <a:ext cx="4581524" cy="3862469"/>
            </a:xfrm>
            <a:prstGeom prst="rect">
              <a:avLst/>
            </a:prstGeom>
          </p:spPr>
        </p:pic>
        <p:sp>
          <p:nvSpPr>
            <p:cNvPr id="5" name="Rectangle 4">
              <a:extLst>
                <a:ext uri="{FF2B5EF4-FFF2-40B4-BE49-F238E27FC236}">
                  <a16:creationId xmlns:a16="http://schemas.microsoft.com/office/drawing/2014/main" id="{A4339013-A468-B423-B851-91262D9FD1F0}"/>
                </a:ext>
              </a:extLst>
            </p:cNvPr>
            <p:cNvSpPr/>
            <p:nvPr/>
          </p:nvSpPr>
          <p:spPr>
            <a:xfrm>
              <a:off x="3840480" y="5280660"/>
              <a:ext cx="449580" cy="28194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6308753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7285A8-6EB4-44C6-9ACB-4CC45D21736D}"/>
              </a:ext>
            </a:extLst>
          </p:cNvPr>
          <p:cNvSpPr>
            <a:spLocks noGrp="1"/>
          </p:cNvSpPr>
          <p:nvPr>
            <p:ph type="ctrTitle"/>
          </p:nvPr>
        </p:nvSpPr>
        <p:spPr>
          <a:xfrm>
            <a:off x="1700212" y="411061"/>
            <a:ext cx="8791575" cy="1186212"/>
          </a:xfrm>
        </p:spPr>
        <p:txBody>
          <a:bodyPr/>
          <a:lstStyle/>
          <a:p>
            <a:pPr algn="ctr"/>
            <a:r>
              <a:rPr lang="en-US"/>
              <a:t>SQL FOR DATA ANALYSIS </a:t>
            </a:r>
          </a:p>
        </p:txBody>
      </p:sp>
      <p:sp>
        <p:nvSpPr>
          <p:cNvPr id="3" name="Subtitle 2">
            <a:extLst>
              <a:ext uri="{FF2B5EF4-FFF2-40B4-BE49-F238E27FC236}">
                <a16:creationId xmlns:a16="http://schemas.microsoft.com/office/drawing/2014/main" id="{F732812B-5517-445B-B80B-C63947CC015B}"/>
              </a:ext>
            </a:extLst>
          </p:cNvPr>
          <p:cNvSpPr>
            <a:spLocks noGrp="1"/>
          </p:cNvSpPr>
          <p:nvPr>
            <p:ph type="subTitle" idx="1"/>
          </p:nvPr>
        </p:nvSpPr>
        <p:spPr>
          <a:xfrm>
            <a:off x="1826045" y="1909409"/>
            <a:ext cx="8791575" cy="564939"/>
          </a:xfrm>
        </p:spPr>
        <p:txBody>
          <a:bodyPr>
            <a:normAutofit/>
          </a:bodyPr>
          <a:lstStyle/>
          <a:p>
            <a:pPr algn="ctr"/>
            <a:r>
              <a:rPr lang="en-US">
                <a:solidFill>
                  <a:srgbClr val="FFC000"/>
                </a:solidFill>
              </a:rPr>
              <a:t>SELECT</a:t>
            </a:r>
            <a:r>
              <a:rPr lang="en-US">
                <a:solidFill>
                  <a:schemeClr val="tx1"/>
                </a:solidFill>
              </a:rPr>
              <a:t> Statement Practice</a:t>
            </a:r>
          </a:p>
        </p:txBody>
      </p:sp>
      <p:sp>
        <p:nvSpPr>
          <p:cNvPr id="7" name="TextBox 6">
            <a:extLst>
              <a:ext uri="{FF2B5EF4-FFF2-40B4-BE49-F238E27FC236}">
                <a16:creationId xmlns:a16="http://schemas.microsoft.com/office/drawing/2014/main" id="{72570249-31AB-4491-AEF6-842357FCE7AE}"/>
              </a:ext>
            </a:extLst>
          </p:cNvPr>
          <p:cNvSpPr txBox="1"/>
          <p:nvPr/>
        </p:nvSpPr>
        <p:spPr>
          <a:xfrm>
            <a:off x="2095389" y="2611224"/>
            <a:ext cx="9051582" cy="3109569"/>
          </a:xfrm>
          <a:prstGeom prst="rect">
            <a:avLst/>
          </a:prstGeom>
          <a:noFill/>
        </p:spPr>
        <p:txBody>
          <a:bodyPr wrap="square">
            <a:spAutoFit/>
          </a:bodyPr>
          <a:lstStyle/>
          <a:p>
            <a:pPr marL="171450" indent="-171450">
              <a:lnSpc>
                <a:spcPct val="150000"/>
              </a:lnSpc>
              <a:buFont typeface="Arial" panose="020B0604020202020204" pitchFamily="34" charset="0"/>
              <a:buChar char="•"/>
            </a:pPr>
            <a:r>
              <a:rPr lang="en-US" sz="1200"/>
              <a:t>1) Retrieve all rows from the </a:t>
            </a:r>
            <a:r>
              <a:rPr lang="en-US" sz="1200" err="1"/>
              <a:t>HumanResources.Employee</a:t>
            </a:r>
            <a:r>
              <a:rPr lang="en-US" sz="1200"/>
              <a:t> table. Return only the </a:t>
            </a:r>
            <a:r>
              <a:rPr lang="en-US" sz="1200" err="1"/>
              <a:t>NationalIDNumber</a:t>
            </a:r>
            <a:r>
              <a:rPr lang="en-US" sz="1200"/>
              <a:t> column. </a:t>
            </a:r>
          </a:p>
          <a:p>
            <a:pPr marL="171450" indent="-171450">
              <a:lnSpc>
                <a:spcPct val="150000"/>
              </a:lnSpc>
              <a:buFont typeface="Arial" panose="020B0604020202020204" pitchFamily="34" charset="0"/>
              <a:buChar char="•"/>
            </a:pPr>
            <a:r>
              <a:rPr lang="en-US" sz="1200"/>
              <a:t>2) Retrieve all rows from the </a:t>
            </a:r>
            <a:r>
              <a:rPr lang="en-US" sz="1200" err="1"/>
              <a:t>HumanResources.Employee</a:t>
            </a:r>
            <a:r>
              <a:rPr lang="en-US" sz="1200"/>
              <a:t> table. Return the </a:t>
            </a:r>
            <a:r>
              <a:rPr lang="en-US" sz="1200" err="1"/>
              <a:t>NationalIDNumber</a:t>
            </a:r>
            <a:r>
              <a:rPr lang="en-US" sz="1200"/>
              <a:t> and </a:t>
            </a:r>
            <a:r>
              <a:rPr lang="en-US" sz="1200" err="1"/>
              <a:t>JobTitle</a:t>
            </a:r>
            <a:r>
              <a:rPr lang="en-US" sz="1200"/>
              <a:t> columns. </a:t>
            </a:r>
          </a:p>
          <a:p>
            <a:pPr marL="171450" indent="-171450">
              <a:lnSpc>
                <a:spcPct val="150000"/>
              </a:lnSpc>
              <a:buFont typeface="Arial" panose="020B0604020202020204" pitchFamily="34" charset="0"/>
              <a:buChar char="•"/>
            </a:pPr>
            <a:r>
              <a:rPr lang="en-US" sz="1200"/>
              <a:t>3) Retrieve the top 10 percent of rows from the </a:t>
            </a:r>
            <a:r>
              <a:rPr lang="en-US" sz="1200" err="1"/>
              <a:t>HumanResources.Employee</a:t>
            </a:r>
            <a:r>
              <a:rPr lang="en-US" sz="1200"/>
              <a:t> table. Return the </a:t>
            </a:r>
            <a:r>
              <a:rPr lang="en-US" sz="1200" err="1"/>
              <a:t>NationalIDNumber</a:t>
            </a:r>
            <a:r>
              <a:rPr lang="en-US" sz="1200"/>
              <a:t>, </a:t>
            </a:r>
            <a:r>
              <a:rPr lang="en-US" sz="1200" err="1"/>
              <a:t>JobTitle</a:t>
            </a:r>
            <a:r>
              <a:rPr lang="en-US" sz="1200"/>
              <a:t> and </a:t>
            </a:r>
            <a:r>
              <a:rPr lang="en-US" sz="1200" err="1"/>
              <a:t>BirthDate</a:t>
            </a:r>
            <a:r>
              <a:rPr lang="en-US" sz="1200"/>
              <a:t> columns. </a:t>
            </a:r>
          </a:p>
          <a:p>
            <a:pPr marL="171450" indent="-171450">
              <a:lnSpc>
                <a:spcPct val="150000"/>
              </a:lnSpc>
              <a:buFont typeface="Arial" panose="020B0604020202020204" pitchFamily="34" charset="0"/>
              <a:buChar char="•"/>
            </a:pPr>
            <a:r>
              <a:rPr lang="en-US" sz="1200"/>
              <a:t>4) Retrieve the top 100 rows from the </a:t>
            </a:r>
            <a:r>
              <a:rPr lang="en-US" sz="1200" err="1"/>
              <a:t>HumanResources.Employee</a:t>
            </a:r>
            <a:r>
              <a:rPr lang="en-US" sz="1200"/>
              <a:t> table. Return the </a:t>
            </a:r>
            <a:r>
              <a:rPr lang="en-US" sz="1200" err="1"/>
              <a:t>NationalIDNumber</a:t>
            </a:r>
            <a:r>
              <a:rPr lang="en-US" sz="1200"/>
              <a:t>, </a:t>
            </a:r>
            <a:r>
              <a:rPr lang="en-US" sz="1200" err="1"/>
              <a:t>JobTitle</a:t>
            </a:r>
            <a:r>
              <a:rPr lang="en-US" sz="1200"/>
              <a:t> and </a:t>
            </a:r>
            <a:r>
              <a:rPr lang="en-US" sz="1200" err="1"/>
              <a:t>BirthDate</a:t>
            </a:r>
            <a:r>
              <a:rPr lang="en-US" sz="1200"/>
              <a:t> columns. Give the </a:t>
            </a:r>
            <a:r>
              <a:rPr lang="en-US" sz="1200" err="1"/>
              <a:t>NationalIDNumber</a:t>
            </a:r>
            <a:r>
              <a:rPr lang="en-US" sz="1200"/>
              <a:t> column an alias, “SSN”, and the </a:t>
            </a:r>
            <a:r>
              <a:rPr lang="en-US" sz="1200" err="1"/>
              <a:t>JobTitle</a:t>
            </a:r>
            <a:r>
              <a:rPr lang="en-US" sz="1200"/>
              <a:t> column an alias, “Job Title”. </a:t>
            </a:r>
          </a:p>
          <a:p>
            <a:pPr marL="171450" indent="-171450">
              <a:lnSpc>
                <a:spcPct val="150000"/>
              </a:lnSpc>
              <a:buFont typeface="Arial" panose="020B0604020202020204" pitchFamily="34" charset="0"/>
              <a:buChar char="•"/>
            </a:pPr>
            <a:r>
              <a:rPr lang="en-US" sz="1200"/>
              <a:t>5) Return all rows and all columns from the </a:t>
            </a:r>
            <a:r>
              <a:rPr lang="en-US" sz="1200" err="1"/>
              <a:t>Sales.SalesOrderHeader</a:t>
            </a:r>
            <a:r>
              <a:rPr lang="en-US" sz="1200"/>
              <a:t> table. </a:t>
            </a:r>
          </a:p>
          <a:p>
            <a:pPr marL="171450" indent="-171450">
              <a:lnSpc>
                <a:spcPct val="150000"/>
              </a:lnSpc>
              <a:buFont typeface="Arial" panose="020B0604020202020204" pitchFamily="34" charset="0"/>
              <a:buChar char="•"/>
            </a:pPr>
            <a:r>
              <a:rPr lang="en-US" sz="1200"/>
              <a:t>6) Return the top 50 percent of rows and all columns from the </a:t>
            </a:r>
            <a:r>
              <a:rPr lang="en-US" sz="1200" err="1"/>
              <a:t>Sales.Customer</a:t>
            </a:r>
            <a:r>
              <a:rPr lang="en-US" sz="1200"/>
              <a:t> table. </a:t>
            </a:r>
          </a:p>
          <a:p>
            <a:pPr marL="171450" indent="-171450">
              <a:lnSpc>
                <a:spcPct val="150000"/>
              </a:lnSpc>
              <a:buFont typeface="Arial" panose="020B0604020202020204" pitchFamily="34" charset="0"/>
              <a:buChar char="•"/>
            </a:pPr>
            <a:r>
              <a:rPr lang="en-US" sz="1200"/>
              <a:t>7) Return the Name column from the </a:t>
            </a:r>
            <a:r>
              <a:rPr lang="en-US" sz="1200" err="1"/>
              <a:t>Production.vProductAndDescription</a:t>
            </a:r>
            <a:r>
              <a:rPr lang="en-US" sz="1200"/>
              <a:t> view. Give this column an alias “Product’s Name”. </a:t>
            </a:r>
          </a:p>
          <a:p>
            <a:pPr marL="171450" indent="-171450">
              <a:lnSpc>
                <a:spcPct val="150000"/>
              </a:lnSpc>
              <a:buFont typeface="Arial" panose="020B0604020202020204" pitchFamily="34" charset="0"/>
              <a:buChar char="•"/>
            </a:pPr>
            <a:r>
              <a:rPr lang="en-US" sz="1200"/>
              <a:t>8) Return the top 400 rows from </a:t>
            </a:r>
            <a:r>
              <a:rPr lang="en-US" sz="1200" err="1"/>
              <a:t>HumanResources.Department</a:t>
            </a:r>
            <a:r>
              <a:rPr lang="en-US" sz="1200"/>
              <a:t> </a:t>
            </a:r>
          </a:p>
          <a:p>
            <a:pPr marL="171450" indent="-171450">
              <a:lnSpc>
                <a:spcPct val="150000"/>
              </a:lnSpc>
              <a:buFont typeface="Arial" panose="020B0604020202020204" pitchFamily="34" charset="0"/>
              <a:buChar char="•"/>
            </a:pPr>
            <a:r>
              <a:rPr lang="en-US" sz="1200"/>
              <a:t>9) Return all rows and columns from the table named </a:t>
            </a:r>
            <a:r>
              <a:rPr lang="en-US" sz="1200" err="1"/>
              <a:t>Production.BillOfMaterials</a:t>
            </a:r>
            <a:r>
              <a:rPr lang="en-US" sz="1200"/>
              <a:t> </a:t>
            </a:r>
          </a:p>
          <a:p>
            <a:pPr marL="171450" indent="-171450">
              <a:lnSpc>
                <a:spcPct val="150000"/>
              </a:lnSpc>
              <a:buFont typeface="Arial" panose="020B0604020202020204" pitchFamily="34" charset="0"/>
              <a:buChar char="•"/>
            </a:pPr>
            <a:r>
              <a:rPr lang="en-US" sz="1200"/>
              <a:t>10) Return the top 1500 rows and columns from the view named </a:t>
            </a:r>
            <a:r>
              <a:rPr lang="en-US" sz="1200" err="1"/>
              <a:t>Sales.vPersonDemographics</a:t>
            </a:r>
            <a:endParaRPr lang="en-US" sz="1200"/>
          </a:p>
        </p:txBody>
      </p:sp>
    </p:spTree>
    <p:extLst>
      <p:ext uri="{BB962C8B-B14F-4D97-AF65-F5344CB8AC3E}">
        <p14:creationId xmlns:p14="http://schemas.microsoft.com/office/powerpoint/2010/main" val="10360061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7285A8-6EB4-44C6-9ACB-4CC45D21736D}"/>
              </a:ext>
            </a:extLst>
          </p:cNvPr>
          <p:cNvSpPr>
            <a:spLocks noGrp="1"/>
          </p:cNvSpPr>
          <p:nvPr>
            <p:ph type="ctrTitle"/>
          </p:nvPr>
        </p:nvSpPr>
        <p:spPr>
          <a:xfrm>
            <a:off x="1700212" y="411061"/>
            <a:ext cx="8791575" cy="1186212"/>
          </a:xfrm>
        </p:spPr>
        <p:txBody>
          <a:bodyPr/>
          <a:lstStyle/>
          <a:p>
            <a:pPr algn="ctr"/>
            <a:r>
              <a:rPr lang="en-US"/>
              <a:t>SQL FOR DATA ANALYSIS </a:t>
            </a:r>
          </a:p>
        </p:txBody>
      </p:sp>
      <p:sp>
        <p:nvSpPr>
          <p:cNvPr id="3" name="Subtitle 2">
            <a:extLst>
              <a:ext uri="{FF2B5EF4-FFF2-40B4-BE49-F238E27FC236}">
                <a16:creationId xmlns:a16="http://schemas.microsoft.com/office/drawing/2014/main" id="{F732812B-5517-445B-B80B-C63947CC015B}"/>
              </a:ext>
            </a:extLst>
          </p:cNvPr>
          <p:cNvSpPr>
            <a:spLocks noGrp="1"/>
          </p:cNvSpPr>
          <p:nvPr>
            <p:ph type="subTitle" idx="1"/>
          </p:nvPr>
        </p:nvSpPr>
        <p:spPr>
          <a:xfrm>
            <a:off x="1826046" y="2292586"/>
            <a:ext cx="8791575" cy="564939"/>
          </a:xfrm>
        </p:spPr>
        <p:txBody>
          <a:bodyPr>
            <a:normAutofit/>
          </a:bodyPr>
          <a:lstStyle/>
          <a:p>
            <a:pPr algn="ctr"/>
            <a:r>
              <a:rPr lang="en-US">
                <a:solidFill>
                  <a:srgbClr val="FFC000"/>
                </a:solidFill>
              </a:rPr>
              <a:t>SELECT</a:t>
            </a:r>
            <a:r>
              <a:rPr lang="en-US">
                <a:solidFill>
                  <a:schemeClr val="tx1"/>
                </a:solidFill>
              </a:rPr>
              <a:t> Statement Practice</a:t>
            </a:r>
          </a:p>
        </p:txBody>
      </p:sp>
      <p:sp>
        <p:nvSpPr>
          <p:cNvPr id="6" name="TextBox 5">
            <a:extLst>
              <a:ext uri="{FF2B5EF4-FFF2-40B4-BE49-F238E27FC236}">
                <a16:creationId xmlns:a16="http://schemas.microsoft.com/office/drawing/2014/main" id="{92BB8542-0453-4BA3-9CD2-95838244AA45}"/>
              </a:ext>
            </a:extLst>
          </p:cNvPr>
          <p:cNvSpPr txBox="1"/>
          <p:nvPr/>
        </p:nvSpPr>
        <p:spPr>
          <a:xfrm>
            <a:off x="2211976" y="3136199"/>
            <a:ext cx="9379132" cy="2246769"/>
          </a:xfrm>
          <a:prstGeom prst="rect">
            <a:avLst/>
          </a:prstGeom>
          <a:noFill/>
        </p:spPr>
        <p:txBody>
          <a:bodyPr wrap="square" rtlCol="0">
            <a:spAutoFit/>
          </a:bodyPr>
          <a:lstStyle/>
          <a:p>
            <a:pPr marL="285750" indent="-285750">
              <a:buFont typeface="Arial" panose="020B0604020202020204" pitchFamily="34" charset="0"/>
              <a:buChar char="•"/>
            </a:pPr>
            <a:r>
              <a:rPr lang="en-US" sz="1400"/>
              <a:t>Question 1: SELECT </a:t>
            </a:r>
            <a:r>
              <a:rPr lang="en-US" sz="1400" err="1"/>
              <a:t>NationalIDNumber</a:t>
            </a:r>
            <a:r>
              <a:rPr lang="en-US" sz="1400"/>
              <a:t> FROM </a:t>
            </a:r>
            <a:r>
              <a:rPr lang="en-US" sz="1400" err="1"/>
              <a:t>HumanResources.Employee</a:t>
            </a:r>
            <a:r>
              <a:rPr lang="en-US" sz="1400"/>
              <a:t> </a:t>
            </a:r>
          </a:p>
          <a:p>
            <a:pPr marL="285750" indent="-285750">
              <a:buFont typeface="Arial" panose="020B0604020202020204" pitchFamily="34" charset="0"/>
              <a:buChar char="•"/>
            </a:pPr>
            <a:r>
              <a:rPr lang="en-US" sz="1400"/>
              <a:t>Question 2: SELECT </a:t>
            </a:r>
            <a:r>
              <a:rPr lang="en-US" sz="1400" err="1"/>
              <a:t>NationalIDNumber</a:t>
            </a:r>
            <a:r>
              <a:rPr lang="en-US" sz="1400"/>
              <a:t>, </a:t>
            </a:r>
            <a:r>
              <a:rPr lang="en-US" sz="1400" err="1"/>
              <a:t>JobTitle</a:t>
            </a:r>
            <a:r>
              <a:rPr lang="en-US" sz="1400"/>
              <a:t> FROM </a:t>
            </a:r>
            <a:r>
              <a:rPr lang="en-US" sz="1400" err="1"/>
              <a:t>HumanResources.Employee</a:t>
            </a:r>
            <a:r>
              <a:rPr lang="en-US" sz="1400"/>
              <a:t> </a:t>
            </a:r>
          </a:p>
          <a:p>
            <a:pPr marL="285750" indent="-285750">
              <a:buFont typeface="Arial" panose="020B0604020202020204" pitchFamily="34" charset="0"/>
              <a:buChar char="•"/>
            </a:pPr>
            <a:r>
              <a:rPr lang="en-US" sz="1400"/>
              <a:t>Question 3: SELECT TOP 10 PERCENT </a:t>
            </a:r>
            <a:r>
              <a:rPr lang="en-US" sz="1400" err="1"/>
              <a:t>NationalIDNumber</a:t>
            </a:r>
            <a:r>
              <a:rPr lang="en-US" sz="1400"/>
              <a:t>, </a:t>
            </a:r>
            <a:r>
              <a:rPr lang="en-US" sz="1400" err="1"/>
              <a:t>JobTitle</a:t>
            </a:r>
            <a:r>
              <a:rPr lang="en-US" sz="1400"/>
              <a:t>, </a:t>
            </a:r>
            <a:r>
              <a:rPr lang="en-US" sz="1400" err="1"/>
              <a:t>BirthDate</a:t>
            </a:r>
            <a:r>
              <a:rPr lang="en-US" sz="1400"/>
              <a:t> FROM </a:t>
            </a:r>
            <a:r>
              <a:rPr lang="en-US" sz="1400" err="1"/>
              <a:t>HumanResources.Employee</a:t>
            </a:r>
            <a:r>
              <a:rPr lang="en-US" sz="1400"/>
              <a:t> </a:t>
            </a:r>
          </a:p>
          <a:p>
            <a:pPr marL="285750" indent="-285750">
              <a:buFont typeface="Arial" panose="020B0604020202020204" pitchFamily="34" charset="0"/>
              <a:buChar char="•"/>
            </a:pPr>
            <a:r>
              <a:rPr lang="en-US" sz="1400"/>
              <a:t>Question 4: SELECT TOP 100 </a:t>
            </a:r>
            <a:r>
              <a:rPr lang="en-US" sz="1400" err="1"/>
              <a:t>NationalIDNumber</a:t>
            </a:r>
            <a:r>
              <a:rPr lang="en-US" sz="1400"/>
              <a:t> AS SSN, </a:t>
            </a:r>
            <a:r>
              <a:rPr lang="en-US" sz="1400" err="1"/>
              <a:t>JobTitle</a:t>
            </a:r>
            <a:r>
              <a:rPr lang="en-US" sz="1400"/>
              <a:t> AS [Job Title], </a:t>
            </a:r>
            <a:r>
              <a:rPr lang="en-US" sz="1400" err="1"/>
              <a:t>BirthDate</a:t>
            </a:r>
            <a:r>
              <a:rPr lang="en-US" sz="1400"/>
              <a:t> FROM </a:t>
            </a:r>
            <a:r>
              <a:rPr lang="en-US" sz="1400" err="1"/>
              <a:t>HumanResources.Employee</a:t>
            </a:r>
            <a:r>
              <a:rPr lang="en-US" sz="1400"/>
              <a:t> </a:t>
            </a:r>
          </a:p>
          <a:p>
            <a:pPr marL="285750" indent="-285750">
              <a:buFont typeface="Arial" panose="020B0604020202020204" pitchFamily="34" charset="0"/>
              <a:buChar char="•"/>
            </a:pPr>
            <a:r>
              <a:rPr lang="en-US" sz="1400"/>
              <a:t>Question 5: SELECT * FROM </a:t>
            </a:r>
            <a:r>
              <a:rPr lang="en-US" sz="1400" err="1"/>
              <a:t>Sales.SalesOrderHeader</a:t>
            </a:r>
            <a:endParaRPr lang="en-US" sz="1400"/>
          </a:p>
          <a:p>
            <a:pPr marL="285750" indent="-285750">
              <a:buFont typeface="Arial" panose="020B0604020202020204" pitchFamily="34" charset="0"/>
              <a:buChar char="•"/>
            </a:pPr>
            <a:r>
              <a:rPr lang="en-US" sz="1400"/>
              <a:t>Question 6: SELECT TOP 50 PERCENT * FROM </a:t>
            </a:r>
            <a:r>
              <a:rPr lang="en-US" sz="1400" err="1"/>
              <a:t>Sales.Customer</a:t>
            </a:r>
            <a:r>
              <a:rPr lang="en-US" sz="1400"/>
              <a:t> </a:t>
            </a:r>
          </a:p>
          <a:p>
            <a:pPr marL="285750" indent="-285750">
              <a:buFont typeface="Arial" panose="020B0604020202020204" pitchFamily="34" charset="0"/>
              <a:buChar char="•"/>
            </a:pPr>
            <a:r>
              <a:rPr lang="en-US" sz="1400"/>
              <a:t>Question 7: SELECT Name AS [Product's Name] FROM </a:t>
            </a:r>
            <a:r>
              <a:rPr lang="en-US" sz="1400" err="1"/>
              <a:t>Production.vProductAndDescription</a:t>
            </a:r>
            <a:r>
              <a:rPr lang="en-US" sz="1400"/>
              <a:t> </a:t>
            </a:r>
          </a:p>
          <a:p>
            <a:pPr marL="285750" indent="-285750">
              <a:buFont typeface="Arial" panose="020B0604020202020204" pitchFamily="34" charset="0"/>
              <a:buChar char="•"/>
            </a:pPr>
            <a:r>
              <a:rPr lang="en-US" sz="1400"/>
              <a:t>Question 8: SELECT TOP 400 * FROM </a:t>
            </a:r>
            <a:r>
              <a:rPr lang="en-US" sz="1400" err="1"/>
              <a:t>HumanResources.Department</a:t>
            </a:r>
            <a:r>
              <a:rPr lang="en-US" sz="1400"/>
              <a:t> </a:t>
            </a:r>
          </a:p>
          <a:p>
            <a:pPr marL="285750" indent="-285750">
              <a:buFont typeface="Arial" panose="020B0604020202020204" pitchFamily="34" charset="0"/>
              <a:buChar char="•"/>
            </a:pPr>
            <a:r>
              <a:rPr lang="en-US" sz="1400"/>
              <a:t>Question 9: SELECT * FROM </a:t>
            </a:r>
            <a:r>
              <a:rPr lang="en-US" sz="1400" err="1"/>
              <a:t>Production.BillOfMaterials</a:t>
            </a:r>
            <a:r>
              <a:rPr lang="en-US" sz="1400"/>
              <a:t> </a:t>
            </a:r>
          </a:p>
          <a:p>
            <a:pPr marL="285750" indent="-285750">
              <a:buFont typeface="Arial" panose="020B0604020202020204" pitchFamily="34" charset="0"/>
              <a:buChar char="•"/>
            </a:pPr>
            <a:r>
              <a:rPr lang="en-US" sz="1400"/>
              <a:t>Question 10: SELECT TOP 1500 * FROM </a:t>
            </a:r>
            <a:r>
              <a:rPr lang="en-US" sz="1400" err="1"/>
              <a:t>Sales.vPersonDemographics</a:t>
            </a:r>
            <a:endParaRPr lang="en-US" sz="1400"/>
          </a:p>
        </p:txBody>
      </p:sp>
    </p:spTree>
    <p:extLst>
      <p:ext uri="{BB962C8B-B14F-4D97-AF65-F5344CB8AC3E}">
        <p14:creationId xmlns:p14="http://schemas.microsoft.com/office/powerpoint/2010/main" val="11795886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7285A8-6EB4-44C6-9ACB-4CC45D21736D}"/>
              </a:ext>
            </a:extLst>
          </p:cNvPr>
          <p:cNvSpPr>
            <a:spLocks noGrp="1"/>
          </p:cNvSpPr>
          <p:nvPr>
            <p:ph type="ctrTitle"/>
          </p:nvPr>
        </p:nvSpPr>
        <p:spPr>
          <a:xfrm>
            <a:off x="1700212" y="411061"/>
            <a:ext cx="8791575" cy="1186212"/>
          </a:xfrm>
        </p:spPr>
        <p:txBody>
          <a:bodyPr/>
          <a:lstStyle/>
          <a:p>
            <a:pPr algn="ctr"/>
            <a:r>
              <a:rPr lang="en-US"/>
              <a:t>SQL FOR DATA ANALYSIS </a:t>
            </a:r>
          </a:p>
        </p:txBody>
      </p:sp>
      <p:sp>
        <p:nvSpPr>
          <p:cNvPr id="3" name="Subtitle 2">
            <a:extLst>
              <a:ext uri="{FF2B5EF4-FFF2-40B4-BE49-F238E27FC236}">
                <a16:creationId xmlns:a16="http://schemas.microsoft.com/office/drawing/2014/main" id="{F732812B-5517-445B-B80B-C63947CC015B}"/>
              </a:ext>
            </a:extLst>
          </p:cNvPr>
          <p:cNvSpPr>
            <a:spLocks noGrp="1"/>
          </p:cNvSpPr>
          <p:nvPr>
            <p:ph type="subTitle" idx="1"/>
          </p:nvPr>
        </p:nvSpPr>
        <p:spPr>
          <a:xfrm>
            <a:off x="1826046" y="2292586"/>
            <a:ext cx="8791575" cy="564939"/>
          </a:xfrm>
        </p:spPr>
        <p:txBody>
          <a:bodyPr>
            <a:normAutofit/>
          </a:bodyPr>
          <a:lstStyle/>
          <a:p>
            <a:pPr algn="ctr"/>
            <a:r>
              <a:rPr lang="en-US">
                <a:solidFill>
                  <a:srgbClr val="FFC000"/>
                </a:solidFill>
              </a:rPr>
              <a:t>SELECT</a:t>
            </a:r>
            <a:r>
              <a:rPr lang="en-US">
                <a:solidFill>
                  <a:schemeClr val="tx1"/>
                </a:solidFill>
              </a:rPr>
              <a:t> Statement Practice</a:t>
            </a:r>
          </a:p>
        </p:txBody>
      </p:sp>
      <p:sp>
        <p:nvSpPr>
          <p:cNvPr id="6" name="TextBox 5">
            <a:extLst>
              <a:ext uri="{FF2B5EF4-FFF2-40B4-BE49-F238E27FC236}">
                <a16:creationId xmlns:a16="http://schemas.microsoft.com/office/drawing/2014/main" id="{92BB8542-0453-4BA3-9CD2-95838244AA45}"/>
              </a:ext>
            </a:extLst>
          </p:cNvPr>
          <p:cNvSpPr txBox="1"/>
          <p:nvPr/>
        </p:nvSpPr>
        <p:spPr>
          <a:xfrm>
            <a:off x="2211976" y="3136199"/>
            <a:ext cx="9379132" cy="1600438"/>
          </a:xfrm>
          <a:prstGeom prst="rect">
            <a:avLst/>
          </a:prstGeom>
          <a:noFill/>
        </p:spPr>
        <p:txBody>
          <a:bodyPr wrap="square" rtlCol="0">
            <a:spAutoFit/>
          </a:bodyPr>
          <a:lstStyle/>
          <a:p>
            <a:pPr marL="285750" indent="-285750">
              <a:buFont typeface="Arial" panose="020B0604020202020204" pitchFamily="34" charset="0"/>
              <a:buChar char="•"/>
            </a:pPr>
            <a:r>
              <a:rPr lang="en-US" sz="1400"/>
              <a:t>1) Execute a literal select statement that returns your name. </a:t>
            </a:r>
          </a:p>
          <a:p>
            <a:pPr marL="285750" indent="-285750">
              <a:buFont typeface="Arial" panose="020B0604020202020204" pitchFamily="34" charset="0"/>
              <a:buChar char="•"/>
            </a:pPr>
            <a:r>
              <a:rPr lang="en-US" sz="1400"/>
              <a:t>2) Write the literal select statement that evaluates the product of 7 and 4. </a:t>
            </a:r>
          </a:p>
          <a:p>
            <a:pPr marL="285750" indent="-285750">
              <a:buFont typeface="Arial" panose="020B0604020202020204" pitchFamily="34" charset="0"/>
              <a:buChar char="•"/>
            </a:pPr>
            <a:r>
              <a:rPr lang="en-US" sz="1400"/>
              <a:t>3) Write the literal select statement that takes the difference of 7 and 4 then multiplies that difference by 8. </a:t>
            </a:r>
          </a:p>
          <a:p>
            <a:pPr marL="285750" indent="-285750">
              <a:buFont typeface="Arial" panose="020B0604020202020204" pitchFamily="34" charset="0"/>
              <a:buChar char="•"/>
            </a:pPr>
            <a:r>
              <a:rPr lang="en-US" sz="1400"/>
              <a:t>4) Write a literal select statement that returns the phrase “BDA’s SQL Training Class”. (Hint: note the single apostrophe in the string). </a:t>
            </a:r>
          </a:p>
          <a:p>
            <a:pPr marL="285750" indent="-285750">
              <a:buFont typeface="Arial" panose="020B0604020202020204" pitchFamily="34" charset="0"/>
              <a:buChar char="•"/>
            </a:pPr>
            <a:r>
              <a:rPr lang="en-US" sz="1400"/>
              <a:t>5) Execute a literal SELECT statement that returns the phrase “Day 1 of Training” in one column and the result of 5*3 in another column.</a:t>
            </a:r>
          </a:p>
        </p:txBody>
      </p:sp>
    </p:spTree>
    <p:extLst>
      <p:ext uri="{BB962C8B-B14F-4D97-AF65-F5344CB8AC3E}">
        <p14:creationId xmlns:p14="http://schemas.microsoft.com/office/powerpoint/2010/main" val="6521959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7285A8-6EB4-44C6-9ACB-4CC45D21736D}"/>
              </a:ext>
            </a:extLst>
          </p:cNvPr>
          <p:cNvSpPr>
            <a:spLocks noGrp="1"/>
          </p:cNvSpPr>
          <p:nvPr>
            <p:ph type="ctrTitle"/>
          </p:nvPr>
        </p:nvSpPr>
        <p:spPr>
          <a:xfrm>
            <a:off x="1700212" y="411061"/>
            <a:ext cx="8791575" cy="1186212"/>
          </a:xfrm>
        </p:spPr>
        <p:txBody>
          <a:bodyPr/>
          <a:lstStyle/>
          <a:p>
            <a:pPr algn="ctr"/>
            <a:r>
              <a:rPr lang="en-US"/>
              <a:t>SQL FOR DATA ANALYSIS </a:t>
            </a:r>
          </a:p>
        </p:txBody>
      </p:sp>
      <p:sp>
        <p:nvSpPr>
          <p:cNvPr id="3" name="Subtitle 2">
            <a:extLst>
              <a:ext uri="{FF2B5EF4-FFF2-40B4-BE49-F238E27FC236}">
                <a16:creationId xmlns:a16="http://schemas.microsoft.com/office/drawing/2014/main" id="{F732812B-5517-445B-B80B-C63947CC015B}"/>
              </a:ext>
            </a:extLst>
          </p:cNvPr>
          <p:cNvSpPr>
            <a:spLocks noGrp="1"/>
          </p:cNvSpPr>
          <p:nvPr>
            <p:ph type="subTitle" idx="1"/>
          </p:nvPr>
        </p:nvSpPr>
        <p:spPr>
          <a:xfrm>
            <a:off x="1826046" y="2292586"/>
            <a:ext cx="8791575" cy="564939"/>
          </a:xfrm>
        </p:spPr>
        <p:txBody>
          <a:bodyPr>
            <a:normAutofit/>
          </a:bodyPr>
          <a:lstStyle/>
          <a:p>
            <a:pPr algn="ctr"/>
            <a:r>
              <a:rPr lang="en-US">
                <a:solidFill>
                  <a:srgbClr val="FFC000"/>
                </a:solidFill>
              </a:rPr>
              <a:t>SELECT</a:t>
            </a:r>
            <a:r>
              <a:rPr lang="en-US">
                <a:solidFill>
                  <a:schemeClr val="tx1"/>
                </a:solidFill>
              </a:rPr>
              <a:t> Statement Practice</a:t>
            </a:r>
          </a:p>
        </p:txBody>
      </p:sp>
      <p:sp>
        <p:nvSpPr>
          <p:cNvPr id="6" name="TextBox 5">
            <a:extLst>
              <a:ext uri="{FF2B5EF4-FFF2-40B4-BE49-F238E27FC236}">
                <a16:creationId xmlns:a16="http://schemas.microsoft.com/office/drawing/2014/main" id="{92BB8542-0453-4BA3-9CD2-95838244AA45}"/>
              </a:ext>
            </a:extLst>
          </p:cNvPr>
          <p:cNvSpPr txBox="1"/>
          <p:nvPr/>
        </p:nvSpPr>
        <p:spPr>
          <a:xfrm>
            <a:off x="2211976" y="3136199"/>
            <a:ext cx="9379132" cy="1169551"/>
          </a:xfrm>
          <a:prstGeom prst="rect">
            <a:avLst/>
          </a:prstGeom>
          <a:noFill/>
        </p:spPr>
        <p:txBody>
          <a:bodyPr wrap="square" rtlCol="0">
            <a:spAutoFit/>
          </a:bodyPr>
          <a:lstStyle/>
          <a:p>
            <a:pPr marL="285750" indent="-285750">
              <a:buFont typeface="Arial" panose="020B0604020202020204" pitchFamily="34" charset="0"/>
              <a:buChar char="•"/>
            </a:pPr>
            <a:r>
              <a:rPr lang="en-US" sz="1400"/>
              <a:t>Question 1: SELECT 'FirstName </a:t>
            </a:r>
            <a:r>
              <a:rPr lang="en-US" sz="1400" err="1"/>
              <a:t>LastName</a:t>
            </a:r>
            <a:r>
              <a:rPr lang="en-US" sz="1400"/>
              <a:t>’ </a:t>
            </a:r>
          </a:p>
          <a:p>
            <a:pPr marL="285750" indent="-285750">
              <a:buFont typeface="Arial" panose="020B0604020202020204" pitchFamily="34" charset="0"/>
              <a:buChar char="•"/>
            </a:pPr>
            <a:r>
              <a:rPr lang="en-US" sz="1400"/>
              <a:t>Question 2: SELECT 7*4 </a:t>
            </a:r>
          </a:p>
          <a:p>
            <a:pPr marL="285750" indent="-285750">
              <a:buFont typeface="Arial" panose="020B0604020202020204" pitchFamily="34" charset="0"/>
              <a:buChar char="•"/>
            </a:pPr>
            <a:r>
              <a:rPr lang="en-US" sz="1400"/>
              <a:t>Question 3: SELECT (7-4)*8 </a:t>
            </a:r>
          </a:p>
          <a:p>
            <a:pPr marL="285750" indent="-285750">
              <a:buFont typeface="Arial" panose="020B0604020202020204" pitchFamily="34" charset="0"/>
              <a:buChar char="•"/>
            </a:pPr>
            <a:r>
              <a:rPr lang="en-US" sz="1400"/>
              <a:t>Question 4: SELECT ‘BDA''s SQL Training </a:t>
            </a:r>
            <a:r>
              <a:rPr lang="en-US" sz="1400" err="1"/>
              <a:t>Class’</a:t>
            </a:r>
            <a:r>
              <a:rPr lang="en-US" sz="1400"/>
              <a:t> </a:t>
            </a:r>
          </a:p>
          <a:p>
            <a:pPr marL="285750" indent="-285750">
              <a:buFont typeface="Arial" panose="020B0604020202020204" pitchFamily="34" charset="0"/>
              <a:buChar char="•"/>
            </a:pPr>
            <a:r>
              <a:rPr lang="en-US" sz="1400"/>
              <a:t>Question 5: SELECT 'Day 1 of Training', 5*3</a:t>
            </a:r>
          </a:p>
        </p:txBody>
      </p:sp>
    </p:spTree>
    <p:extLst>
      <p:ext uri="{BB962C8B-B14F-4D97-AF65-F5344CB8AC3E}">
        <p14:creationId xmlns:p14="http://schemas.microsoft.com/office/powerpoint/2010/main" val="12711241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7285A8-6EB4-44C6-9ACB-4CC45D21736D}"/>
              </a:ext>
            </a:extLst>
          </p:cNvPr>
          <p:cNvSpPr>
            <a:spLocks noGrp="1"/>
          </p:cNvSpPr>
          <p:nvPr>
            <p:ph type="ctrTitle"/>
          </p:nvPr>
        </p:nvSpPr>
        <p:spPr>
          <a:xfrm>
            <a:off x="1765085" y="-154996"/>
            <a:ext cx="8791575" cy="1025854"/>
          </a:xfrm>
        </p:spPr>
        <p:txBody>
          <a:bodyPr/>
          <a:lstStyle/>
          <a:p>
            <a:pPr algn="ctr"/>
            <a:r>
              <a:rPr lang="en-US"/>
              <a:t>SQL FOR DATA ANALYSIS </a:t>
            </a:r>
          </a:p>
        </p:txBody>
      </p:sp>
      <p:sp>
        <p:nvSpPr>
          <p:cNvPr id="3" name="Subtitle 2">
            <a:extLst>
              <a:ext uri="{FF2B5EF4-FFF2-40B4-BE49-F238E27FC236}">
                <a16:creationId xmlns:a16="http://schemas.microsoft.com/office/drawing/2014/main" id="{F732812B-5517-445B-B80B-C63947CC015B}"/>
              </a:ext>
            </a:extLst>
          </p:cNvPr>
          <p:cNvSpPr>
            <a:spLocks noGrp="1"/>
          </p:cNvSpPr>
          <p:nvPr>
            <p:ph type="subTitle" idx="1"/>
          </p:nvPr>
        </p:nvSpPr>
        <p:spPr>
          <a:xfrm>
            <a:off x="1887005" y="752542"/>
            <a:ext cx="8791575" cy="564939"/>
          </a:xfrm>
        </p:spPr>
        <p:txBody>
          <a:bodyPr>
            <a:normAutofit/>
          </a:bodyPr>
          <a:lstStyle/>
          <a:p>
            <a:pPr algn="ctr"/>
            <a:r>
              <a:rPr lang="en-US">
                <a:solidFill>
                  <a:srgbClr val="FFC000"/>
                </a:solidFill>
              </a:rPr>
              <a:t>where </a:t>
            </a:r>
            <a:r>
              <a:rPr lang="en-US">
                <a:solidFill>
                  <a:schemeClr val="tx1"/>
                </a:solidFill>
              </a:rPr>
              <a:t>Statement Practice</a:t>
            </a:r>
          </a:p>
        </p:txBody>
      </p:sp>
      <p:sp>
        <p:nvSpPr>
          <p:cNvPr id="6" name="TextBox 5">
            <a:extLst>
              <a:ext uri="{FF2B5EF4-FFF2-40B4-BE49-F238E27FC236}">
                <a16:creationId xmlns:a16="http://schemas.microsoft.com/office/drawing/2014/main" id="{92BB8542-0453-4BA3-9CD2-95838244AA45}"/>
              </a:ext>
            </a:extLst>
          </p:cNvPr>
          <p:cNvSpPr txBox="1"/>
          <p:nvPr/>
        </p:nvSpPr>
        <p:spPr>
          <a:xfrm>
            <a:off x="1765085" y="1556019"/>
            <a:ext cx="9848679" cy="4339650"/>
          </a:xfrm>
          <a:prstGeom prst="rect">
            <a:avLst/>
          </a:prstGeom>
          <a:noFill/>
        </p:spPr>
        <p:txBody>
          <a:bodyPr wrap="square" numCol="1" rtlCol="0">
            <a:spAutoFit/>
          </a:bodyPr>
          <a:lstStyle/>
          <a:p>
            <a:pPr marL="171450" indent="-171450">
              <a:buFont typeface="Arial" panose="020B0604020202020204" pitchFamily="34" charset="0"/>
              <a:buChar char="•"/>
            </a:pPr>
            <a:r>
              <a:rPr lang="en-US" sz="1200"/>
              <a:t>1) Return the FirstName and </a:t>
            </a:r>
            <a:r>
              <a:rPr lang="en-US" sz="1200" err="1"/>
              <a:t>LastName</a:t>
            </a:r>
            <a:r>
              <a:rPr lang="en-US" sz="1200"/>
              <a:t> columns from </a:t>
            </a:r>
            <a:r>
              <a:rPr lang="en-US" sz="1200" err="1"/>
              <a:t>Person.Person</a:t>
            </a:r>
            <a:r>
              <a:rPr lang="en-US" sz="1200"/>
              <a:t> where the FirstName column is equal to “Mark” </a:t>
            </a:r>
          </a:p>
          <a:p>
            <a:pPr marL="171450" indent="-171450">
              <a:buFont typeface="Arial" panose="020B0604020202020204" pitchFamily="34" charset="0"/>
              <a:buChar char="•"/>
            </a:pPr>
            <a:r>
              <a:rPr lang="en-US" sz="1200"/>
              <a:t>2) Find the top 100 rows from </a:t>
            </a:r>
            <a:r>
              <a:rPr lang="en-US" sz="1200" err="1"/>
              <a:t>Production.Product</a:t>
            </a:r>
            <a:r>
              <a:rPr lang="en-US" sz="1200"/>
              <a:t> where the </a:t>
            </a:r>
            <a:r>
              <a:rPr lang="en-US" sz="1200" err="1"/>
              <a:t>ListPrice</a:t>
            </a:r>
            <a:r>
              <a:rPr lang="en-US" sz="1200"/>
              <a:t> is not equal to 0.00 </a:t>
            </a:r>
          </a:p>
          <a:p>
            <a:pPr marL="171450" indent="-171450">
              <a:buFont typeface="Arial" panose="020B0604020202020204" pitchFamily="34" charset="0"/>
              <a:buChar char="•"/>
            </a:pPr>
            <a:r>
              <a:rPr lang="en-US" sz="1200"/>
              <a:t>3) Return all rows and columns from the view </a:t>
            </a:r>
            <a:r>
              <a:rPr lang="en-US" sz="1200" err="1"/>
              <a:t>HumanResources.vEmployee</a:t>
            </a:r>
            <a:r>
              <a:rPr lang="en-US" sz="1200"/>
              <a:t> where the employee’s last name starts with a letter less than “D” </a:t>
            </a:r>
          </a:p>
          <a:p>
            <a:pPr marL="171450" indent="-171450">
              <a:buFont typeface="Arial" panose="020B0604020202020204" pitchFamily="34" charset="0"/>
              <a:buChar char="•"/>
            </a:pPr>
            <a:r>
              <a:rPr lang="en-US" sz="1200"/>
              <a:t>4) Return all rows and columns from </a:t>
            </a:r>
            <a:r>
              <a:rPr lang="en-US" sz="1200" err="1"/>
              <a:t>Person.StateProvince</a:t>
            </a:r>
            <a:r>
              <a:rPr lang="en-US" sz="1200"/>
              <a:t> where the </a:t>
            </a:r>
            <a:r>
              <a:rPr lang="en-US" sz="1200" err="1"/>
              <a:t>CountryRegionCode</a:t>
            </a:r>
            <a:r>
              <a:rPr lang="en-US" sz="1200"/>
              <a:t> column is equal to “CA” </a:t>
            </a:r>
          </a:p>
          <a:p>
            <a:pPr marL="171450" indent="-171450">
              <a:buFont typeface="Arial" panose="020B0604020202020204" pitchFamily="34" charset="0"/>
              <a:buChar char="•"/>
            </a:pPr>
            <a:r>
              <a:rPr lang="en-US" sz="1200"/>
              <a:t>5) Return the FirstName and </a:t>
            </a:r>
            <a:r>
              <a:rPr lang="en-US" sz="1200" err="1"/>
              <a:t>LastName</a:t>
            </a:r>
            <a:r>
              <a:rPr lang="en-US" sz="1200"/>
              <a:t> columns from the view </a:t>
            </a:r>
            <a:r>
              <a:rPr lang="en-US" sz="1200" err="1"/>
              <a:t>Sales.vIndividualCustomer</a:t>
            </a:r>
            <a:r>
              <a:rPr lang="en-US" sz="1200"/>
              <a:t> where the </a:t>
            </a:r>
            <a:r>
              <a:rPr lang="en-US" sz="1200" err="1"/>
              <a:t>LastName</a:t>
            </a:r>
            <a:r>
              <a:rPr lang="en-US" sz="1200"/>
              <a:t> is equal to “Smith”. Give the column alias “Customer First Name” and “Customer Last Name” to the FirstName and </a:t>
            </a:r>
            <a:r>
              <a:rPr lang="en-US" sz="1200" err="1"/>
              <a:t>LastName</a:t>
            </a:r>
            <a:r>
              <a:rPr lang="en-US" sz="1200"/>
              <a:t> columns respectively. </a:t>
            </a:r>
          </a:p>
          <a:p>
            <a:pPr marL="171450" indent="-171450">
              <a:buFont typeface="Arial" panose="020B0604020202020204" pitchFamily="34" charset="0"/>
              <a:buChar char="•"/>
            </a:pPr>
            <a:r>
              <a:rPr lang="en-US" sz="1200"/>
              <a:t>6) Using the </a:t>
            </a:r>
            <a:r>
              <a:rPr lang="en-US" sz="1200" err="1"/>
              <a:t>Sales.vIndividualCustomer</a:t>
            </a:r>
            <a:r>
              <a:rPr lang="en-US" sz="1200"/>
              <a:t> view, find all customers with a </a:t>
            </a:r>
            <a:r>
              <a:rPr lang="en-US" sz="1200" err="1"/>
              <a:t>CountryRegionName</a:t>
            </a:r>
            <a:r>
              <a:rPr lang="en-US" sz="1200"/>
              <a:t> equal to “Australia” or all customers who have a </a:t>
            </a:r>
            <a:r>
              <a:rPr lang="en-US" sz="1200" err="1"/>
              <a:t>PhoneNumberType</a:t>
            </a:r>
            <a:r>
              <a:rPr lang="en-US" sz="1200"/>
              <a:t> equal to “Cell” and an </a:t>
            </a:r>
            <a:r>
              <a:rPr lang="en-US" sz="1200" err="1"/>
              <a:t>EmailPromotion</a:t>
            </a:r>
            <a:r>
              <a:rPr lang="en-US" sz="1200"/>
              <a:t> column value equal to 0. (Hint: the correct query requires the use of parentheses in your WHERE clause) </a:t>
            </a:r>
          </a:p>
          <a:p>
            <a:pPr marL="171450" indent="-171450">
              <a:buFont typeface="Arial" panose="020B0604020202020204" pitchFamily="34" charset="0"/>
              <a:buChar char="•"/>
            </a:pPr>
            <a:r>
              <a:rPr lang="en-US" sz="1200"/>
              <a:t>7) Find all employees from the view </a:t>
            </a:r>
            <a:r>
              <a:rPr lang="en-US" sz="1200" err="1"/>
              <a:t>HumanResources.vEmployeeDepartment</a:t>
            </a:r>
            <a:r>
              <a:rPr lang="en-US" sz="1200"/>
              <a:t> who have a Department column value in the list of: “Executive”, “Tool Design”, and “Engineering”. Complete this query twice – once using the IN operator in the WHERE clause and a second time using multiple OR operators. </a:t>
            </a:r>
          </a:p>
          <a:p>
            <a:pPr marL="171450" indent="-171450">
              <a:buFont typeface="Arial" panose="020B0604020202020204" pitchFamily="34" charset="0"/>
              <a:buChar char="•"/>
            </a:pPr>
            <a:r>
              <a:rPr lang="en-US" sz="1200"/>
              <a:t>8) Using </a:t>
            </a:r>
            <a:r>
              <a:rPr lang="en-US" sz="1200" err="1"/>
              <a:t>HumanResources.vEmployeeDepartment</a:t>
            </a:r>
            <a:r>
              <a:rPr lang="en-US" sz="1200"/>
              <a:t>, find all employees who have a StartDate between July 1, 2000 and June 30, 2002. Complete this query twice – once using the BETWEEN operator and then by using a combination of the “greater than or equal to” and “less than or equal to” operators. </a:t>
            </a:r>
          </a:p>
          <a:p>
            <a:pPr marL="171450" indent="-171450">
              <a:buFont typeface="Arial" panose="020B0604020202020204" pitchFamily="34" charset="0"/>
              <a:buChar char="•"/>
            </a:pPr>
            <a:r>
              <a:rPr lang="en-US" sz="1200"/>
              <a:t>9) Find all customers from the view </a:t>
            </a:r>
            <a:r>
              <a:rPr lang="en-US" sz="1200" err="1"/>
              <a:t>Sales.vIndividualCustomer</a:t>
            </a:r>
            <a:r>
              <a:rPr lang="en-US" sz="1200"/>
              <a:t> whose </a:t>
            </a:r>
            <a:r>
              <a:rPr lang="en-US" sz="1200" err="1"/>
              <a:t>LastName</a:t>
            </a:r>
            <a:r>
              <a:rPr lang="en-US" sz="1200"/>
              <a:t> starts with the letter “R”. (Hint: a wildcard character can assist you with this query) </a:t>
            </a:r>
          </a:p>
          <a:p>
            <a:pPr marL="171450" indent="-171450">
              <a:buFont typeface="Arial" panose="020B0604020202020204" pitchFamily="34" charset="0"/>
              <a:buChar char="•"/>
            </a:pPr>
            <a:r>
              <a:rPr lang="en-US" sz="1200"/>
              <a:t>10) Find all customers from the view </a:t>
            </a:r>
            <a:r>
              <a:rPr lang="en-US" sz="1200" err="1"/>
              <a:t>Sales.vIndividualCustomer</a:t>
            </a:r>
            <a:r>
              <a:rPr lang="en-US" sz="1200"/>
              <a:t> whose </a:t>
            </a:r>
            <a:r>
              <a:rPr lang="en-US" sz="1200" err="1"/>
              <a:t>LastName</a:t>
            </a:r>
            <a:r>
              <a:rPr lang="en-US" sz="1200"/>
              <a:t> ends with the letter “r”. (Hint: a wildcard character can assist you with this query) </a:t>
            </a:r>
          </a:p>
          <a:p>
            <a:pPr marL="171450" indent="-171450">
              <a:buFont typeface="Arial" panose="020B0604020202020204" pitchFamily="34" charset="0"/>
              <a:buChar char="•"/>
            </a:pPr>
            <a:r>
              <a:rPr lang="en-US" sz="1200"/>
              <a:t>11) Find all customers from the view </a:t>
            </a:r>
            <a:r>
              <a:rPr lang="en-US" sz="1200" err="1"/>
              <a:t>Sales.vIndividualCustomer</a:t>
            </a:r>
            <a:r>
              <a:rPr lang="en-US" sz="1200"/>
              <a:t> whose </a:t>
            </a:r>
            <a:r>
              <a:rPr lang="en-US" sz="1200" err="1"/>
              <a:t>LastName</a:t>
            </a:r>
            <a:r>
              <a:rPr lang="en-US" sz="1200"/>
              <a:t> is either “Lopez”, “Martin”, or “Wood” and whose FirstName starts with any letter between “C” and “L” in the alphabet. (Hint: multiple wildcard characters will be used in this query) </a:t>
            </a:r>
          </a:p>
          <a:p>
            <a:pPr marL="171450" indent="-171450">
              <a:buFont typeface="Arial" panose="020B0604020202020204" pitchFamily="34" charset="0"/>
              <a:buChar char="•"/>
            </a:pPr>
            <a:r>
              <a:rPr lang="en-US" sz="1200"/>
              <a:t>12) Return all columns from the </a:t>
            </a:r>
            <a:r>
              <a:rPr lang="en-US" sz="1200" err="1"/>
              <a:t>Sales.SalesOrderHeader</a:t>
            </a:r>
            <a:r>
              <a:rPr lang="en-US" sz="1200"/>
              <a:t> table for all sales that are associated with a sales person. That is, return all rows where the </a:t>
            </a:r>
            <a:r>
              <a:rPr lang="en-US" sz="1200" err="1"/>
              <a:t>SalesPersonID</a:t>
            </a:r>
            <a:r>
              <a:rPr lang="en-US" sz="1200"/>
              <a:t> column does not contain a NULL value. </a:t>
            </a:r>
          </a:p>
          <a:p>
            <a:pPr marL="171450" indent="-171450">
              <a:buFont typeface="Arial" panose="020B0604020202020204" pitchFamily="34" charset="0"/>
              <a:buChar char="•"/>
            </a:pPr>
            <a:r>
              <a:rPr lang="en-US" sz="1200"/>
              <a:t>13) Return the </a:t>
            </a:r>
            <a:r>
              <a:rPr lang="en-US" sz="1200" err="1"/>
              <a:t>SalesPersonID</a:t>
            </a:r>
            <a:r>
              <a:rPr lang="en-US" sz="1200"/>
              <a:t> and </a:t>
            </a:r>
            <a:r>
              <a:rPr lang="en-US" sz="1200" err="1"/>
              <a:t>TotalDue</a:t>
            </a:r>
            <a:r>
              <a:rPr lang="en-US" sz="1200"/>
              <a:t> columns from </a:t>
            </a:r>
            <a:r>
              <a:rPr lang="en-US" sz="1200" err="1"/>
              <a:t>Sales.SalesOrderHeader</a:t>
            </a:r>
            <a:r>
              <a:rPr lang="en-US" sz="1200"/>
              <a:t> for all sales that do not have a NULL value in the </a:t>
            </a:r>
            <a:r>
              <a:rPr lang="en-US" sz="1200" err="1"/>
              <a:t>SalesPersonID</a:t>
            </a:r>
            <a:r>
              <a:rPr lang="en-US" sz="1200"/>
              <a:t> column and whose </a:t>
            </a:r>
            <a:r>
              <a:rPr lang="en-US" sz="1200" err="1"/>
              <a:t>TotalDue</a:t>
            </a:r>
            <a:r>
              <a:rPr lang="en-US" sz="1200"/>
              <a:t> value exceeds $70,000</a:t>
            </a:r>
          </a:p>
        </p:txBody>
      </p:sp>
    </p:spTree>
    <p:extLst>
      <p:ext uri="{BB962C8B-B14F-4D97-AF65-F5344CB8AC3E}">
        <p14:creationId xmlns:p14="http://schemas.microsoft.com/office/powerpoint/2010/main" val="7847080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7285A8-6EB4-44C6-9ACB-4CC45D21736D}"/>
              </a:ext>
            </a:extLst>
          </p:cNvPr>
          <p:cNvSpPr>
            <a:spLocks noGrp="1"/>
          </p:cNvSpPr>
          <p:nvPr>
            <p:ph type="ctrTitle"/>
          </p:nvPr>
        </p:nvSpPr>
        <p:spPr>
          <a:xfrm>
            <a:off x="2100806" y="-120162"/>
            <a:ext cx="8791575" cy="1186212"/>
          </a:xfrm>
        </p:spPr>
        <p:txBody>
          <a:bodyPr/>
          <a:lstStyle/>
          <a:p>
            <a:pPr algn="ctr"/>
            <a:r>
              <a:rPr lang="en-US"/>
              <a:t>SQL FOR DATA ANALYSIS </a:t>
            </a:r>
          </a:p>
        </p:txBody>
      </p:sp>
      <p:sp>
        <p:nvSpPr>
          <p:cNvPr id="3" name="Subtitle 2">
            <a:extLst>
              <a:ext uri="{FF2B5EF4-FFF2-40B4-BE49-F238E27FC236}">
                <a16:creationId xmlns:a16="http://schemas.microsoft.com/office/drawing/2014/main" id="{F732812B-5517-445B-B80B-C63947CC015B}"/>
              </a:ext>
            </a:extLst>
          </p:cNvPr>
          <p:cNvSpPr>
            <a:spLocks noGrp="1"/>
          </p:cNvSpPr>
          <p:nvPr>
            <p:ph type="subTitle" idx="1"/>
          </p:nvPr>
        </p:nvSpPr>
        <p:spPr>
          <a:xfrm>
            <a:off x="1974092" y="916631"/>
            <a:ext cx="8791575" cy="564939"/>
          </a:xfrm>
        </p:spPr>
        <p:txBody>
          <a:bodyPr>
            <a:normAutofit/>
          </a:bodyPr>
          <a:lstStyle/>
          <a:p>
            <a:pPr algn="ctr"/>
            <a:r>
              <a:rPr lang="en-US">
                <a:solidFill>
                  <a:srgbClr val="FFC000"/>
                </a:solidFill>
              </a:rPr>
              <a:t>where </a:t>
            </a:r>
            <a:r>
              <a:rPr lang="en-US">
                <a:solidFill>
                  <a:schemeClr val="tx1"/>
                </a:solidFill>
              </a:rPr>
              <a:t>Statement Practice</a:t>
            </a:r>
          </a:p>
        </p:txBody>
      </p:sp>
      <p:sp>
        <p:nvSpPr>
          <p:cNvPr id="6" name="TextBox 5">
            <a:extLst>
              <a:ext uri="{FF2B5EF4-FFF2-40B4-BE49-F238E27FC236}">
                <a16:creationId xmlns:a16="http://schemas.microsoft.com/office/drawing/2014/main" id="{92BB8542-0453-4BA3-9CD2-95838244AA45}"/>
              </a:ext>
            </a:extLst>
          </p:cNvPr>
          <p:cNvSpPr txBox="1"/>
          <p:nvPr/>
        </p:nvSpPr>
        <p:spPr>
          <a:xfrm>
            <a:off x="1067156" y="1791789"/>
            <a:ext cx="10858874" cy="3970318"/>
          </a:xfrm>
          <a:prstGeom prst="rect">
            <a:avLst/>
          </a:prstGeom>
          <a:noFill/>
        </p:spPr>
        <p:txBody>
          <a:bodyPr wrap="square" rtlCol="0">
            <a:spAutoFit/>
          </a:bodyPr>
          <a:lstStyle/>
          <a:p>
            <a:pPr marL="285750" indent="-285750">
              <a:buFont typeface="Arial" panose="020B0604020202020204" pitchFamily="34" charset="0"/>
              <a:buChar char="•"/>
            </a:pPr>
            <a:r>
              <a:rPr lang="en-US" sz="1400"/>
              <a:t>Question 1: SELECT FirstName, </a:t>
            </a:r>
            <a:r>
              <a:rPr lang="en-US" sz="1400" err="1"/>
              <a:t>LastName</a:t>
            </a:r>
            <a:r>
              <a:rPr lang="en-US" sz="1400"/>
              <a:t> FROM </a:t>
            </a:r>
            <a:r>
              <a:rPr lang="en-US" sz="1400" err="1"/>
              <a:t>Person.Person</a:t>
            </a:r>
            <a:r>
              <a:rPr lang="en-US" sz="1400"/>
              <a:t> WHERE FirstName = 'Mark'</a:t>
            </a:r>
          </a:p>
          <a:p>
            <a:pPr marL="285750" indent="-285750">
              <a:buFont typeface="Arial" panose="020B0604020202020204" pitchFamily="34" charset="0"/>
              <a:buChar char="•"/>
            </a:pPr>
            <a:r>
              <a:rPr lang="en-US" sz="1400"/>
              <a:t>Question 2: SELECT TOP 100 * FROM </a:t>
            </a:r>
            <a:r>
              <a:rPr lang="en-US" sz="1400" err="1"/>
              <a:t>Production.Product</a:t>
            </a:r>
            <a:r>
              <a:rPr lang="en-US" sz="1400"/>
              <a:t> WHERE </a:t>
            </a:r>
            <a:r>
              <a:rPr lang="en-US" sz="1400" err="1"/>
              <a:t>ListPrice</a:t>
            </a:r>
            <a:r>
              <a:rPr lang="en-US" sz="1400"/>
              <a:t> &lt;&gt; 0.00 </a:t>
            </a:r>
          </a:p>
          <a:p>
            <a:pPr marL="285750" indent="-285750">
              <a:buFont typeface="Arial" panose="020B0604020202020204" pitchFamily="34" charset="0"/>
              <a:buChar char="•"/>
            </a:pPr>
            <a:r>
              <a:rPr lang="en-US" sz="1400"/>
              <a:t>Question 3: SELECT * FROM </a:t>
            </a:r>
            <a:r>
              <a:rPr lang="en-US" sz="1400" err="1"/>
              <a:t>HumanResources.vEmployee</a:t>
            </a:r>
            <a:r>
              <a:rPr lang="en-US" sz="1400"/>
              <a:t> WHERE </a:t>
            </a:r>
            <a:r>
              <a:rPr lang="en-US" sz="1400" err="1"/>
              <a:t>LastName</a:t>
            </a:r>
            <a:r>
              <a:rPr lang="en-US" sz="1400"/>
              <a:t> &lt; 'D’ </a:t>
            </a:r>
          </a:p>
          <a:p>
            <a:pPr marL="285750" indent="-285750">
              <a:buFont typeface="Arial" panose="020B0604020202020204" pitchFamily="34" charset="0"/>
              <a:buChar char="•"/>
            </a:pPr>
            <a:r>
              <a:rPr lang="en-US" sz="1400"/>
              <a:t>Question 4: SELECT * FROM </a:t>
            </a:r>
            <a:r>
              <a:rPr lang="en-US" sz="1400" err="1"/>
              <a:t>Person.StateProvince</a:t>
            </a:r>
            <a:r>
              <a:rPr lang="en-US" sz="1400"/>
              <a:t> WHERE </a:t>
            </a:r>
            <a:r>
              <a:rPr lang="en-US" sz="1400" err="1"/>
              <a:t>CountryRegionCode</a:t>
            </a:r>
            <a:r>
              <a:rPr lang="en-US" sz="1400"/>
              <a:t> = 'CA’ </a:t>
            </a:r>
          </a:p>
          <a:p>
            <a:pPr marL="285750" indent="-285750">
              <a:buFont typeface="Arial" panose="020B0604020202020204" pitchFamily="34" charset="0"/>
              <a:buChar char="•"/>
            </a:pPr>
            <a:r>
              <a:rPr lang="en-US" sz="1400"/>
              <a:t>Question 5: SELECT FirstName AS "Customer First Name", </a:t>
            </a:r>
            <a:r>
              <a:rPr lang="en-US" sz="1400" err="1"/>
              <a:t>LastName</a:t>
            </a:r>
            <a:r>
              <a:rPr lang="en-US" sz="1400"/>
              <a:t> AS "Customer Last Name" FROM </a:t>
            </a:r>
            <a:r>
              <a:rPr lang="en-US" sz="1400" err="1"/>
              <a:t>Sales.vIndividualCustomer</a:t>
            </a:r>
            <a:r>
              <a:rPr lang="en-US" sz="1400"/>
              <a:t> WHERE </a:t>
            </a:r>
            <a:r>
              <a:rPr lang="en-US" sz="1400" err="1"/>
              <a:t>LastName</a:t>
            </a:r>
            <a:r>
              <a:rPr lang="en-US" sz="1400"/>
              <a:t> = 'Smith’</a:t>
            </a:r>
          </a:p>
          <a:p>
            <a:pPr marL="285750" indent="-285750">
              <a:buFont typeface="Arial" panose="020B0604020202020204" pitchFamily="34" charset="0"/>
              <a:buChar char="•"/>
            </a:pPr>
            <a:r>
              <a:rPr lang="en-US" sz="1400"/>
              <a:t>Question 6: SELECT * FROM </a:t>
            </a:r>
            <a:r>
              <a:rPr lang="en-US" sz="1400" err="1"/>
              <a:t>Sales.vIndividualCustomer</a:t>
            </a:r>
            <a:r>
              <a:rPr lang="en-US" sz="1400"/>
              <a:t> WHERE </a:t>
            </a:r>
            <a:r>
              <a:rPr lang="en-US" sz="1400" err="1"/>
              <a:t>CountryRegionName</a:t>
            </a:r>
            <a:r>
              <a:rPr lang="en-US" sz="1400"/>
              <a:t> = 'Australia' OR (</a:t>
            </a:r>
            <a:r>
              <a:rPr lang="en-US" sz="1400" err="1"/>
              <a:t>PhoneNumberType</a:t>
            </a:r>
            <a:r>
              <a:rPr lang="en-US" sz="1400"/>
              <a:t> = 'Cell' AND </a:t>
            </a:r>
            <a:r>
              <a:rPr lang="en-US" sz="1400" err="1"/>
              <a:t>EmailPromotion</a:t>
            </a:r>
            <a:r>
              <a:rPr lang="en-US" sz="1400"/>
              <a:t> = 0) </a:t>
            </a:r>
          </a:p>
          <a:p>
            <a:pPr marL="285750" indent="-285750">
              <a:buFont typeface="Arial" panose="020B0604020202020204" pitchFamily="34" charset="0"/>
              <a:buChar char="•"/>
            </a:pPr>
            <a:r>
              <a:rPr lang="en-US" sz="1400"/>
              <a:t>Question 7: SELECT * FROM </a:t>
            </a:r>
            <a:r>
              <a:rPr lang="en-US" sz="1400" err="1"/>
              <a:t>HumanResources.vEmployeeDepartment</a:t>
            </a:r>
            <a:r>
              <a:rPr lang="en-US" sz="1400"/>
              <a:t> WHERE Department IN ('Executive', 'Tool Design', 'Engineering') SELECT * FROM </a:t>
            </a:r>
            <a:r>
              <a:rPr lang="en-US" sz="1400" err="1"/>
              <a:t>HumanResources.vEmployeeDepartment</a:t>
            </a:r>
            <a:r>
              <a:rPr lang="en-US" sz="1400"/>
              <a:t> WHERE Department = 'Executive' OR Department = 'Tool Design' OR Department = 'Engineering’ </a:t>
            </a:r>
          </a:p>
          <a:p>
            <a:pPr marL="285750" indent="-285750">
              <a:buFont typeface="Arial" panose="020B0604020202020204" pitchFamily="34" charset="0"/>
              <a:buChar char="•"/>
            </a:pPr>
            <a:r>
              <a:rPr lang="en-US" sz="1400"/>
              <a:t>Question 8: SELECT * FROM </a:t>
            </a:r>
            <a:r>
              <a:rPr lang="en-US" sz="1400" err="1"/>
              <a:t>HumanResources.vEmployeeDepartment</a:t>
            </a:r>
            <a:r>
              <a:rPr lang="en-US" sz="1400"/>
              <a:t> WHERE StartDate BETWEEN '7/1/2000' AND '6/30/2002' SELECT * FROM </a:t>
            </a:r>
            <a:r>
              <a:rPr lang="en-US" sz="1400" err="1"/>
              <a:t>HumanResources.vEmployeeDepartment</a:t>
            </a:r>
            <a:r>
              <a:rPr lang="en-US" sz="1400"/>
              <a:t> WHERE StartDate &gt;= '7/1/2000' AND StartDate &lt;= '6/30/2002’ </a:t>
            </a:r>
          </a:p>
          <a:p>
            <a:pPr marL="285750" indent="-285750">
              <a:buFont typeface="Arial" panose="020B0604020202020204" pitchFamily="34" charset="0"/>
              <a:buChar char="•"/>
            </a:pPr>
            <a:r>
              <a:rPr lang="en-US" sz="1400"/>
              <a:t>Question 9: SELECT * FROM </a:t>
            </a:r>
            <a:r>
              <a:rPr lang="en-US" sz="1400" err="1"/>
              <a:t>Sales.vIndividualCustomer</a:t>
            </a:r>
            <a:r>
              <a:rPr lang="en-US" sz="1400"/>
              <a:t> WHERE </a:t>
            </a:r>
            <a:r>
              <a:rPr lang="en-US" sz="1400" err="1"/>
              <a:t>LastName</a:t>
            </a:r>
            <a:r>
              <a:rPr lang="en-US" sz="1400"/>
              <a:t> LIKE 'R%’ </a:t>
            </a:r>
          </a:p>
          <a:p>
            <a:pPr marL="285750" indent="-285750">
              <a:buFont typeface="Arial" panose="020B0604020202020204" pitchFamily="34" charset="0"/>
              <a:buChar char="•"/>
            </a:pPr>
            <a:r>
              <a:rPr lang="en-US" sz="1400"/>
              <a:t>Question 10: SELECT * FROM </a:t>
            </a:r>
            <a:r>
              <a:rPr lang="en-US" sz="1400" err="1"/>
              <a:t>Sales.vIndividualCustomer</a:t>
            </a:r>
            <a:r>
              <a:rPr lang="en-US" sz="1400"/>
              <a:t> WHERE </a:t>
            </a:r>
            <a:r>
              <a:rPr lang="en-US" sz="1400" err="1"/>
              <a:t>LastName</a:t>
            </a:r>
            <a:r>
              <a:rPr lang="en-US" sz="1400"/>
              <a:t> LIKE '%r’ </a:t>
            </a:r>
          </a:p>
          <a:p>
            <a:pPr marL="285750" indent="-285750">
              <a:buFont typeface="Arial" panose="020B0604020202020204" pitchFamily="34" charset="0"/>
              <a:buChar char="•"/>
            </a:pPr>
            <a:r>
              <a:rPr lang="en-US" sz="1400"/>
              <a:t>Question 11: SELECT * FROM </a:t>
            </a:r>
            <a:r>
              <a:rPr lang="en-US" sz="1400" err="1"/>
              <a:t>Sales.vIndividualCustomer</a:t>
            </a:r>
            <a:r>
              <a:rPr lang="en-US" sz="1400"/>
              <a:t> WHERE </a:t>
            </a:r>
            <a:r>
              <a:rPr lang="en-US" sz="1400" err="1"/>
              <a:t>LastName</a:t>
            </a:r>
            <a:r>
              <a:rPr lang="en-US" sz="1400"/>
              <a:t> IN ('Lopez', 'Martin', 'Wood') AND FirstName LIKE '[C-L]%’ </a:t>
            </a:r>
          </a:p>
          <a:p>
            <a:pPr marL="285750" indent="-285750">
              <a:buFont typeface="Arial" panose="020B0604020202020204" pitchFamily="34" charset="0"/>
              <a:buChar char="•"/>
            </a:pPr>
            <a:r>
              <a:rPr lang="en-US" sz="1400"/>
              <a:t>Question 12: SELECT * FROM </a:t>
            </a:r>
            <a:r>
              <a:rPr lang="en-US" sz="1400" err="1"/>
              <a:t>Sales.SalesOrderHeader</a:t>
            </a:r>
            <a:r>
              <a:rPr lang="en-US" sz="1400"/>
              <a:t> WHERE </a:t>
            </a:r>
            <a:r>
              <a:rPr lang="en-US" sz="1400" err="1"/>
              <a:t>SalesPersonID</a:t>
            </a:r>
            <a:r>
              <a:rPr lang="en-US" sz="1400"/>
              <a:t> IS NOT NULL </a:t>
            </a:r>
          </a:p>
          <a:p>
            <a:pPr marL="285750" indent="-285750">
              <a:buFont typeface="Arial" panose="020B0604020202020204" pitchFamily="34" charset="0"/>
              <a:buChar char="•"/>
            </a:pPr>
            <a:r>
              <a:rPr lang="en-US" sz="1400"/>
              <a:t>Question 13: SELECT </a:t>
            </a:r>
            <a:r>
              <a:rPr lang="en-US" sz="1400" err="1"/>
              <a:t>SalesPersonID</a:t>
            </a:r>
            <a:r>
              <a:rPr lang="en-US" sz="1400"/>
              <a:t>, </a:t>
            </a:r>
            <a:r>
              <a:rPr lang="en-US" sz="1400" err="1"/>
              <a:t>TotalDue</a:t>
            </a:r>
            <a:r>
              <a:rPr lang="en-US" sz="1400"/>
              <a:t> FROM </a:t>
            </a:r>
            <a:r>
              <a:rPr lang="en-US" sz="1400" err="1"/>
              <a:t>Sales.SalesOrderHeader</a:t>
            </a:r>
            <a:r>
              <a:rPr lang="en-US" sz="1400"/>
              <a:t> WHERE </a:t>
            </a:r>
            <a:r>
              <a:rPr lang="en-US" sz="1400" err="1"/>
              <a:t>SalesPersonID</a:t>
            </a:r>
            <a:r>
              <a:rPr lang="en-US" sz="1400"/>
              <a:t> IS NOT NULL AND </a:t>
            </a:r>
            <a:r>
              <a:rPr lang="en-US" sz="1400" err="1"/>
              <a:t>TotalDue</a:t>
            </a:r>
            <a:r>
              <a:rPr lang="en-US" sz="1400"/>
              <a:t> &gt; 7000</a:t>
            </a:r>
          </a:p>
          <a:p>
            <a:pPr marL="285750" indent="-285750">
              <a:buFont typeface="Arial" panose="020B0604020202020204" pitchFamily="34" charset="0"/>
              <a:buChar char="•"/>
            </a:pPr>
            <a:endParaRPr lang="en-US" sz="1400"/>
          </a:p>
        </p:txBody>
      </p:sp>
    </p:spTree>
    <p:extLst>
      <p:ext uri="{BB962C8B-B14F-4D97-AF65-F5344CB8AC3E}">
        <p14:creationId xmlns:p14="http://schemas.microsoft.com/office/powerpoint/2010/main" val="41202920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7285A8-6EB4-44C6-9ACB-4CC45D21736D}"/>
              </a:ext>
            </a:extLst>
          </p:cNvPr>
          <p:cNvSpPr>
            <a:spLocks noGrp="1"/>
          </p:cNvSpPr>
          <p:nvPr>
            <p:ph type="ctrTitle"/>
          </p:nvPr>
        </p:nvSpPr>
        <p:spPr>
          <a:xfrm>
            <a:off x="1700212" y="411061"/>
            <a:ext cx="8791575" cy="1186212"/>
          </a:xfrm>
        </p:spPr>
        <p:txBody>
          <a:bodyPr/>
          <a:lstStyle/>
          <a:p>
            <a:pPr algn="ctr"/>
            <a:r>
              <a:rPr lang="en-US"/>
              <a:t>SQL FOR DATA ANALYSIS </a:t>
            </a:r>
          </a:p>
        </p:txBody>
      </p:sp>
      <p:sp>
        <p:nvSpPr>
          <p:cNvPr id="3" name="Subtitle 2">
            <a:extLst>
              <a:ext uri="{FF2B5EF4-FFF2-40B4-BE49-F238E27FC236}">
                <a16:creationId xmlns:a16="http://schemas.microsoft.com/office/drawing/2014/main" id="{F732812B-5517-445B-B80B-C63947CC015B}"/>
              </a:ext>
            </a:extLst>
          </p:cNvPr>
          <p:cNvSpPr>
            <a:spLocks noGrp="1"/>
          </p:cNvSpPr>
          <p:nvPr>
            <p:ph type="subTitle" idx="1"/>
          </p:nvPr>
        </p:nvSpPr>
        <p:spPr>
          <a:xfrm>
            <a:off x="1826046" y="2292586"/>
            <a:ext cx="8791575" cy="564939"/>
          </a:xfrm>
        </p:spPr>
        <p:txBody>
          <a:bodyPr>
            <a:normAutofit/>
          </a:bodyPr>
          <a:lstStyle/>
          <a:p>
            <a:pPr algn="ctr"/>
            <a:r>
              <a:rPr lang="en-US">
                <a:solidFill>
                  <a:srgbClr val="FFC000"/>
                </a:solidFill>
              </a:rPr>
              <a:t>SORT</a:t>
            </a:r>
            <a:r>
              <a:rPr lang="en-US">
                <a:solidFill>
                  <a:schemeClr val="tx1"/>
                </a:solidFill>
              </a:rPr>
              <a:t> Statement Practice</a:t>
            </a:r>
          </a:p>
        </p:txBody>
      </p:sp>
      <p:sp>
        <p:nvSpPr>
          <p:cNvPr id="7" name="TextBox 6">
            <a:extLst>
              <a:ext uri="{FF2B5EF4-FFF2-40B4-BE49-F238E27FC236}">
                <a16:creationId xmlns:a16="http://schemas.microsoft.com/office/drawing/2014/main" id="{8A12ABC9-5532-4E63-AB0F-68AD1354FCE1}"/>
              </a:ext>
            </a:extLst>
          </p:cNvPr>
          <p:cNvSpPr txBox="1"/>
          <p:nvPr/>
        </p:nvSpPr>
        <p:spPr>
          <a:xfrm>
            <a:off x="1889760" y="3063806"/>
            <a:ext cx="9605555" cy="2677656"/>
          </a:xfrm>
          <a:prstGeom prst="rect">
            <a:avLst/>
          </a:prstGeom>
          <a:noFill/>
        </p:spPr>
        <p:txBody>
          <a:bodyPr wrap="square">
            <a:spAutoFit/>
          </a:bodyPr>
          <a:lstStyle/>
          <a:p>
            <a:r>
              <a:rPr lang="en-US" sz="1400"/>
              <a:t>1) From the </a:t>
            </a:r>
            <a:r>
              <a:rPr lang="en-US" sz="1400" err="1"/>
              <a:t>HumanResources.vEmployeeDepartment</a:t>
            </a:r>
            <a:r>
              <a:rPr lang="en-US" sz="1400"/>
              <a:t> view, return the FirstName, </a:t>
            </a:r>
            <a:r>
              <a:rPr lang="en-US" sz="1400" err="1"/>
              <a:t>LastName</a:t>
            </a:r>
            <a:r>
              <a:rPr lang="en-US" sz="1400"/>
              <a:t> and </a:t>
            </a:r>
            <a:r>
              <a:rPr lang="en-US" sz="1400" err="1"/>
              <a:t>JobTitle</a:t>
            </a:r>
            <a:r>
              <a:rPr lang="en-US" sz="1400"/>
              <a:t> columns. Sort the results by the FirstName column in ascending order. </a:t>
            </a:r>
          </a:p>
          <a:p>
            <a:r>
              <a:rPr lang="en-US" sz="1400"/>
              <a:t>2) Modify the query from question 1 to sort the results by the FirstName column in ascending order and then by the </a:t>
            </a:r>
            <a:r>
              <a:rPr lang="en-US" sz="1400" err="1"/>
              <a:t>LastName</a:t>
            </a:r>
            <a:r>
              <a:rPr lang="en-US" sz="1400"/>
              <a:t> column in descending order. </a:t>
            </a:r>
          </a:p>
          <a:p>
            <a:r>
              <a:rPr lang="en-US" sz="1400"/>
              <a:t>3) From the </a:t>
            </a:r>
            <a:r>
              <a:rPr lang="en-US" sz="1400" err="1"/>
              <a:t>Sales.vIndividualCustomer</a:t>
            </a:r>
            <a:r>
              <a:rPr lang="en-US" sz="1400"/>
              <a:t> view, return the FirstName, </a:t>
            </a:r>
            <a:r>
              <a:rPr lang="en-US" sz="1400" err="1"/>
              <a:t>LastName</a:t>
            </a:r>
            <a:r>
              <a:rPr lang="en-US" sz="1400"/>
              <a:t> and </a:t>
            </a:r>
            <a:r>
              <a:rPr lang="en-US" sz="1400" err="1"/>
              <a:t>CountryRegionName</a:t>
            </a:r>
            <a:r>
              <a:rPr lang="en-US" sz="1400"/>
              <a:t> columns. Sort the results by the </a:t>
            </a:r>
            <a:r>
              <a:rPr lang="en-US" sz="1400" err="1"/>
              <a:t>CountryRegionName</a:t>
            </a:r>
            <a:r>
              <a:rPr lang="en-US" sz="1400"/>
              <a:t> column. Use the column ordinal in the ORDER BY clause. </a:t>
            </a:r>
          </a:p>
          <a:p>
            <a:r>
              <a:rPr lang="en-US" sz="1400"/>
              <a:t>4) From the </a:t>
            </a:r>
            <a:r>
              <a:rPr lang="en-US" sz="1400" err="1"/>
              <a:t>Sales.vIndividualCustomer</a:t>
            </a:r>
            <a:r>
              <a:rPr lang="en-US" sz="1400"/>
              <a:t> view, return the FirstName, </a:t>
            </a:r>
            <a:r>
              <a:rPr lang="en-US" sz="1400" err="1"/>
              <a:t>LastName</a:t>
            </a:r>
            <a:r>
              <a:rPr lang="en-US" sz="1400"/>
              <a:t> and </a:t>
            </a:r>
            <a:r>
              <a:rPr lang="en-US" sz="1400" err="1"/>
              <a:t>CountryRegionName</a:t>
            </a:r>
            <a:r>
              <a:rPr lang="en-US" sz="1400"/>
              <a:t> columns for those rows with a </a:t>
            </a:r>
            <a:r>
              <a:rPr lang="en-US" sz="1400" err="1"/>
              <a:t>CountryRegionName</a:t>
            </a:r>
            <a:r>
              <a:rPr lang="en-US" sz="1400"/>
              <a:t> that is either “United States” or “France”. Sort the results by the </a:t>
            </a:r>
            <a:r>
              <a:rPr lang="en-US" sz="1400" err="1"/>
              <a:t>CountryRegionName</a:t>
            </a:r>
            <a:r>
              <a:rPr lang="en-US" sz="1400"/>
              <a:t> column in ascending order. </a:t>
            </a:r>
          </a:p>
          <a:p>
            <a:r>
              <a:rPr lang="en-US" sz="1400"/>
              <a:t>5) From the </a:t>
            </a:r>
            <a:r>
              <a:rPr lang="en-US" sz="1400" err="1"/>
              <a:t>Sales.vStoreWithDemographics</a:t>
            </a:r>
            <a:r>
              <a:rPr lang="en-US" sz="1400"/>
              <a:t> view, return the Name, </a:t>
            </a:r>
            <a:r>
              <a:rPr lang="en-US" sz="1400" err="1"/>
              <a:t>AnnualSales</a:t>
            </a:r>
            <a:r>
              <a:rPr lang="en-US" sz="1400"/>
              <a:t>, </a:t>
            </a:r>
            <a:r>
              <a:rPr lang="en-US" sz="1400" err="1"/>
              <a:t>YearOpened</a:t>
            </a:r>
            <a:r>
              <a:rPr lang="en-US" sz="1400"/>
              <a:t>, </a:t>
            </a:r>
            <a:r>
              <a:rPr lang="en-US" sz="1400" err="1"/>
              <a:t>SquareFeet</a:t>
            </a:r>
            <a:r>
              <a:rPr lang="en-US" sz="1400"/>
              <a:t>, and </a:t>
            </a:r>
            <a:r>
              <a:rPr lang="en-US" sz="1400" err="1"/>
              <a:t>NumberEmployees</a:t>
            </a:r>
            <a:r>
              <a:rPr lang="en-US" sz="1400"/>
              <a:t> columns. Give the </a:t>
            </a:r>
            <a:r>
              <a:rPr lang="en-US" sz="1400" err="1"/>
              <a:t>SquareFeet</a:t>
            </a:r>
            <a:r>
              <a:rPr lang="en-US" sz="1400"/>
              <a:t> column the alias “Store Size” and the </a:t>
            </a:r>
            <a:r>
              <a:rPr lang="en-US" sz="1400" err="1"/>
              <a:t>NumberEmployees</a:t>
            </a:r>
            <a:r>
              <a:rPr lang="en-US" sz="1400"/>
              <a:t> column the alias “Total Employees”. Return only those rows with </a:t>
            </a:r>
            <a:r>
              <a:rPr lang="en-US" sz="1400" err="1"/>
              <a:t>AnnualSales</a:t>
            </a:r>
            <a:r>
              <a:rPr lang="en-US" sz="1400"/>
              <a:t> greater than 1,000,000 and with </a:t>
            </a:r>
            <a:r>
              <a:rPr lang="en-US" sz="1400" err="1"/>
              <a:t>NumberEmployees</a:t>
            </a:r>
            <a:r>
              <a:rPr lang="en-US" sz="1400"/>
              <a:t> greater than or equal to 45. Order your results by the “Store Size” alias in descending order and then by the “Total Employees” alias in descending order</a:t>
            </a:r>
          </a:p>
        </p:txBody>
      </p:sp>
    </p:spTree>
    <p:extLst>
      <p:ext uri="{BB962C8B-B14F-4D97-AF65-F5344CB8AC3E}">
        <p14:creationId xmlns:p14="http://schemas.microsoft.com/office/powerpoint/2010/main" val="40237541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7285A8-6EB4-44C6-9ACB-4CC45D21736D}"/>
              </a:ext>
            </a:extLst>
          </p:cNvPr>
          <p:cNvSpPr>
            <a:spLocks noGrp="1"/>
          </p:cNvSpPr>
          <p:nvPr>
            <p:ph type="ctrTitle"/>
          </p:nvPr>
        </p:nvSpPr>
        <p:spPr>
          <a:xfrm>
            <a:off x="1700212" y="411061"/>
            <a:ext cx="8791575" cy="1186212"/>
          </a:xfrm>
        </p:spPr>
        <p:txBody>
          <a:bodyPr/>
          <a:lstStyle/>
          <a:p>
            <a:pPr algn="ctr"/>
            <a:r>
              <a:rPr lang="en-US"/>
              <a:t>SQL FOR DATA ANALYSIS </a:t>
            </a:r>
          </a:p>
        </p:txBody>
      </p:sp>
      <p:sp>
        <p:nvSpPr>
          <p:cNvPr id="3" name="Subtitle 2">
            <a:extLst>
              <a:ext uri="{FF2B5EF4-FFF2-40B4-BE49-F238E27FC236}">
                <a16:creationId xmlns:a16="http://schemas.microsoft.com/office/drawing/2014/main" id="{F732812B-5517-445B-B80B-C63947CC015B}"/>
              </a:ext>
            </a:extLst>
          </p:cNvPr>
          <p:cNvSpPr>
            <a:spLocks noGrp="1"/>
          </p:cNvSpPr>
          <p:nvPr>
            <p:ph type="subTitle" idx="1"/>
          </p:nvPr>
        </p:nvSpPr>
        <p:spPr>
          <a:xfrm>
            <a:off x="1826046" y="2292586"/>
            <a:ext cx="8791575" cy="564939"/>
          </a:xfrm>
        </p:spPr>
        <p:txBody>
          <a:bodyPr>
            <a:normAutofit/>
          </a:bodyPr>
          <a:lstStyle/>
          <a:p>
            <a:pPr algn="ctr"/>
            <a:r>
              <a:rPr lang="en-US">
                <a:solidFill>
                  <a:srgbClr val="FFC000"/>
                </a:solidFill>
              </a:rPr>
              <a:t>SORT</a:t>
            </a:r>
            <a:r>
              <a:rPr lang="en-US">
                <a:solidFill>
                  <a:schemeClr val="tx1"/>
                </a:solidFill>
              </a:rPr>
              <a:t> Statement Practice</a:t>
            </a:r>
          </a:p>
        </p:txBody>
      </p:sp>
      <p:sp>
        <p:nvSpPr>
          <p:cNvPr id="6" name="TextBox 5">
            <a:extLst>
              <a:ext uri="{FF2B5EF4-FFF2-40B4-BE49-F238E27FC236}">
                <a16:creationId xmlns:a16="http://schemas.microsoft.com/office/drawing/2014/main" id="{92BB8542-0453-4BA3-9CD2-95838244AA45}"/>
              </a:ext>
            </a:extLst>
          </p:cNvPr>
          <p:cNvSpPr txBox="1"/>
          <p:nvPr/>
        </p:nvSpPr>
        <p:spPr>
          <a:xfrm>
            <a:off x="1826046" y="3429000"/>
            <a:ext cx="9686518" cy="2031325"/>
          </a:xfrm>
          <a:prstGeom prst="rect">
            <a:avLst/>
          </a:prstGeom>
          <a:noFill/>
        </p:spPr>
        <p:txBody>
          <a:bodyPr wrap="square" rtlCol="0">
            <a:spAutoFit/>
          </a:bodyPr>
          <a:lstStyle/>
          <a:p>
            <a:pPr marL="285750" indent="-285750">
              <a:buFont typeface="Arial" panose="020B0604020202020204" pitchFamily="34" charset="0"/>
              <a:buChar char="•"/>
            </a:pPr>
            <a:r>
              <a:rPr lang="en-US" sz="1400"/>
              <a:t>Question 1: SELECT FirstName, </a:t>
            </a:r>
            <a:r>
              <a:rPr lang="en-US" sz="1400" err="1"/>
              <a:t>LastName</a:t>
            </a:r>
            <a:r>
              <a:rPr lang="en-US" sz="1400"/>
              <a:t>, </a:t>
            </a:r>
            <a:r>
              <a:rPr lang="en-US" sz="1400" err="1"/>
              <a:t>JobTitle</a:t>
            </a:r>
            <a:r>
              <a:rPr lang="en-US" sz="1400"/>
              <a:t> FROM </a:t>
            </a:r>
            <a:r>
              <a:rPr lang="en-US" sz="1400" err="1"/>
              <a:t>HumanResources.vEmployeeDepartment</a:t>
            </a:r>
            <a:r>
              <a:rPr lang="en-US" sz="1400"/>
              <a:t> ORDER BY FirstName ASC </a:t>
            </a:r>
          </a:p>
          <a:p>
            <a:pPr marL="285750" indent="-285750">
              <a:buFont typeface="Arial" panose="020B0604020202020204" pitchFamily="34" charset="0"/>
              <a:buChar char="•"/>
            </a:pPr>
            <a:r>
              <a:rPr lang="en-US" sz="1400"/>
              <a:t>Question 2: SELECT FirstName, </a:t>
            </a:r>
            <a:r>
              <a:rPr lang="en-US" sz="1400" err="1"/>
              <a:t>LastName</a:t>
            </a:r>
            <a:r>
              <a:rPr lang="en-US" sz="1400"/>
              <a:t>, </a:t>
            </a:r>
            <a:r>
              <a:rPr lang="en-US" sz="1400" err="1"/>
              <a:t>JobTitle</a:t>
            </a:r>
            <a:r>
              <a:rPr lang="en-US" sz="1400"/>
              <a:t> FROM </a:t>
            </a:r>
            <a:r>
              <a:rPr lang="en-US" sz="1400" err="1"/>
              <a:t>HumanResources.vEmployeeDepartment</a:t>
            </a:r>
            <a:r>
              <a:rPr lang="en-US" sz="1400"/>
              <a:t> ORDER BY FirstName, </a:t>
            </a:r>
            <a:r>
              <a:rPr lang="en-US" sz="1400" err="1"/>
              <a:t>LastName</a:t>
            </a:r>
            <a:r>
              <a:rPr lang="en-US" sz="1400"/>
              <a:t> DESC </a:t>
            </a:r>
          </a:p>
          <a:p>
            <a:pPr marL="285750" indent="-285750">
              <a:buFont typeface="Arial" panose="020B0604020202020204" pitchFamily="34" charset="0"/>
              <a:buChar char="•"/>
            </a:pPr>
            <a:r>
              <a:rPr lang="en-US" sz="1400"/>
              <a:t>Question 3: SELECT FirstName, </a:t>
            </a:r>
            <a:r>
              <a:rPr lang="en-US" sz="1400" err="1"/>
              <a:t>LastName</a:t>
            </a:r>
            <a:r>
              <a:rPr lang="en-US" sz="1400"/>
              <a:t>, </a:t>
            </a:r>
            <a:r>
              <a:rPr lang="en-US" sz="1400" err="1"/>
              <a:t>CountryRegionName</a:t>
            </a:r>
            <a:r>
              <a:rPr lang="en-US" sz="1400"/>
              <a:t> FROM </a:t>
            </a:r>
            <a:r>
              <a:rPr lang="en-US" sz="1400" err="1"/>
              <a:t>Sales.vIndividualCustomer</a:t>
            </a:r>
            <a:r>
              <a:rPr lang="en-US" sz="1400"/>
              <a:t> ORDER BY 3 </a:t>
            </a:r>
          </a:p>
          <a:p>
            <a:pPr marL="285750" indent="-285750">
              <a:buFont typeface="Arial" panose="020B0604020202020204" pitchFamily="34" charset="0"/>
              <a:buChar char="•"/>
            </a:pPr>
            <a:r>
              <a:rPr lang="en-US" sz="1400"/>
              <a:t>Question 4: SELECT FirstName, </a:t>
            </a:r>
            <a:r>
              <a:rPr lang="en-US" sz="1400" err="1"/>
              <a:t>LastName</a:t>
            </a:r>
            <a:r>
              <a:rPr lang="en-US" sz="1400"/>
              <a:t>, </a:t>
            </a:r>
            <a:r>
              <a:rPr lang="en-US" sz="1400" err="1"/>
              <a:t>CountryRegionName</a:t>
            </a:r>
            <a:r>
              <a:rPr lang="en-US" sz="1400"/>
              <a:t> FROM </a:t>
            </a:r>
            <a:r>
              <a:rPr lang="en-US" sz="1400" err="1"/>
              <a:t>Sales.vIndividualCustomer</a:t>
            </a:r>
            <a:r>
              <a:rPr lang="en-US" sz="1400"/>
              <a:t> WHERE </a:t>
            </a:r>
            <a:r>
              <a:rPr lang="en-US" sz="1400" err="1"/>
              <a:t>CountryRegionName</a:t>
            </a:r>
            <a:r>
              <a:rPr lang="en-US" sz="1400"/>
              <a:t> IN ('United States', 'France') ORDER BY </a:t>
            </a:r>
            <a:r>
              <a:rPr lang="en-US" sz="1400" err="1"/>
              <a:t>CountryRegionName</a:t>
            </a:r>
            <a:r>
              <a:rPr lang="en-US" sz="1400"/>
              <a:t> </a:t>
            </a:r>
          </a:p>
          <a:p>
            <a:pPr marL="285750" indent="-285750">
              <a:buFont typeface="Arial" panose="020B0604020202020204" pitchFamily="34" charset="0"/>
              <a:buChar char="•"/>
            </a:pPr>
            <a:r>
              <a:rPr lang="en-US" sz="1400"/>
              <a:t>Question 5: SELECT Name, </a:t>
            </a:r>
            <a:r>
              <a:rPr lang="en-US" sz="1400" err="1"/>
              <a:t>AnnualSales</a:t>
            </a:r>
            <a:r>
              <a:rPr lang="en-US" sz="1400"/>
              <a:t>, </a:t>
            </a:r>
            <a:r>
              <a:rPr lang="en-US" sz="1400" err="1"/>
              <a:t>YearOpened</a:t>
            </a:r>
            <a:r>
              <a:rPr lang="en-US" sz="1400"/>
              <a:t>, </a:t>
            </a:r>
            <a:r>
              <a:rPr lang="en-US" sz="1400" err="1"/>
              <a:t>SquareFeet</a:t>
            </a:r>
            <a:r>
              <a:rPr lang="en-US" sz="1400"/>
              <a:t> AS [Store Size], </a:t>
            </a:r>
            <a:r>
              <a:rPr lang="en-US" sz="1400" err="1"/>
              <a:t>NumberEmployees</a:t>
            </a:r>
            <a:r>
              <a:rPr lang="en-US" sz="1400"/>
              <a:t> AS [Total Employees] FROM </a:t>
            </a:r>
            <a:r>
              <a:rPr lang="en-US" sz="1400" err="1"/>
              <a:t>Sales.vStoreWithDemographics</a:t>
            </a:r>
            <a:r>
              <a:rPr lang="en-US" sz="1400"/>
              <a:t> WHERE </a:t>
            </a:r>
            <a:r>
              <a:rPr lang="en-US" sz="1400" err="1"/>
              <a:t>AnnualSales</a:t>
            </a:r>
            <a:r>
              <a:rPr lang="en-US" sz="1400"/>
              <a:t> &gt; 1000000 AND </a:t>
            </a:r>
            <a:r>
              <a:rPr lang="en-US" sz="1400" err="1"/>
              <a:t>NumberEmployees</a:t>
            </a:r>
            <a:r>
              <a:rPr lang="en-US" sz="1400"/>
              <a:t> &gt;= 45 ORDER BY [Store Size] DESC, [Total Employees] DESC</a:t>
            </a:r>
          </a:p>
        </p:txBody>
      </p:sp>
    </p:spTree>
    <p:extLst>
      <p:ext uri="{BB962C8B-B14F-4D97-AF65-F5344CB8AC3E}">
        <p14:creationId xmlns:p14="http://schemas.microsoft.com/office/powerpoint/2010/main" val="13322190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7285A8-6EB4-44C6-9ACB-4CC45D21736D}"/>
              </a:ext>
            </a:extLst>
          </p:cNvPr>
          <p:cNvSpPr>
            <a:spLocks noGrp="1"/>
          </p:cNvSpPr>
          <p:nvPr>
            <p:ph type="ctrTitle"/>
          </p:nvPr>
        </p:nvSpPr>
        <p:spPr>
          <a:xfrm>
            <a:off x="1700212" y="411061"/>
            <a:ext cx="8791575" cy="1186212"/>
          </a:xfrm>
        </p:spPr>
        <p:txBody>
          <a:bodyPr/>
          <a:lstStyle/>
          <a:p>
            <a:pPr algn="ctr"/>
            <a:r>
              <a:rPr lang="en-US"/>
              <a:t>SQL FOR DATA ANALYSIS </a:t>
            </a:r>
          </a:p>
        </p:txBody>
      </p:sp>
      <p:sp>
        <p:nvSpPr>
          <p:cNvPr id="3" name="Subtitle 2">
            <a:extLst>
              <a:ext uri="{FF2B5EF4-FFF2-40B4-BE49-F238E27FC236}">
                <a16:creationId xmlns:a16="http://schemas.microsoft.com/office/drawing/2014/main" id="{F732812B-5517-445B-B80B-C63947CC015B}"/>
              </a:ext>
            </a:extLst>
          </p:cNvPr>
          <p:cNvSpPr>
            <a:spLocks noGrp="1"/>
          </p:cNvSpPr>
          <p:nvPr>
            <p:ph type="subTitle" idx="1"/>
          </p:nvPr>
        </p:nvSpPr>
        <p:spPr>
          <a:xfrm>
            <a:off x="1826045" y="1719007"/>
            <a:ext cx="8791575" cy="564939"/>
          </a:xfrm>
        </p:spPr>
        <p:txBody>
          <a:bodyPr>
            <a:normAutofit/>
          </a:bodyPr>
          <a:lstStyle/>
          <a:p>
            <a:pPr algn="ctr"/>
            <a:r>
              <a:rPr lang="en-US">
                <a:solidFill>
                  <a:srgbClr val="FFC000"/>
                </a:solidFill>
              </a:rPr>
              <a:t>JOIN</a:t>
            </a:r>
            <a:r>
              <a:rPr lang="en-US">
                <a:solidFill>
                  <a:schemeClr val="tx1"/>
                </a:solidFill>
              </a:rPr>
              <a:t> Statement Practice</a:t>
            </a:r>
          </a:p>
        </p:txBody>
      </p:sp>
      <p:pic>
        <p:nvPicPr>
          <p:cNvPr id="1026" name="Picture 2" descr="SQL JOIN - Dofactory">
            <a:extLst>
              <a:ext uri="{FF2B5EF4-FFF2-40B4-BE49-F238E27FC236}">
                <a16:creationId xmlns:a16="http://schemas.microsoft.com/office/drawing/2014/main" id="{B0A591F2-142F-458D-90A9-B38DE219BEB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50158" y="2559141"/>
            <a:ext cx="4248150" cy="31146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798953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7285A8-6EB4-44C6-9ACB-4CC45D21736D}"/>
              </a:ext>
            </a:extLst>
          </p:cNvPr>
          <p:cNvSpPr>
            <a:spLocks noGrp="1"/>
          </p:cNvSpPr>
          <p:nvPr>
            <p:ph type="ctrTitle"/>
          </p:nvPr>
        </p:nvSpPr>
        <p:spPr>
          <a:xfrm>
            <a:off x="1700212" y="411061"/>
            <a:ext cx="8791575" cy="1186212"/>
          </a:xfrm>
        </p:spPr>
        <p:txBody>
          <a:bodyPr/>
          <a:lstStyle/>
          <a:p>
            <a:pPr algn="ctr"/>
            <a:r>
              <a:rPr lang="en-US"/>
              <a:t>SQL FOR DATA ANALYSIS </a:t>
            </a:r>
          </a:p>
        </p:txBody>
      </p:sp>
      <p:sp>
        <p:nvSpPr>
          <p:cNvPr id="3" name="Subtitle 2">
            <a:extLst>
              <a:ext uri="{FF2B5EF4-FFF2-40B4-BE49-F238E27FC236}">
                <a16:creationId xmlns:a16="http://schemas.microsoft.com/office/drawing/2014/main" id="{F732812B-5517-445B-B80B-C63947CC015B}"/>
              </a:ext>
            </a:extLst>
          </p:cNvPr>
          <p:cNvSpPr>
            <a:spLocks noGrp="1"/>
          </p:cNvSpPr>
          <p:nvPr>
            <p:ph type="subTitle" idx="1"/>
          </p:nvPr>
        </p:nvSpPr>
        <p:spPr>
          <a:xfrm>
            <a:off x="1826046" y="2292586"/>
            <a:ext cx="8791575" cy="564939"/>
          </a:xfrm>
        </p:spPr>
        <p:txBody>
          <a:bodyPr>
            <a:normAutofit/>
          </a:bodyPr>
          <a:lstStyle/>
          <a:p>
            <a:pPr algn="ctr"/>
            <a:r>
              <a:rPr lang="en-US">
                <a:solidFill>
                  <a:srgbClr val="FFC000"/>
                </a:solidFill>
              </a:rPr>
              <a:t>INNER JOIN</a:t>
            </a:r>
            <a:r>
              <a:rPr lang="en-US">
                <a:solidFill>
                  <a:schemeClr val="tx1"/>
                </a:solidFill>
              </a:rPr>
              <a:t> Statement Practice</a:t>
            </a:r>
          </a:p>
        </p:txBody>
      </p:sp>
      <p:sp>
        <p:nvSpPr>
          <p:cNvPr id="7" name="TextBox 6">
            <a:extLst>
              <a:ext uri="{FF2B5EF4-FFF2-40B4-BE49-F238E27FC236}">
                <a16:creationId xmlns:a16="http://schemas.microsoft.com/office/drawing/2014/main" id="{5602BC6C-82FE-44D2-86DC-D8987AD1C240}"/>
              </a:ext>
            </a:extLst>
          </p:cNvPr>
          <p:cNvSpPr txBox="1"/>
          <p:nvPr/>
        </p:nvSpPr>
        <p:spPr>
          <a:xfrm>
            <a:off x="3047999" y="2857525"/>
            <a:ext cx="8334104" cy="1569660"/>
          </a:xfrm>
          <a:prstGeom prst="rect">
            <a:avLst/>
          </a:prstGeom>
          <a:noFill/>
        </p:spPr>
        <p:txBody>
          <a:bodyPr wrap="square">
            <a:spAutoFit/>
          </a:bodyPr>
          <a:lstStyle/>
          <a:p>
            <a:pPr marL="228600" indent="-228600">
              <a:buAutoNum type="arabicParenR"/>
            </a:pPr>
            <a:r>
              <a:rPr lang="en-US" sz="1200"/>
              <a:t>Using the </a:t>
            </a:r>
            <a:r>
              <a:rPr lang="en-US" sz="1200" err="1"/>
              <a:t>Person.Person</a:t>
            </a:r>
            <a:r>
              <a:rPr lang="en-US" sz="1200"/>
              <a:t> and </a:t>
            </a:r>
            <a:r>
              <a:rPr lang="en-US" sz="1200" err="1"/>
              <a:t>Person.Password</a:t>
            </a:r>
            <a:r>
              <a:rPr lang="en-US" sz="1200"/>
              <a:t> tables, INNER JOIN the two tables using the </a:t>
            </a:r>
            <a:r>
              <a:rPr lang="en-US" sz="1200" err="1"/>
              <a:t>BusinessEntityID</a:t>
            </a:r>
            <a:r>
              <a:rPr lang="en-US" sz="1200"/>
              <a:t> column and return the FirstName and </a:t>
            </a:r>
            <a:r>
              <a:rPr lang="en-US" sz="1200" err="1"/>
              <a:t>LastName</a:t>
            </a:r>
            <a:r>
              <a:rPr lang="en-US" sz="1200"/>
              <a:t> columns from </a:t>
            </a:r>
            <a:r>
              <a:rPr lang="en-US" sz="1200" err="1"/>
              <a:t>Person.Person</a:t>
            </a:r>
            <a:r>
              <a:rPr lang="en-US" sz="1200"/>
              <a:t> and then </a:t>
            </a:r>
            <a:r>
              <a:rPr lang="en-US" sz="1200" err="1"/>
              <a:t>PasswordHash</a:t>
            </a:r>
            <a:r>
              <a:rPr lang="en-US" sz="1200"/>
              <a:t> column from </a:t>
            </a:r>
            <a:r>
              <a:rPr lang="en-US" sz="1200" err="1"/>
              <a:t>Person.Password</a:t>
            </a:r>
            <a:r>
              <a:rPr lang="en-US" sz="1200"/>
              <a:t> </a:t>
            </a:r>
          </a:p>
          <a:p>
            <a:r>
              <a:rPr lang="en-US" sz="1200"/>
              <a:t>2) Join the </a:t>
            </a:r>
            <a:r>
              <a:rPr lang="en-US" sz="1200" err="1"/>
              <a:t>HumanResources.Employee</a:t>
            </a:r>
            <a:r>
              <a:rPr lang="en-US" sz="1200"/>
              <a:t> and the </a:t>
            </a:r>
            <a:r>
              <a:rPr lang="en-US" sz="1200" err="1"/>
              <a:t>HumanResources.EmployeeDepartmentHistory</a:t>
            </a:r>
            <a:r>
              <a:rPr lang="en-US" sz="1200"/>
              <a:t> tables together via an INNER JOIN using the </a:t>
            </a:r>
            <a:r>
              <a:rPr lang="en-US" sz="1200" err="1"/>
              <a:t>BusinessEntityID</a:t>
            </a:r>
            <a:r>
              <a:rPr lang="en-US" sz="1200"/>
              <a:t> column. Return the </a:t>
            </a:r>
            <a:r>
              <a:rPr lang="en-US" sz="1200" err="1"/>
              <a:t>BusinessEntityID</a:t>
            </a:r>
            <a:r>
              <a:rPr lang="en-US" sz="1200"/>
              <a:t>, </a:t>
            </a:r>
            <a:r>
              <a:rPr lang="en-US" sz="1200" err="1"/>
              <a:t>NationalIDNumber</a:t>
            </a:r>
            <a:r>
              <a:rPr lang="en-US" sz="1200"/>
              <a:t> and </a:t>
            </a:r>
            <a:r>
              <a:rPr lang="en-US" sz="1200" err="1"/>
              <a:t>JobTitle</a:t>
            </a:r>
            <a:r>
              <a:rPr lang="en-US" sz="1200"/>
              <a:t> columns from </a:t>
            </a:r>
            <a:r>
              <a:rPr lang="en-US" sz="1200" err="1"/>
              <a:t>HumanResources.Employee</a:t>
            </a:r>
            <a:r>
              <a:rPr lang="en-US" sz="1200"/>
              <a:t> and the </a:t>
            </a:r>
            <a:r>
              <a:rPr lang="en-US" sz="1200" err="1"/>
              <a:t>DepartmentID</a:t>
            </a:r>
            <a:r>
              <a:rPr lang="en-US" sz="1200"/>
              <a:t>, StartDate, and </a:t>
            </a:r>
            <a:r>
              <a:rPr lang="en-US" sz="1200" err="1"/>
              <a:t>EndDate</a:t>
            </a:r>
            <a:r>
              <a:rPr lang="en-US" sz="1200"/>
              <a:t> columns from </a:t>
            </a:r>
            <a:r>
              <a:rPr lang="en-US" sz="1200" err="1"/>
              <a:t>HumanResources.EmployeeDepartmentHistory</a:t>
            </a:r>
            <a:r>
              <a:rPr lang="en-US" sz="1200"/>
              <a:t>. Notice the number of rows returned. Why is the row count what it is? </a:t>
            </a:r>
          </a:p>
          <a:p>
            <a:r>
              <a:rPr lang="en-US" sz="1200"/>
              <a:t>3) Expand upon the query used in question 1. Using the existing query, add another INNER JOIN to the </a:t>
            </a:r>
            <a:r>
              <a:rPr lang="en-US" sz="1200" err="1"/>
              <a:t>Person.EmailAddress</a:t>
            </a:r>
            <a:r>
              <a:rPr lang="en-US" sz="1200"/>
              <a:t> table and include the </a:t>
            </a:r>
            <a:r>
              <a:rPr lang="en-US" sz="1200" err="1"/>
              <a:t>EmailAddress</a:t>
            </a:r>
            <a:r>
              <a:rPr lang="en-US" sz="1200"/>
              <a:t> column in your select statement. </a:t>
            </a:r>
          </a:p>
        </p:txBody>
      </p:sp>
    </p:spTree>
    <p:extLst>
      <p:ext uri="{BB962C8B-B14F-4D97-AF65-F5344CB8AC3E}">
        <p14:creationId xmlns:p14="http://schemas.microsoft.com/office/powerpoint/2010/main" val="28671742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7285A8-6EB4-44C6-9ACB-4CC45D21736D}"/>
              </a:ext>
            </a:extLst>
          </p:cNvPr>
          <p:cNvSpPr>
            <a:spLocks noGrp="1"/>
          </p:cNvSpPr>
          <p:nvPr>
            <p:ph type="ctrTitle"/>
          </p:nvPr>
        </p:nvSpPr>
        <p:spPr>
          <a:xfrm>
            <a:off x="1700212" y="411061"/>
            <a:ext cx="8791575" cy="1186212"/>
          </a:xfrm>
        </p:spPr>
        <p:txBody>
          <a:bodyPr/>
          <a:lstStyle/>
          <a:p>
            <a:pPr algn="ctr"/>
            <a:r>
              <a:rPr lang="en-US"/>
              <a:t>SQL FOR DATA ANALYSIS </a:t>
            </a:r>
          </a:p>
        </p:txBody>
      </p:sp>
      <p:sp>
        <p:nvSpPr>
          <p:cNvPr id="3" name="Subtitle 2">
            <a:extLst>
              <a:ext uri="{FF2B5EF4-FFF2-40B4-BE49-F238E27FC236}">
                <a16:creationId xmlns:a16="http://schemas.microsoft.com/office/drawing/2014/main" id="{F732812B-5517-445B-B80B-C63947CC015B}"/>
              </a:ext>
            </a:extLst>
          </p:cNvPr>
          <p:cNvSpPr>
            <a:spLocks noGrp="1"/>
          </p:cNvSpPr>
          <p:nvPr>
            <p:ph type="subTitle" idx="1"/>
          </p:nvPr>
        </p:nvSpPr>
        <p:spPr>
          <a:xfrm>
            <a:off x="1826046" y="2292586"/>
            <a:ext cx="8791575" cy="564939"/>
          </a:xfrm>
        </p:spPr>
        <p:txBody>
          <a:bodyPr>
            <a:normAutofit/>
          </a:bodyPr>
          <a:lstStyle/>
          <a:p>
            <a:pPr algn="ctr"/>
            <a:r>
              <a:rPr lang="en-US">
                <a:solidFill>
                  <a:srgbClr val="FFC000"/>
                </a:solidFill>
              </a:rPr>
              <a:t>INNER JOIN</a:t>
            </a:r>
            <a:r>
              <a:rPr lang="en-US">
                <a:solidFill>
                  <a:schemeClr val="tx1"/>
                </a:solidFill>
              </a:rPr>
              <a:t> Statement Practice</a:t>
            </a:r>
          </a:p>
        </p:txBody>
      </p:sp>
      <p:sp>
        <p:nvSpPr>
          <p:cNvPr id="6" name="TextBox 5">
            <a:extLst>
              <a:ext uri="{FF2B5EF4-FFF2-40B4-BE49-F238E27FC236}">
                <a16:creationId xmlns:a16="http://schemas.microsoft.com/office/drawing/2014/main" id="{92BB8542-0453-4BA3-9CD2-95838244AA45}"/>
              </a:ext>
            </a:extLst>
          </p:cNvPr>
          <p:cNvSpPr txBox="1"/>
          <p:nvPr/>
        </p:nvSpPr>
        <p:spPr>
          <a:xfrm>
            <a:off x="2545096" y="3343832"/>
            <a:ext cx="8523497" cy="1384995"/>
          </a:xfrm>
          <a:prstGeom prst="rect">
            <a:avLst/>
          </a:prstGeom>
          <a:noFill/>
        </p:spPr>
        <p:txBody>
          <a:bodyPr wrap="square" rtlCol="0">
            <a:spAutoFit/>
          </a:bodyPr>
          <a:lstStyle/>
          <a:p>
            <a:pPr marL="285750" indent="-285750">
              <a:buFont typeface="Arial" panose="020B0604020202020204" pitchFamily="34" charset="0"/>
              <a:buChar char="•"/>
            </a:pPr>
            <a:r>
              <a:rPr lang="en-US" sz="1200"/>
              <a:t>Question 1: SELECT </a:t>
            </a:r>
            <a:r>
              <a:rPr lang="en-US" sz="1200" err="1"/>
              <a:t>P.FirstName</a:t>
            </a:r>
            <a:r>
              <a:rPr lang="en-US" sz="1200"/>
              <a:t>, </a:t>
            </a:r>
            <a:r>
              <a:rPr lang="en-US" sz="1200" err="1"/>
              <a:t>P.LastName</a:t>
            </a:r>
            <a:r>
              <a:rPr lang="en-US" sz="1200"/>
              <a:t>, </a:t>
            </a:r>
            <a:r>
              <a:rPr lang="en-US" sz="1200" err="1"/>
              <a:t>PP.PasswordHash</a:t>
            </a:r>
            <a:r>
              <a:rPr lang="en-US" sz="1200"/>
              <a:t> FROM </a:t>
            </a:r>
            <a:r>
              <a:rPr lang="en-US" sz="1200" err="1"/>
              <a:t>Person.Person</a:t>
            </a:r>
            <a:r>
              <a:rPr lang="en-US" sz="1200"/>
              <a:t> P INNER JOIN Person.[Password] PP ON </a:t>
            </a:r>
            <a:r>
              <a:rPr lang="en-US" sz="1200" err="1"/>
              <a:t>PP.BusinessEntityID</a:t>
            </a:r>
            <a:r>
              <a:rPr lang="en-US" sz="1200"/>
              <a:t> = </a:t>
            </a:r>
            <a:r>
              <a:rPr lang="en-US" sz="1200" err="1"/>
              <a:t>P.BusinessEntityID</a:t>
            </a:r>
            <a:r>
              <a:rPr lang="en-US" sz="1200"/>
              <a:t> </a:t>
            </a:r>
          </a:p>
          <a:p>
            <a:pPr marL="285750" indent="-285750">
              <a:buFont typeface="Arial" panose="020B0604020202020204" pitchFamily="34" charset="0"/>
              <a:buChar char="•"/>
            </a:pPr>
            <a:r>
              <a:rPr lang="en-US" sz="1200"/>
              <a:t>Question 2: SELECT </a:t>
            </a:r>
            <a:r>
              <a:rPr lang="en-US" sz="1200" err="1"/>
              <a:t>E.BusinessEntityID</a:t>
            </a:r>
            <a:r>
              <a:rPr lang="en-US" sz="1200"/>
              <a:t>, </a:t>
            </a:r>
            <a:r>
              <a:rPr lang="en-US" sz="1200" err="1"/>
              <a:t>E.NationalIDNumber</a:t>
            </a:r>
            <a:r>
              <a:rPr lang="en-US" sz="1200"/>
              <a:t>, </a:t>
            </a:r>
            <a:r>
              <a:rPr lang="en-US" sz="1200" err="1"/>
              <a:t>E.JobTitle</a:t>
            </a:r>
            <a:r>
              <a:rPr lang="en-US" sz="1200"/>
              <a:t>, </a:t>
            </a:r>
            <a:r>
              <a:rPr lang="en-US" sz="1200" err="1"/>
              <a:t>EDH.DepartmentID</a:t>
            </a:r>
            <a:r>
              <a:rPr lang="en-US" sz="1200"/>
              <a:t>, </a:t>
            </a:r>
            <a:r>
              <a:rPr lang="en-US" sz="1200" err="1"/>
              <a:t>EDH.StartDate</a:t>
            </a:r>
            <a:r>
              <a:rPr lang="en-US" sz="1200"/>
              <a:t>, </a:t>
            </a:r>
            <a:r>
              <a:rPr lang="en-US" sz="1200" err="1"/>
              <a:t>EDH.EndDate</a:t>
            </a:r>
            <a:r>
              <a:rPr lang="en-US" sz="1200"/>
              <a:t> FROM </a:t>
            </a:r>
            <a:r>
              <a:rPr lang="en-US" sz="1200" err="1"/>
              <a:t>HumanResources.Employee</a:t>
            </a:r>
            <a:r>
              <a:rPr lang="en-US" sz="1200"/>
              <a:t> E INNER JOIN </a:t>
            </a:r>
            <a:r>
              <a:rPr lang="en-US" sz="1200" err="1"/>
              <a:t>HumanResources.EmployeeDepartmentHistory</a:t>
            </a:r>
            <a:r>
              <a:rPr lang="en-US" sz="1200"/>
              <a:t> EDH ON </a:t>
            </a:r>
            <a:r>
              <a:rPr lang="en-US" sz="1200" err="1"/>
              <a:t>E.BusinessEntityID</a:t>
            </a:r>
            <a:r>
              <a:rPr lang="en-US" sz="1200"/>
              <a:t> = </a:t>
            </a:r>
            <a:r>
              <a:rPr lang="en-US" sz="1200" err="1"/>
              <a:t>EDH.BusinessEntityID</a:t>
            </a:r>
            <a:r>
              <a:rPr lang="en-US" sz="1200"/>
              <a:t> </a:t>
            </a:r>
          </a:p>
          <a:p>
            <a:pPr marL="285750" indent="-285750">
              <a:buFont typeface="Arial" panose="020B0604020202020204" pitchFamily="34" charset="0"/>
              <a:buChar char="•"/>
            </a:pPr>
            <a:r>
              <a:rPr lang="en-US" sz="1200"/>
              <a:t>Question 3: SELECT </a:t>
            </a:r>
            <a:r>
              <a:rPr lang="en-US" sz="1200" err="1"/>
              <a:t>P.FirstName</a:t>
            </a:r>
            <a:r>
              <a:rPr lang="en-US" sz="1200"/>
              <a:t>, </a:t>
            </a:r>
            <a:r>
              <a:rPr lang="en-US" sz="1200" err="1"/>
              <a:t>P.LastName</a:t>
            </a:r>
            <a:r>
              <a:rPr lang="en-US" sz="1200"/>
              <a:t>, </a:t>
            </a:r>
            <a:r>
              <a:rPr lang="en-US" sz="1200" err="1"/>
              <a:t>PP.PasswordHash</a:t>
            </a:r>
            <a:r>
              <a:rPr lang="en-US" sz="1200"/>
              <a:t>, </a:t>
            </a:r>
            <a:r>
              <a:rPr lang="en-US" sz="1200" err="1"/>
              <a:t>E.EmailAddress</a:t>
            </a:r>
            <a:r>
              <a:rPr lang="en-US" sz="1200"/>
              <a:t> FROM </a:t>
            </a:r>
            <a:r>
              <a:rPr lang="en-US" sz="1200" err="1"/>
              <a:t>Person.Person</a:t>
            </a:r>
            <a:r>
              <a:rPr lang="en-US" sz="1200"/>
              <a:t> P INNER JOIN Person.[Password] PP ON </a:t>
            </a:r>
            <a:r>
              <a:rPr lang="en-US" sz="1200" err="1"/>
              <a:t>PP.BusinessEntityID</a:t>
            </a:r>
            <a:r>
              <a:rPr lang="en-US" sz="1200"/>
              <a:t> = </a:t>
            </a:r>
            <a:r>
              <a:rPr lang="en-US" sz="1200" err="1"/>
              <a:t>P.BusinessEntityID</a:t>
            </a:r>
            <a:r>
              <a:rPr lang="en-US" sz="1200"/>
              <a:t> INNER JOIN </a:t>
            </a:r>
            <a:r>
              <a:rPr lang="en-US" sz="1200" err="1"/>
              <a:t>Person.EmailAddress</a:t>
            </a:r>
            <a:r>
              <a:rPr lang="en-US" sz="1200"/>
              <a:t> E ON </a:t>
            </a:r>
            <a:r>
              <a:rPr lang="en-US" sz="1200" err="1"/>
              <a:t>E.BusinessEntityID</a:t>
            </a:r>
            <a:r>
              <a:rPr lang="en-US" sz="1200"/>
              <a:t> = </a:t>
            </a:r>
            <a:r>
              <a:rPr lang="en-US" sz="1200" err="1"/>
              <a:t>P.BusinessEntityID</a:t>
            </a:r>
            <a:r>
              <a:rPr lang="en-US" sz="1200"/>
              <a:t> </a:t>
            </a:r>
          </a:p>
        </p:txBody>
      </p:sp>
    </p:spTree>
    <p:extLst>
      <p:ext uri="{BB962C8B-B14F-4D97-AF65-F5344CB8AC3E}">
        <p14:creationId xmlns:p14="http://schemas.microsoft.com/office/powerpoint/2010/main" val="12668994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7285A8-6EB4-44C6-9ACB-4CC45D21736D}"/>
              </a:ext>
            </a:extLst>
          </p:cNvPr>
          <p:cNvSpPr>
            <a:spLocks noGrp="1"/>
          </p:cNvSpPr>
          <p:nvPr>
            <p:ph type="ctrTitle"/>
          </p:nvPr>
        </p:nvSpPr>
        <p:spPr>
          <a:xfrm>
            <a:off x="1700212" y="411061"/>
            <a:ext cx="8791575" cy="1186212"/>
          </a:xfrm>
        </p:spPr>
        <p:txBody>
          <a:bodyPr/>
          <a:lstStyle/>
          <a:p>
            <a:pPr algn="ctr"/>
            <a:r>
              <a:rPr lang="en-US"/>
              <a:t>SQL FOR DATA ANALYSIS </a:t>
            </a:r>
          </a:p>
        </p:txBody>
      </p:sp>
      <p:sp>
        <p:nvSpPr>
          <p:cNvPr id="3" name="Subtitle 2">
            <a:extLst>
              <a:ext uri="{FF2B5EF4-FFF2-40B4-BE49-F238E27FC236}">
                <a16:creationId xmlns:a16="http://schemas.microsoft.com/office/drawing/2014/main" id="{F732812B-5517-445B-B80B-C63947CC015B}"/>
              </a:ext>
            </a:extLst>
          </p:cNvPr>
          <p:cNvSpPr>
            <a:spLocks noGrp="1"/>
          </p:cNvSpPr>
          <p:nvPr>
            <p:ph type="subTitle" idx="1"/>
          </p:nvPr>
        </p:nvSpPr>
        <p:spPr>
          <a:xfrm>
            <a:off x="1887006" y="1796197"/>
            <a:ext cx="8791575" cy="564939"/>
          </a:xfrm>
        </p:spPr>
        <p:txBody>
          <a:bodyPr>
            <a:normAutofit/>
          </a:bodyPr>
          <a:lstStyle/>
          <a:p>
            <a:pPr algn="ctr"/>
            <a:r>
              <a:rPr lang="en-US">
                <a:solidFill>
                  <a:srgbClr val="FFC000"/>
                </a:solidFill>
              </a:rPr>
              <a:t>RIGHT &amp; LEFT JOIN</a:t>
            </a:r>
            <a:r>
              <a:rPr lang="en-US">
                <a:solidFill>
                  <a:schemeClr val="tx1"/>
                </a:solidFill>
              </a:rPr>
              <a:t> Statement Practice</a:t>
            </a:r>
          </a:p>
        </p:txBody>
      </p:sp>
      <p:sp>
        <p:nvSpPr>
          <p:cNvPr id="6" name="TextBox 5">
            <a:extLst>
              <a:ext uri="{FF2B5EF4-FFF2-40B4-BE49-F238E27FC236}">
                <a16:creationId xmlns:a16="http://schemas.microsoft.com/office/drawing/2014/main" id="{92BB8542-0453-4BA3-9CD2-95838244AA45}"/>
              </a:ext>
            </a:extLst>
          </p:cNvPr>
          <p:cNvSpPr txBox="1"/>
          <p:nvPr/>
        </p:nvSpPr>
        <p:spPr>
          <a:xfrm>
            <a:off x="3224366" y="2485260"/>
            <a:ext cx="6659462" cy="3754874"/>
          </a:xfrm>
          <a:prstGeom prst="rect">
            <a:avLst/>
          </a:prstGeom>
          <a:noFill/>
        </p:spPr>
        <p:txBody>
          <a:bodyPr wrap="square" rtlCol="0">
            <a:spAutoFit/>
          </a:bodyPr>
          <a:lstStyle/>
          <a:p>
            <a:pPr marL="285750" indent="-285750">
              <a:buFont typeface="Arial" panose="020B0604020202020204" pitchFamily="34" charset="0"/>
              <a:buChar char="•"/>
            </a:pPr>
            <a:r>
              <a:rPr lang="en-US" sz="1400"/>
              <a:t>1) Return the </a:t>
            </a:r>
            <a:r>
              <a:rPr lang="en-US" sz="1400" err="1"/>
              <a:t>BusinessEntityID</a:t>
            </a:r>
            <a:r>
              <a:rPr lang="en-US" sz="1400"/>
              <a:t> and </a:t>
            </a:r>
            <a:r>
              <a:rPr lang="en-US" sz="1400" err="1"/>
              <a:t>SalesYTD</a:t>
            </a:r>
            <a:r>
              <a:rPr lang="en-US" sz="1400"/>
              <a:t> column from </a:t>
            </a:r>
            <a:r>
              <a:rPr lang="en-US" sz="1400" err="1"/>
              <a:t>Sales.SalesPerson</a:t>
            </a:r>
            <a:r>
              <a:rPr lang="en-US" sz="1400"/>
              <a:t>. Join this table to the </a:t>
            </a:r>
            <a:r>
              <a:rPr lang="en-US" sz="1400" err="1"/>
              <a:t>Sales.SalesTerritory</a:t>
            </a:r>
            <a:r>
              <a:rPr lang="en-US" sz="1400"/>
              <a:t> table in such a way that every in </a:t>
            </a:r>
            <a:r>
              <a:rPr lang="en-US" sz="1400" err="1"/>
              <a:t>Sales.SalesPerson</a:t>
            </a:r>
            <a:r>
              <a:rPr lang="en-US" sz="1400"/>
              <a:t> will be returned regardless of whether or not they are assigned to a territory. Also, return the Name column from </a:t>
            </a:r>
            <a:r>
              <a:rPr lang="en-US" sz="1400" err="1"/>
              <a:t>Sales.SalesTerritory</a:t>
            </a:r>
            <a:r>
              <a:rPr lang="en-US" sz="1400"/>
              <a:t>. Give this column the column alias “Territory Name”. </a:t>
            </a:r>
          </a:p>
          <a:p>
            <a:pPr marL="285750" indent="-285750">
              <a:buFont typeface="Arial" panose="020B0604020202020204" pitchFamily="34" charset="0"/>
              <a:buChar char="•"/>
            </a:pPr>
            <a:r>
              <a:rPr lang="en-US" sz="1400"/>
              <a:t>2) Using the previous example as your foundation, join to the </a:t>
            </a:r>
            <a:r>
              <a:rPr lang="en-US" sz="1400" err="1"/>
              <a:t>Person.Person</a:t>
            </a:r>
            <a:r>
              <a:rPr lang="en-US" sz="1400"/>
              <a:t> table to return the sales person’s first name and last name. Now, only include those rows where the territory’s name is either “Northeast” or “Central” </a:t>
            </a:r>
          </a:p>
          <a:p>
            <a:pPr marL="285750" indent="-285750">
              <a:buFont typeface="Arial" panose="020B0604020202020204" pitchFamily="34" charset="0"/>
              <a:buChar char="•"/>
            </a:pPr>
            <a:r>
              <a:rPr lang="en-US" sz="1400"/>
              <a:t>3) Return the Name and </a:t>
            </a:r>
            <a:r>
              <a:rPr lang="en-US" sz="1400" err="1"/>
              <a:t>ListPrice</a:t>
            </a:r>
            <a:r>
              <a:rPr lang="en-US" sz="1400"/>
              <a:t> columns from </a:t>
            </a:r>
            <a:r>
              <a:rPr lang="en-US" sz="1400" err="1"/>
              <a:t>Production.Product</a:t>
            </a:r>
            <a:r>
              <a:rPr lang="en-US" sz="1400"/>
              <a:t>. For each product, regardless of whether or not it has an assigned </a:t>
            </a:r>
            <a:r>
              <a:rPr lang="en-US" sz="1400" err="1"/>
              <a:t>ProductSubcategoryID</a:t>
            </a:r>
            <a:r>
              <a:rPr lang="en-US" sz="1400"/>
              <a:t>, return the Name column from </a:t>
            </a:r>
            <a:r>
              <a:rPr lang="en-US" sz="1400" err="1"/>
              <a:t>Product.ProductSubcategory</a:t>
            </a:r>
            <a:r>
              <a:rPr lang="en-US" sz="1400"/>
              <a:t> for each product. Then, return the Name column from </a:t>
            </a:r>
            <a:r>
              <a:rPr lang="en-US" sz="1400" err="1"/>
              <a:t>Production.ProductCategory</a:t>
            </a:r>
            <a:r>
              <a:rPr lang="en-US" sz="1400"/>
              <a:t> for each row. Give the Name column from </a:t>
            </a:r>
            <a:r>
              <a:rPr lang="en-US" sz="1400" err="1"/>
              <a:t>Production.Product</a:t>
            </a:r>
            <a:r>
              <a:rPr lang="en-US" sz="1400"/>
              <a:t> the alias “ProductName”, the Name column from </a:t>
            </a:r>
            <a:r>
              <a:rPr lang="en-US" sz="1400" err="1"/>
              <a:t>Production.ProductSubcategory</a:t>
            </a:r>
            <a:r>
              <a:rPr lang="en-US" sz="1400"/>
              <a:t> the alias “</a:t>
            </a:r>
            <a:r>
              <a:rPr lang="en-US" sz="1400" err="1"/>
              <a:t>ProductSubcategoryName</a:t>
            </a:r>
            <a:r>
              <a:rPr lang="en-US" sz="1400"/>
              <a:t>”, and the Name column from </a:t>
            </a:r>
            <a:r>
              <a:rPr lang="en-US" sz="1400" err="1"/>
              <a:t>Production.ProductCategory</a:t>
            </a:r>
            <a:r>
              <a:rPr lang="en-US" sz="1400"/>
              <a:t> the alias “</a:t>
            </a:r>
            <a:r>
              <a:rPr lang="en-US" sz="1400" err="1"/>
              <a:t>ProductCategoryName</a:t>
            </a:r>
            <a:r>
              <a:rPr lang="en-US" sz="1400"/>
              <a:t>”. Order the results by the “</a:t>
            </a:r>
            <a:r>
              <a:rPr lang="en-US" sz="1400" err="1"/>
              <a:t>ProductCategoryName</a:t>
            </a:r>
            <a:r>
              <a:rPr lang="en-US" sz="1400"/>
              <a:t>” in descending order and then the “</a:t>
            </a:r>
            <a:r>
              <a:rPr lang="en-US" sz="1400" err="1"/>
              <a:t>ProductSubcategoryName</a:t>
            </a:r>
            <a:r>
              <a:rPr lang="en-US" sz="1400"/>
              <a:t>” in ascending order</a:t>
            </a:r>
          </a:p>
        </p:txBody>
      </p:sp>
    </p:spTree>
    <p:extLst>
      <p:ext uri="{BB962C8B-B14F-4D97-AF65-F5344CB8AC3E}">
        <p14:creationId xmlns:p14="http://schemas.microsoft.com/office/powerpoint/2010/main" val="17630893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7285A8-6EB4-44C6-9ACB-4CC45D21736D}"/>
              </a:ext>
            </a:extLst>
          </p:cNvPr>
          <p:cNvSpPr>
            <a:spLocks noGrp="1"/>
          </p:cNvSpPr>
          <p:nvPr>
            <p:ph type="ctrTitle"/>
          </p:nvPr>
        </p:nvSpPr>
        <p:spPr>
          <a:xfrm>
            <a:off x="1700212" y="411061"/>
            <a:ext cx="8791575" cy="1186212"/>
          </a:xfrm>
        </p:spPr>
        <p:txBody>
          <a:bodyPr/>
          <a:lstStyle/>
          <a:p>
            <a:pPr algn="ctr"/>
            <a:r>
              <a:rPr lang="en-US"/>
              <a:t>SQL FOR DATA ANALYSIS </a:t>
            </a:r>
          </a:p>
        </p:txBody>
      </p:sp>
      <p:sp>
        <p:nvSpPr>
          <p:cNvPr id="3" name="Subtitle 2">
            <a:extLst>
              <a:ext uri="{FF2B5EF4-FFF2-40B4-BE49-F238E27FC236}">
                <a16:creationId xmlns:a16="http://schemas.microsoft.com/office/drawing/2014/main" id="{F732812B-5517-445B-B80B-C63947CC015B}"/>
              </a:ext>
            </a:extLst>
          </p:cNvPr>
          <p:cNvSpPr>
            <a:spLocks noGrp="1"/>
          </p:cNvSpPr>
          <p:nvPr>
            <p:ph type="subTitle" idx="1"/>
          </p:nvPr>
        </p:nvSpPr>
        <p:spPr>
          <a:xfrm>
            <a:off x="1826046" y="2292586"/>
            <a:ext cx="8791575" cy="564939"/>
          </a:xfrm>
        </p:spPr>
        <p:txBody>
          <a:bodyPr>
            <a:normAutofit/>
          </a:bodyPr>
          <a:lstStyle/>
          <a:p>
            <a:pPr algn="ctr"/>
            <a:r>
              <a:rPr lang="en-US">
                <a:solidFill>
                  <a:srgbClr val="FFC000"/>
                </a:solidFill>
              </a:rPr>
              <a:t>RIGHT &amp; LEFT JOIN</a:t>
            </a:r>
            <a:r>
              <a:rPr lang="en-US">
                <a:solidFill>
                  <a:schemeClr val="tx1"/>
                </a:solidFill>
              </a:rPr>
              <a:t> Statement Practice</a:t>
            </a:r>
          </a:p>
        </p:txBody>
      </p:sp>
      <p:sp>
        <p:nvSpPr>
          <p:cNvPr id="6" name="TextBox 5">
            <a:extLst>
              <a:ext uri="{FF2B5EF4-FFF2-40B4-BE49-F238E27FC236}">
                <a16:creationId xmlns:a16="http://schemas.microsoft.com/office/drawing/2014/main" id="{92BB8542-0453-4BA3-9CD2-95838244AA45}"/>
              </a:ext>
            </a:extLst>
          </p:cNvPr>
          <p:cNvSpPr txBox="1"/>
          <p:nvPr/>
        </p:nvSpPr>
        <p:spPr>
          <a:xfrm>
            <a:off x="3180823" y="2999065"/>
            <a:ext cx="6659462" cy="2893100"/>
          </a:xfrm>
          <a:prstGeom prst="rect">
            <a:avLst/>
          </a:prstGeom>
          <a:noFill/>
        </p:spPr>
        <p:txBody>
          <a:bodyPr wrap="square" rtlCol="0">
            <a:spAutoFit/>
          </a:bodyPr>
          <a:lstStyle/>
          <a:p>
            <a:pPr marL="285750" indent="-285750">
              <a:buFont typeface="Arial" panose="020B0604020202020204" pitchFamily="34" charset="0"/>
              <a:buChar char="•"/>
            </a:pPr>
            <a:r>
              <a:rPr lang="en-US" sz="1400"/>
              <a:t>Question 1: SELECT </a:t>
            </a:r>
            <a:r>
              <a:rPr lang="en-US" sz="1400" err="1"/>
              <a:t>SP.BusinessEntityID</a:t>
            </a:r>
            <a:r>
              <a:rPr lang="en-US" sz="1400"/>
              <a:t>, </a:t>
            </a:r>
            <a:r>
              <a:rPr lang="en-US" sz="1400" err="1"/>
              <a:t>SP.SalesYTD</a:t>
            </a:r>
            <a:r>
              <a:rPr lang="en-US" sz="1400"/>
              <a:t>, </a:t>
            </a:r>
            <a:r>
              <a:rPr lang="en-US" sz="1400" err="1"/>
              <a:t>ST.Name</a:t>
            </a:r>
            <a:r>
              <a:rPr lang="en-US" sz="1400"/>
              <a:t> AS [Territory Name] FROM </a:t>
            </a:r>
            <a:r>
              <a:rPr lang="en-US" sz="1400" err="1"/>
              <a:t>Sales.SalesPerson</a:t>
            </a:r>
            <a:r>
              <a:rPr lang="en-US" sz="1400"/>
              <a:t> SP LEFT OUTER JOIN </a:t>
            </a:r>
            <a:r>
              <a:rPr lang="en-US" sz="1400" err="1"/>
              <a:t>Sales.SalesTerritory</a:t>
            </a:r>
            <a:r>
              <a:rPr lang="en-US" sz="1400"/>
              <a:t> ST ON </a:t>
            </a:r>
            <a:r>
              <a:rPr lang="en-US" sz="1400" err="1"/>
              <a:t>ST.TerritoryID</a:t>
            </a:r>
            <a:r>
              <a:rPr lang="en-US" sz="1400"/>
              <a:t> = </a:t>
            </a:r>
            <a:r>
              <a:rPr lang="en-US" sz="1400" err="1"/>
              <a:t>SP.TerritoryID</a:t>
            </a:r>
            <a:r>
              <a:rPr lang="en-US" sz="1400"/>
              <a:t> </a:t>
            </a:r>
          </a:p>
          <a:p>
            <a:pPr marL="285750" indent="-285750">
              <a:buFont typeface="Arial" panose="020B0604020202020204" pitchFamily="34" charset="0"/>
              <a:buChar char="•"/>
            </a:pPr>
            <a:r>
              <a:rPr lang="en-US" sz="1400"/>
              <a:t>Question 2: SELECT </a:t>
            </a:r>
            <a:r>
              <a:rPr lang="en-US" sz="1400" err="1"/>
              <a:t>P.FirstName</a:t>
            </a:r>
            <a:r>
              <a:rPr lang="en-US" sz="1400"/>
              <a:t>, </a:t>
            </a:r>
            <a:r>
              <a:rPr lang="en-US" sz="1400" err="1"/>
              <a:t>P.LastName</a:t>
            </a:r>
            <a:r>
              <a:rPr lang="en-US" sz="1400"/>
              <a:t>, </a:t>
            </a:r>
            <a:r>
              <a:rPr lang="en-US" sz="1400" err="1"/>
              <a:t>SP.BusinessEntityID</a:t>
            </a:r>
            <a:r>
              <a:rPr lang="en-US" sz="1400"/>
              <a:t>, </a:t>
            </a:r>
            <a:r>
              <a:rPr lang="en-US" sz="1400" err="1"/>
              <a:t>SP.SalesYTD</a:t>
            </a:r>
            <a:r>
              <a:rPr lang="en-US" sz="1400"/>
              <a:t>, </a:t>
            </a:r>
            <a:r>
              <a:rPr lang="en-US" sz="1400" err="1"/>
              <a:t>ST.Name</a:t>
            </a:r>
            <a:r>
              <a:rPr lang="en-US" sz="1400"/>
              <a:t> AS [Territory Name] FROM </a:t>
            </a:r>
            <a:r>
              <a:rPr lang="en-US" sz="1400" err="1"/>
              <a:t>Sales.SalesPerson</a:t>
            </a:r>
            <a:r>
              <a:rPr lang="en-US" sz="1400"/>
              <a:t> SP LEFT OUTER JOIN </a:t>
            </a:r>
            <a:r>
              <a:rPr lang="en-US" sz="1400" err="1"/>
              <a:t>Sales.SalesTerritory</a:t>
            </a:r>
            <a:r>
              <a:rPr lang="en-US" sz="1400"/>
              <a:t> ST ON </a:t>
            </a:r>
            <a:r>
              <a:rPr lang="en-US" sz="1400" err="1"/>
              <a:t>ST.TerritoryID</a:t>
            </a:r>
            <a:r>
              <a:rPr lang="en-US" sz="1400"/>
              <a:t> = </a:t>
            </a:r>
            <a:r>
              <a:rPr lang="en-US" sz="1400" err="1"/>
              <a:t>SP.TerritoryID</a:t>
            </a:r>
            <a:r>
              <a:rPr lang="en-US" sz="1400"/>
              <a:t> INNER JOIN </a:t>
            </a:r>
            <a:r>
              <a:rPr lang="en-US" sz="1400" err="1"/>
              <a:t>Person.Person</a:t>
            </a:r>
            <a:r>
              <a:rPr lang="en-US" sz="1400"/>
              <a:t> P ON </a:t>
            </a:r>
            <a:r>
              <a:rPr lang="en-US" sz="1400" err="1"/>
              <a:t>P.BusinessEntityID</a:t>
            </a:r>
            <a:r>
              <a:rPr lang="en-US" sz="1400"/>
              <a:t> = </a:t>
            </a:r>
            <a:r>
              <a:rPr lang="en-US" sz="1400" err="1"/>
              <a:t>SP.BusinessEntityID</a:t>
            </a:r>
            <a:r>
              <a:rPr lang="en-US" sz="1400"/>
              <a:t> WHERE </a:t>
            </a:r>
            <a:r>
              <a:rPr lang="en-US" sz="1400" err="1"/>
              <a:t>ST.Name</a:t>
            </a:r>
            <a:r>
              <a:rPr lang="en-US" sz="1400"/>
              <a:t> IN ('Northeast', 'Central’) </a:t>
            </a:r>
          </a:p>
          <a:p>
            <a:pPr marL="285750" indent="-285750">
              <a:buFont typeface="Arial" panose="020B0604020202020204" pitchFamily="34" charset="0"/>
              <a:buChar char="•"/>
            </a:pPr>
            <a:r>
              <a:rPr lang="en-US" sz="1400"/>
              <a:t>Question 3: SELECT </a:t>
            </a:r>
            <a:r>
              <a:rPr lang="en-US" sz="1400" err="1"/>
              <a:t>P.Name</a:t>
            </a:r>
            <a:r>
              <a:rPr lang="en-US" sz="1400"/>
              <a:t>, </a:t>
            </a:r>
            <a:r>
              <a:rPr lang="en-US" sz="1400" err="1"/>
              <a:t>P.ListPrice</a:t>
            </a:r>
            <a:r>
              <a:rPr lang="en-US" sz="1400"/>
              <a:t>, </a:t>
            </a:r>
            <a:r>
              <a:rPr lang="en-US" sz="1400" err="1"/>
              <a:t>SC.Name</a:t>
            </a:r>
            <a:r>
              <a:rPr lang="en-US" sz="1400"/>
              <a:t> AS </a:t>
            </a:r>
            <a:r>
              <a:rPr lang="en-US" sz="1400" err="1"/>
              <a:t>ProductSubcategoryName</a:t>
            </a:r>
            <a:r>
              <a:rPr lang="en-US" sz="1400"/>
              <a:t>, </a:t>
            </a:r>
            <a:r>
              <a:rPr lang="en-US" sz="1400" err="1"/>
              <a:t>C.Name</a:t>
            </a:r>
            <a:r>
              <a:rPr lang="en-US" sz="1400"/>
              <a:t> AS </a:t>
            </a:r>
            <a:r>
              <a:rPr lang="en-US" sz="1400" err="1"/>
              <a:t>ProductCategoryName</a:t>
            </a:r>
            <a:r>
              <a:rPr lang="en-US" sz="1400"/>
              <a:t> FROM </a:t>
            </a:r>
            <a:r>
              <a:rPr lang="en-US" sz="1400" err="1"/>
              <a:t>Production.Product</a:t>
            </a:r>
            <a:r>
              <a:rPr lang="en-US" sz="1400"/>
              <a:t> P LEFT OUTER JOIN </a:t>
            </a:r>
            <a:r>
              <a:rPr lang="en-US" sz="1400" err="1"/>
              <a:t>Production.ProductSubcategory</a:t>
            </a:r>
            <a:r>
              <a:rPr lang="en-US" sz="1400"/>
              <a:t> SC ON </a:t>
            </a:r>
            <a:r>
              <a:rPr lang="en-US" sz="1400" err="1"/>
              <a:t>SC.ProductSubcategoryID</a:t>
            </a:r>
            <a:r>
              <a:rPr lang="en-US" sz="1400"/>
              <a:t> = </a:t>
            </a:r>
            <a:r>
              <a:rPr lang="en-US" sz="1400" err="1"/>
              <a:t>P.ProductSubcategoryID</a:t>
            </a:r>
            <a:r>
              <a:rPr lang="en-US" sz="1400"/>
              <a:t> LEFT OUTER JOIN </a:t>
            </a:r>
            <a:r>
              <a:rPr lang="en-US" sz="1400" err="1"/>
              <a:t>Production.ProductCategory</a:t>
            </a:r>
            <a:r>
              <a:rPr lang="en-US" sz="1400"/>
              <a:t> C ON </a:t>
            </a:r>
            <a:r>
              <a:rPr lang="en-US" sz="1400" err="1"/>
              <a:t>C.ProductCategoryID</a:t>
            </a:r>
            <a:r>
              <a:rPr lang="en-US" sz="1400"/>
              <a:t> = </a:t>
            </a:r>
            <a:r>
              <a:rPr lang="en-US" sz="1400" err="1"/>
              <a:t>SC.ProductCategoryID</a:t>
            </a:r>
            <a:r>
              <a:rPr lang="en-US" sz="1400"/>
              <a:t> ORDER BY </a:t>
            </a:r>
            <a:r>
              <a:rPr lang="en-US" sz="1400" err="1"/>
              <a:t>ProductCategoryName</a:t>
            </a:r>
            <a:r>
              <a:rPr lang="en-US" sz="1400"/>
              <a:t> DESC, </a:t>
            </a:r>
            <a:r>
              <a:rPr lang="en-US" sz="1400" err="1"/>
              <a:t>ProductSubcategoryName</a:t>
            </a:r>
            <a:r>
              <a:rPr lang="en-US" sz="1400"/>
              <a:t> ASC</a:t>
            </a:r>
          </a:p>
        </p:txBody>
      </p:sp>
    </p:spTree>
    <p:extLst>
      <p:ext uri="{BB962C8B-B14F-4D97-AF65-F5344CB8AC3E}">
        <p14:creationId xmlns:p14="http://schemas.microsoft.com/office/powerpoint/2010/main" val="181293490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7285A8-6EB4-44C6-9ACB-4CC45D21736D}"/>
              </a:ext>
            </a:extLst>
          </p:cNvPr>
          <p:cNvSpPr>
            <a:spLocks noGrp="1"/>
          </p:cNvSpPr>
          <p:nvPr>
            <p:ph type="ctrTitle"/>
          </p:nvPr>
        </p:nvSpPr>
        <p:spPr>
          <a:xfrm>
            <a:off x="1700212" y="411061"/>
            <a:ext cx="8791575" cy="1186212"/>
          </a:xfrm>
        </p:spPr>
        <p:txBody>
          <a:bodyPr/>
          <a:lstStyle/>
          <a:p>
            <a:pPr algn="ctr"/>
            <a:r>
              <a:rPr lang="en-US"/>
              <a:t>SQL FOR DATA ANALYSIS </a:t>
            </a:r>
          </a:p>
        </p:txBody>
      </p:sp>
      <p:sp>
        <p:nvSpPr>
          <p:cNvPr id="3" name="Subtitle 2">
            <a:extLst>
              <a:ext uri="{FF2B5EF4-FFF2-40B4-BE49-F238E27FC236}">
                <a16:creationId xmlns:a16="http://schemas.microsoft.com/office/drawing/2014/main" id="{F732812B-5517-445B-B80B-C63947CC015B}"/>
              </a:ext>
            </a:extLst>
          </p:cNvPr>
          <p:cNvSpPr>
            <a:spLocks noGrp="1"/>
          </p:cNvSpPr>
          <p:nvPr>
            <p:ph type="subTitle" idx="1"/>
          </p:nvPr>
        </p:nvSpPr>
        <p:spPr>
          <a:xfrm>
            <a:off x="1826046" y="2292586"/>
            <a:ext cx="8791575" cy="564939"/>
          </a:xfrm>
        </p:spPr>
        <p:txBody>
          <a:bodyPr>
            <a:normAutofit/>
          </a:bodyPr>
          <a:lstStyle/>
          <a:p>
            <a:pPr algn="ctr"/>
            <a:r>
              <a:rPr lang="en-US">
                <a:solidFill>
                  <a:srgbClr val="FFC000"/>
                </a:solidFill>
              </a:rPr>
              <a:t>union</a:t>
            </a:r>
            <a:r>
              <a:rPr lang="en-US">
                <a:solidFill>
                  <a:schemeClr val="tx1"/>
                </a:solidFill>
              </a:rPr>
              <a:t> Statement Practice</a:t>
            </a:r>
          </a:p>
        </p:txBody>
      </p:sp>
      <p:pic>
        <p:nvPicPr>
          <p:cNvPr id="2050" name="Picture 2" descr="The Complete Reference - Set Operations In MS SQL - UNION [ALL], INTERSECT,  EXCEPT">
            <a:extLst>
              <a:ext uri="{FF2B5EF4-FFF2-40B4-BE49-F238E27FC236}">
                <a16:creationId xmlns:a16="http://schemas.microsoft.com/office/drawing/2014/main" id="{5F84CF20-535A-4B98-8008-134CFFC5335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13379" y="3032429"/>
            <a:ext cx="3947238" cy="27826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9153207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7285A8-6EB4-44C6-9ACB-4CC45D21736D}"/>
              </a:ext>
            </a:extLst>
          </p:cNvPr>
          <p:cNvSpPr>
            <a:spLocks noGrp="1"/>
          </p:cNvSpPr>
          <p:nvPr>
            <p:ph type="ctrTitle"/>
          </p:nvPr>
        </p:nvSpPr>
        <p:spPr>
          <a:xfrm>
            <a:off x="1700212" y="411061"/>
            <a:ext cx="8791575" cy="1186212"/>
          </a:xfrm>
        </p:spPr>
        <p:txBody>
          <a:bodyPr/>
          <a:lstStyle/>
          <a:p>
            <a:pPr algn="ctr"/>
            <a:r>
              <a:rPr lang="en-US"/>
              <a:t>SQL FOR DATA ANALYSIS </a:t>
            </a:r>
          </a:p>
        </p:txBody>
      </p:sp>
      <p:sp>
        <p:nvSpPr>
          <p:cNvPr id="3" name="Subtitle 2">
            <a:extLst>
              <a:ext uri="{FF2B5EF4-FFF2-40B4-BE49-F238E27FC236}">
                <a16:creationId xmlns:a16="http://schemas.microsoft.com/office/drawing/2014/main" id="{F732812B-5517-445B-B80B-C63947CC015B}"/>
              </a:ext>
            </a:extLst>
          </p:cNvPr>
          <p:cNvSpPr>
            <a:spLocks noGrp="1"/>
          </p:cNvSpPr>
          <p:nvPr>
            <p:ph type="subTitle" idx="1"/>
          </p:nvPr>
        </p:nvSpPr>
        <p:spPr>
          <a:xfrm>
            <a:off x="1817657" y="2007360"/>
            <a:ext cx="8791575" cy="564939"/>
          </a:xfrm>
        </p:spPr>
        <p:txBody>
          <a:bodyPr>
            <a:normAutofit/>
          </a:bodyPr>
          <a:lstStyle/>
          <a:p>
            <a:pPr algn="ctr"/>
            <a:r>
              <a:rPr lang="en-US">
                <a:solidFill>
                  <a:srgbClr val="FFC000"/>
                </a:solidFill>
              </a:rPr>
              <a:t>Union vs union all </a:t>
            </a:r>
            <a:r>
              <a:rPr lang="en-US">
                <a:solidFill>
                  <a:schemeClr val="tx1"/>
                </a:solidFill>
              </a:rPr>
              <a:t>Statement Practice</a:t>
            </a:r>
          </a:p>
        </p:txBody>
      </p:sp>
      <p:sp>
        <p:nvSpPr>
          <p:cNvPr id="5" name="TextBox 4">
            <a:extLst>
              <a:ext uri="{FF2B5EF4-FFF2-40B4-BE49-F238E27FC236}">
                <a16:creationId xmlns:a16="http://schemas.microsoft.com/office/drawing/2014/main" id="{7A92F0A9-2664-4229-9EDC-453B667BB6D4}"/>
              </a:ext>
            </a:extLst>
          </p:cNvPr>
          <p:cNvSpPr txBox="1"/>
          <p:nvPr/>
        </p:nvSpPr>
        <p:spPr>
          <a:xfrm>
            <a:off x="3592585" y="2629362"/>
            <a:ext cx="8051334" cy="2492990"/>
          </a:xfrm>
          <a:prstGeom prst="rect">
            <a:avLst/>
          </a:prstGeom>
          <a:noFill/>
        </p:spPr>
        <p:txBody>
          <a:bodyPr wrap="square">
            <a:spAutoFit/>
          </a:bodyPr>
          <a:lstStyle/>
          <a:p>
            <a:r>
              <a:rPr lang="en-US" sz="1200">
                <a:latin typeface="Consolas" panose="020B0609020204030204" pitchFamily="49" charset="0"/>
              </a:rPr>
              <a:t>SELECT </a:t>
            </a:r>
            <a:r>
              <a:rPr lang="en-US" sz="1200" err="1">
                <a:latin typeface="Consolas" panose="020B0609020204030204" pitchFamily="49" charset="0"/>
              </a:rPr>
              <a:t>CurrencyCode</a:t>
            </a:r>
            <a:endParaRPr lang="en-US" sz="1200">
              <a:latin typeface="Consolas" panose="020B0609020204030204" pitchFamily="49" charset="0"/>
            </a:endParaRPr>
          </a:p>
          <a:p>
            <a:r>
              <a:rPr lang="en-US" sz="1200">
                <a:latin typeface="Consolas" panose="020B0609020204030204" pitchFamily="49" charset="0"/>
              </a:rPr>
              <a:t>FROM [Sales].[</a:t>
            </a:r>
            <a:r>
              <a:rPr lang="en-US" sz="1200" err="1">
                <a:latin typeface="Consolas" panose="020B0609020204030204" pitchFamily="49" charset="0"/>
              </a:rPr>
              <a:t>CountryRegionCurrency</a:t>
            </a:r>
            <a:r>
              <a:rPr lang="en-US" sz="1200">
                <a:latin typeface="Consolas" panose="020B0609020204030204" pitchFamily="49" charset="0"/>
              </a:rPr>
              <a:t>]</a:t>
            </a:r>
          </a:p>
          <a:p>
            <a:r>
              <a:rPr lang="en-US" sz="1200">
                <a:latin typeface="Consolas" panose="020B0609020204030204" pitchFamily="49" charset="0"/>
              </a:rPr>
              <a:t>UNION</a:t>
            </a:r>
          </a:p>
          <a:p>
            <a:r>
              <a:rPr lang="en-US" sz="1200">
                <a:latin typeface="Consolas" panose="020B0609020204030204" pitchFamily="49" charset="0"/>
              </a:rPr>
              <a:t>SELECT </a:t>
            </a:r>
            <a:r>
              <a:rPr lang="en-US" sz="1200" err="1">
                <a:latin typeface="Consolas" panose="020B0609020204030204" pitchFamily="49" charset="0"/>
              </a:rPr>
              <a:t>CurrencyCode</a:t>
            </a:r>
            <a:endParaRPr lang="en-US" sz="1200">
              <a:latin typeface="Consolas" panose="020B0609020204030204" pitchFamily="49" charset="0"/>
            </a:endParaRPr>
          </a:p>
          <a:p>
            <a:r>
              <a:rPr lang="en-US" sz="1200">
                <a:latin typeface="Consolas" panose="020B0609020204030204" pitchFamily="49" charset="0"/>
              </a:rPr>
              <a:t>FROM [Sales].[Currency]</a:t>
            </a:r>
          </a:p>
          <a:p>
            <a:r>
              <a:rPr lang="en-US" sz="1200">
                <a:latin typeface="Consolas" panose="020B0609020204030204" pitchFamily="49" charset="0"/>
              </a:rPr>
              <a:t>ORDER BY </a:t>
            </a:r>
            <a:r>
              <a:rPr lang="en-US" sz="1200" err="1">
                <a:latin typeface="Consolas" panose="020B0609020204030204" pitchFamily="49" charset="0"/>
              </a:rPr>
              <a:t>CurrencyCode</a:t>
            </a:r>
            <a:endParaRPr lang="en-US" sz="1200">
              <a:latin typeface="Consolas" panose="020B0609020204030204" pitchFamily="49" charset="0"/>
            </a:endParaRPr>
          </a:p>
          <a:p>
            <a:endParaRPr lang="en-US" sz="1200">
              <a:latin typeface="Consolas" panose="020B0609020204030204" pitchFamily="49" charset="0"/>
            </a:endParaRPr>
          </a:p>
          <a:p>
            <a:r>
              <a:rPr lang="en-US" sz="1200">
                <a:latin typeface="Consolas" panose="020B0609020204030204" pitchFamily="49" charset="0"/>
              </a:rPr>
              <a:t>SELECT </a:t>
            </a:r>
            <a:r>
              <a:rPr lang="en-US" sz="1200" err="1">
                <a:latin typeface="Consolas" panose="020B0609020204030204" pitchFamily="49" charset="0"/>
              </a:rPr>
              <a:t>CurrencyCode</a:t>
            </a:r>
            <a:endParaRPr lang="en-US" sz="1200">
              <a:latin typeface="Consolas" panose="020B0609020204030204" pitchFamily="49" charset="0"/>
            </a:endParaRPr>
          </a:p>
          <a:p>
            <a:r>
              <a:rPr lang="en-US" sz="1200">
                <a:latin typeface="Consolas" panose="020B0609020204030204" pitchFamily="49" charset="0"/>
              </a:rPr>
              <a:t>FROM [Sales].[</a:t>
            </a:r>
            <a:r>
              <a:rPr lang="en-US" sz="1200" err="1">
                <a:latin typeface="Consolas" panose="020B0609020204030204" pitchFamily="49" charset="0"/>
              </a:rPr>
              <a:t>CountryRegionCurrency</a:t>
            </a:r>
            <a:r>
              <a:rPr lang="en-US" sz="1200">
                <a:latin typeface="Consolas" panose="020B0609020204030204" pitchFamily="49" charset="0"/>
              </a:rPr>
              <a:t>]</a:t>
            </a:r>
          </a:p>
          <a:p>
            <a:r>
              <a:rPr lang="en-US" sz="1200">
                <a:latin typeface="Consolas" panose="020B0609020204030204" pitchFamily="49" charset="0"/>
              </a:rPr>
              <a:t>UNION ALL</a:t>
            </a:r>
          </a:p>
          <a:p>
            <a:r>
              <a:rPr lang="en-US" sz="1200">
                <a:latin typeface="Consolas" panose="020B0609020204030204" pitchFamily="49" charset="0"/>
              </a:rPr>
              <a:t>SELECT </a:t>
            </a:r>
            <a:r>
              <a:rPr lang="en-US" sz="1200" err="1">
                <a:latin typeface="Consolas" panose="020B0609020204030204" pitchFamily="49" charset="0"/>
              </a:rPr>
              <a:t>CurrencyCode</a:t>
            </a:r>
            <a:endParaRPr lang="en-US" sz="1200">
              <a:latin typeface="Consolas" panose="020B0609020204030204" pitchFamily="49" charset="0"/>
            </a:endParaRPr>
          </a:p>
          <a:p>
            <a:r>
              <a:rPr lang="en-US" sz="1200">
                <a:latin typeface="Consolas" panose="020B0609020204030204" pitchFamily="49" charset="0"/>
              </a:rPr>
              <a:t>FROM [Sales].[Currency]</a:t>
            </a:r>
          </a:p>
          <a:p>
            <a:r>
              <a:rPr lang="en-US" sz="1200">
                <a:latin typeface="Consolas" panose="020B0609020204030204" pitchFamily="49" charset="0"/>
              </a:rPr>
              <a:t>ORDER BY </a:t>
            </a:r>
            <a:r>
              <a:rPr lang="en-US" sz="1200" err="1">
                <a:latin typeface="Consolas" panose="020B0609020204030204" pitchFamily="49" charset="0"/>
              </a:rPr>
              <a:t>CurrencyCode</a:t>
            </a:r>
            <a:endParaRPr lang="en-US" sz="800"/>
          </a:p>
        </p:txBody>
      </p:sp>
    </p:spTree>
    <p:extLst>
      <p:ext uri="{BB962C8B-B14F-4D97-AF65-F5344CB8AC3E}">
        <p14:creationId xmlns:p14="http://schemas.microsoft.com/office/powerpoint/2010/main" val="5296167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7285A8-6EB4-44C6-9ACB-4CC45D21736D}"/>
              </a:ext>
            </a:extLst>
          </p:cNvPr>
          <p:cNvSpPr>
            <a:spLocks noGrp="1"/>
          </p:cNvSpPr>
          <p:nvPr>
            <p:ph type="ctrTitle"/>
          </p:nvPr>
        </p:nvSpPr>
        <p:spPr>
          <a:xfrm>
            <a:off x="1700212" y="411061"/>
            <a:ext cx="8791575" cy="1186212"/>
          </a:xfrm>
        </p:spPr>
        <p:txBody>
          <a:bodyPr/>
          <a:lstStyle/>
          <a:p>
            <a:pPr algn="ctr"/>
            <a:r>
              <a:rPr lang="en-US"/>
              <a:t>SQL FOR DATA ANALYSIS </a:t>
            </a:r>
          </a:p>
        </p:txBody>
      </p:sp>
      <p:sp>
        <p:nvSpPr>
          <p:cNvPr id="3" name="Subtitle 2">
            <a:extLst>
              <a:ext uri="{FF2B5EF4-FFF2-40B4-BE49-F238E27FC236}">
                <a16:creationId xmlns:a16="http://schemas.microsoft.com/office/drawing/2014/main" id="{F732812B-5517-445B-B80B-C63947CC015B}"/>
              </a:ext>
            </a:extLst>
          </p:cNvPr>
          <p:cNvSpPr>
            <a:spLocks noGrp="1"/>
          </p:cNvSpPr>
          <p:nvPr>
            <p:ph type="subTitle" idx="1"/>
          </p:nvPr>
        </p:nvSpPr>
        <p:spPr>
          <a:xfrm>
            <a:off x="1817657" y="2007360"/>
            <a:ext cx="8791575" cy="564939"/>
          </a:xfrm>
        </p:spPr>
        <p:txBody>
          <a:bodyPr>
            <a:normAutofit/>
          </a:bodyPr>
          <a:lstStyle/>
          <a:p>
            <a:pPr algn="ctr"/>
            <a:r>
              <a:rPr lang="en-US">
                <a:solidFill>
                  <a:srgbClr val="FFC000"/>
                </a:solidFill>
              </a:rPr>
              <a:t>intercept vs except </a:t>
            </a:r>
            <a:r>
              <a:rPr lang="en-US">
                <a:solidFill>
                  <a:schemeClr val="tx1"/>
                </a:solidFill>
              </a:rPr>
              <a:t>Statement Practice</a:t>
            </a:r>
          </a:p>
        </p:txBody>
      </p:sp>
      <p:sp>
        <p:nvSpPr>
          <p:cNvPr id="5" name="TextBox 4">
            <a:extLst>
              <a:ext uri="{FF2B5EF4-FFF2-40B4-BE49-F238E27FC236}">
                <a16:creationId xmlns:a16="http://schemas.microsoft.com/office/drawing/2014/main" id="{7A92F0A9-2664-4229-9EDC-453B667BB6D4}"/>
              </a:ext>
            </a:extLst>
          </p:cNvPr>
          <p:cNvSpPr txBox="1"/>
          <p:nvPr/>
        </p:nvSpPr>
        <p:spPr>
          <a:xfrm>
            <a:off x="2812409" y="2807192"/>
            <a:ext cx="8051334" cy="3170099"/>
          </a:xfrm>
          <a:prstGeom prst="rect">
            <a:avLst/>
          </a:prstGeom>
          <a:noFill/>
        </p:spPr>
        <p:txBody>
          <a:bodyPr wrap="square">
            <a:spAutoFit/>
          </a:bodyPr>
          <a:lstStyle/>
          <a:p>
            <a:r>
              <a:rPr lang="en-US" sz="2000">
                <a:latin typeface="Aldhabi" panose="01000000000000000000" pitchFamily="2" charset="-78"/>
                <a:cs typeface="Aldhabi" panose="01000000000000000000" pitchFamily="2" charset="-78"/>
              </a:rPr>
              <a:t>SELECT </a:t>
            </a:r>
            <a:r>
              <a:rPr lang="en-US" sz="2000" err="1">
                <a:latin typeface="Aldhabi" panose="01000000000000000000" pitchFamily="2" charset="-78"/>
                <a:cs typeface="Aldhabi" panose="01000000000000000000" pitchFamily="2" charset="-78"/>
              </a:rPr>
              <a:t>ProductID</a:t>
            </a:r>
            <a:r>
              <a:rPr lang="en-US" sz="2000">
                <a:latin typeface="Aldhabi" panose="01000000000000000000" pitchFamily="2" charset="-78"/>
                <a:cs typeface="Aldhabi" panose="01000000000000000000" pitchFamily="2" charset="-78"/>
              </a:rPr>
              <a:t>   </a:t>
            </a:r>
          </a:p>
          <a:p>
            <a:r>
              <a:rPr lang="en-US" sz="2000">
                <a:latin typeface="Aldhabi" panose="01000000000000000000" pitchFamily="2" charset="-78"/>
                <a:cs typeface="Aldhabi" panose="01000000000000000000" pitchFamily="2" charset="-78"/>
              </a:rPr>
              <a:t>FROM </a:t>
            </a:r>
            <a:r>
              <a:rPr lang="en-US" sz="2000" err="1">
                <a:latin typeface="Aldhabi" panose="01000000000000000000" pitchFamily="2" charset="-78"/>
                <a:cs typeface="Aldhabi" panose="01000000000000000000" pitchFamily="2" charset="-78"/>
              </a:rPr>
              <a:t>Production.Product</a:t>
            </a:r>
            <a:r>
              <a:rPr lang="en-US" sz="2000">
                <a:latin typeface="Aldhabi" panose="01000000000000000000" pitchFamily="2" charset="-78"/>
                <a:cs typeface="Aldhabi" panose="01000000000000000000" pitchFamily="2" charset="-78"/>
              </a:rPr>
              <a:t>  </a:t>
            </a:r>
          </a:p>
          <a:p>
            <a:r>
              <a:rPr lang="en-US" sz="2000">
                <a:latin typeface="Aldhabi" panose="01000000000000000000" pitchFamily="2" charset="-78"/>
                <a:cs typeface="Aldhabi" panose="01000000000000000000" pitchFamily="2" charset="-78"/>
              </a:rPr>
              <a:t>INTERSECT  </a:t>
            </a:r>
          </a:p>
          <a:p>
            <a:r>
              <a:rPr lang="en-US" sz="2000">
                <a:latin typeface="Aldhabi" panose="01000000000000000000" pitchFamily="2" charset="-78"/>
                <a:cs typeface="Aldhabi" panose="01000000000000000000" pitchFamily="2" charset="-78"/>
              </a:rPr>
              <a:t>SELECT </a:t>
            </a:r>
            <a:r>
              <a:rPr lang="en-US" sz="2000" err="1">
                <a:latin typeface="Aldhabi" panose="01000000000000000000" pitchFamily="2" charset="-78"/>
                <a:cs typeface="Aldhabi" panose="01000000000000000000" pitchFamily="2" charset="-78"/>
              </a:rPr>
              <a:t>ProductID</a:t>
            </a:r>
            <a:r>
              <a:rPr lang="en-US" sz="2000">
                <a:latin typeface="Aldhabi" panose="01000000000000000000" pitchFamily="2" charset="-78"/>
                <a:cs typeface="Aldhabi" panose="01000000000000000000" pitchFamily="2" charset="-78"/>
              </a:rPr>
              <a:t>   </a:t>
            </a:r>
          </a:p>
          <a:p>
            <a:r>
              <a:rPr lang="en-US" sz="2000">
                <a:latin typeface="Aldhabi" panose="01000000000000000000" pitchFamily="2" charset="-78"/>
                <a:cs typeface="Aldhabi" panose="01000000000000000000" pitchFamily="2" charset="-78"/>
              </a:rPr>
              <a:t>FROM </a:t>
            </a:r>
            <a:r>
              <a:rPr lang="en-US" sz="2000" err="1">
                <a:latin typeface="Aldhabi" panose="01000000000000000000" pitchFamily="2" charset="-78"/>
                <a:cs typeface="Aldhabi" panose="01000000000000000000" pitchFamily="2" charset="-78"/>
              </a:rPr>
              <a:t>Production.WorkOrder</a:t>
            </a:r>
            <a:r>
              <a:rPr lang="en-US" sz="2000">
                <a:latin typeface="Aldhabi" panose="01000000000000000000" pitchFamily="2" charset="-78"/>
                <a:cs typeface="Aldhabi" panose="01000000000000000000" pitchFamily="2" charset="-78"/>
              </a:rPr>
              <a:t> ;</a:t>
            </a:r>
          </a:p>
          <a:p>
            <a:endParaRPr lang="en-US" sz="2000">
              <a:latin typeface="Aldhabi" panose="01000000000000000000" pitchFamily="2" charset="-78"/>
              <a:cs typeface="Aldhabi" panose="01000000000000000000" pitchFamily="2" charset="-78"/>
            </a:endParaRPr>
          </a:p>
          <a:p>
            <a:r>
              <a:rPr lang="en-US" sz="2000" b="0" i="0">
                <a:effectLst/>
                <a:latin typeface="Aldhabi" panose="01000000000000000000" pitchFamily="2" charset="-78"/>
                <a:cs typeface="Aldhabi" panose="01000000000000000000" pitchFamily="2" charset="-78"/>
              </a:rPr>
              <a:t>SELECT </a:t>
            </a:r>
            <a:r>
              <a:rPr lang="en-US" sz="2000" b="0" i="0" err="1">
                <a:effectLst/>
                <a:latin typeface="Aldhabi" panose="01000000000000000000" pitchFamily="2" charset="-78"/>
                <a:cs typeface="Aldhabi" panose="01000000000000000000" pitchFamily="2" charset="-78"/>
              </a:rPr>
              <a:t>ProductID</a:t>
            </a:r>
            <a:r>
              <a:rPr lang="en-US" sz="2000" b="0" i="0">
                <a:effectLst/>
                <a:latin typeface="Aldhabi" panose="01000000000000000000" pitchFamily="2" charset="-78"/>
                <a:cs typeface="Aldhabi" panose="01000000000000000000" pitchFamily="2" charset="-78"/>
              </a:rPr>
              <a:t> FROM </a:t>
            </a:r>
            <a:r>
              <a:rPr lang="en-US" sz="2000" b="0" i="0" err="1">
                <a:effectLst/>
                <a:latin typeface="Aldhabi" panose="01000000000000000000" pitchFamily="2" charset="-78"/>
                <a:cs typeface="Aldhabi" panose="01000000000000000000" pitchFamily="2" charset="-78"/>
              </a:rPr>
              <a:t>Production.Product</a:t>
            </a:r>
            <a:r>
              <a:rPr lang="en-US" sz="2000" b="0" i="0">
                <a:effectLst/>
                <a:latin typeface="Aldhabi" panose="01000000000000000000" pitchFamily="2" charset="-78"/>
                <a:cs typeface="Aldhabi" panose="01000000000000000000" pitchFamily="2" charset="-78"/>
              </a:rPr>
              <a:t> </a:t>
            </a:r>
          </a:p>
          <a:p>
            <a:r>
              <a:rPr lang="en-US" sz="2000" b="0" i="0">
                <a:effectLst/>
                <a:latin typeface="Aldhabi" panose="01000000000000000000" pitchFamily="2" charset="-78"/>
                <a:cs typeface="Aldhabi" panose="01000000000000000000" pitchFamily="2" charset="-78"/>
              </a:rPr>
              <a:t>EXCEPT </a:t>
            </a:r>
          </a:p>
          <a:p>
            <a:r>
              <a:rPr lang="en-US" sz="2000" b="0" i="0">
                <a:effectLst/>
                <a:latin typeface="Aldhabi" panose="01000000000000000000" pitchFamily="2" charset="-78"/>
                <a:cs typeface="Aldhabi" panose="01000000000000000000" pitchFamily="2" charset="-78"/>
              </a:rPr>
              <a:t>SELECT </a:t>
            </a:r>
          </a:p>
          <a:p>
            <a:r>
              <a:rPr lang="en-US" sz="2000" b="0" i="0" err="1">
                <a:effectLst/>
                <a:latin typeface="Aldhabi" panose="01000000000000000000" pitchFamily="2" charset="-78"/>
                <a:cs typeface="Aldhabi" panose="01000000000000000000" pitchFamily="2" charset="-78"/>
              </a:rPr>
              <a:t>ProductID</a:t>
            </a:r>
            <a:r>
              <a:rPr lang="en-US" sz="2000" b="0" i="0">
                <a:effectLst/>
                <a:latin typeface="Aldhabi" panose="01000000000000000000" pitchFamily="2" charset="-78"/>
                <a:cs typeface="Aldhabi" panose="01000000000000000000" pitchFamily="2" charset="-78"/>
              </a:rPr>
              <a:t> FROM </a:t>
            </a:r>
            <a:r>
              <a:rPr lang="en-US" sz="2000" b="0" i="0" err="1">
                <a:effectLst/>
                <a:latin typeface="Aldhabi" panose="01000000000000000000" pitchFamily="2" charset="-78"/>
                <a:cs typeface="Aldhabi" panose="01000000000000000000" pitchFamily="2" charset="-78"/>
              </a:rPr>
              <a:t>Production.WorkOrder</a:t>
            </a:r>
            <a:r>
              <a:rPr lang="en-US" sz="2000" b="0" i="0">
                <a:effectLst/>
                <a:latin typeface="Aldhabi" panose="01000000000000000000" pitchFamily="2" charset="-78"/>
                <a:cs typeface="Aldhabi" panose="01000000000000000000" pitchFamily="2" charset="-78"/>
              </a:rPr>
              <a:t> ;</a:t>
            </a:r>
            <a:endParaRPr lang="en-US" sz="2000">
              <a:latin typeface="Aldhabi" panose="01000000000000000000" pitchFamily="2" charset="-78"/>
              <a:cs typeface="Aldhabi" panose="01000000000000000000" pitchFamily="2" charset="-78"/>
            </a:endParaRPr>
          </a:p>
        </p:txBody>
      </p:sp>
    </p:spTree>
    <p:extLst>
      <p:ext uri="{BB962C8B-B14F-4D97-AF65-F5344CB8AC3E}">
        <p14:creationId xmlns:p14="http://schemas.microsoft.com/office/powerpoint/2010/main" val="348334739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7285A8-6EB4-44C6-9ACB-4CC45D21736D}"/>
              </a:ext>
            </a:extLst>
          </p:cNvPr>
          <p:cNvSpPr>
            <a:spLocks noGrp="1"/>
          </p:cNvSpPr>
          <p:nvPr>
            <p:ph type="ctrTitle"/>
          </p:nvPr>
        </p:nvSpPr>
        <p:spPr>
          <a:xfrm>
            <a:off x="1700212" y="411061"/>
            <a:ext cx="8791575" cy="1186212"/>
          </a:xfrm>
        </p:spPr>
        <p:txBody>
          <a:bodyPr/>
          <a:lstStyle/>
          <a:p>
            <a:pPr algn="ctr"/>
            <a:r>
              <a:rPr lang="en-US"/>
              <a:t>SQL FOR DATA ANALYSIS </a:t>
            </a:r>
          </a:p>
        </p:txBody>
      </p:sp>
      <p:sp>
        <p:nvSpPr>
          <p:cNvPr id="3" name="Subtitle 2">
            <a:extLst>
              <a:ext uri="{FF2B5EF4-FFF2-40B4-BE49-F238E27FC236}">
                <a16:creationId xmlns:a16="http://schemas.microsoft.com/office/drawing/2014/main" id="{F732812B-5517-445B-B80B-C63947CC015B}"/>
              </a:ext>
            </a:extLst>
          </p:cNvPr>
          <p:cNvSpPr>
            <a:spLocks noGrp="1"/>
          </p:cNvSpPr>
          <p:nvPr>
            <p:ph type="subTitle" idx="1"/>
          </p:nvPr>
        </p:nvSpPr>
        <p:spPr>
          <a:xfrm>
            <a:off x="1826046" y="2292586"/>
            <a:ext cx="8791575" cy="564939"/>
          </a:xfrm>
        </p:spPr>
        <p:txBody>
          <a:bodyPr>
            <a:normAutofit/>
          </a:bodyPr>
          <a:lstStyle/>
          <a:p>
            <a:pPr algn="ctr"/>
            <a:r>
              <a:rPr lang="en-US">
                <a:solidFill>
                  <a:srgbClr val="FFC000"/>
                </a:solidFill>
              </a:rPr>
              <a:t>aggregation</a:t>
            </a:r>
            <a:r>
              <a:rPr lang="en-US">
                <a:solidFill>
                  <a:schemeClr val="tx1"/>
                </a:solidFill>
              </a:rPr>
              <a:t> Statement Practice</a:t>
            </a:r>
          </a:p>
        </p:txBody>
      </p:sp>
      <p:sp>
        <p:nvSpPr>
          <p:cNvPr id="6" name="TextBox 5">
            <a:extLst>
              <a:ext uri="{FF2B5EF4-FFF2-40B4-BE49-F238E27FC236}">
                <a16:creationId xmlns:a16="http://schemas.microsoft.com/office/drawing/2014/main" id="{92BB8542-0453-4BA3-9CD2-95838244AA45}"/>
              </a:ext>
            </a:extLst>
          </p:cNvPr>
          <p:cNvSpPr txBox="1"/>
          <p:nvPr/>
        </p:nvSpPr>
        <p:spPr>
          <a:xfrm>
            <a:off x="2562514" y="2920688"/>
            <a:ext cx="8671543" cy="3108543"/>
          </a:xfrm>
          <a:prstGeom prst="rect">
            <a:avLst/>
          </a:prstGeom>
          <a:noFill/>
        </p:spPr>
        <p:txBody>
          <a:bodyPr wrap="square" rtlCol="0">
            <a:spAutoFit/>
          </a:bodyPr>
          <a:lstStyle/>
          <a:p>
            <a:pPr marL="285750" indent="-285750">
              <a:buFont typeface="Arial" panose="020B0604020202020204" pitchFamily="34" charset="0"/>
              <a:buChar char="•"/>
            </a:pPr>
            <a:r>
              <a:rPr lang="en-US" sz="1400"/>
              <a:t>1) How many rows are in the </a:t>
            </a:r>
            <a:r>
              <a:rPr lang="en-US" sz="1400" err="1"/>
              <a:t>Person.Person</a:t>
            </a:r>
            <a:r>
              <a:rPr lang="en-US" sz="1400"/>
              <a:t> table? Use an aggregate function NOT “SELECT *”. </a:t>
            </a:r>
          </a:p>
          <a:p>
            <a:pPr marL="285750" indent="-285750">
              <a:buFont typeface="Arial" panose="020B0604020202020204" pitchFamily="34" charset="0"/>
              <a:buChar char="•"/>
            </a:pPr>
            <a:r>
              <a:rPr lang="en-US" sz="1400"/>
              <a:t>2) How many rows in the </a:t>
            </a:r>
            <a:r>
              <a:rPr lang="en-US" sz="1400" err="1"/>
              <a:t>Person.Person</a:t>
            </a:r>
            <a:r>
              <a:rPr lang="en-US" sz="1400"/>
              <a:t> table do not have a NULL value in the </a:t>
            </a:r>
            <a:r>
              <a:rPr lang="en-US" sz="1400" err="1"/>
              <a:t>MiddleName</a:t>
            </a:r>
            <a:r>
              <a:rPr lang="en-US" sz="1400"/>
              <a:t> column? </a:t>
            </a:r>
          </a:p>
          <a:p>
            <a:pPr marL="285750" indent="-285750">
              <a:buFont typeface="Arial" panose="020B0604020202020204" pitchFamily="34" charset="0"/>
              <a:buChar char="•"/>
            </a:pPr>
            <a:r>
              <a:rPr lang="en-US" sz="1400"/>
              <a:t>3) What is the average </a:t>
            </a:r>
            <a:r>
              <a:rPr lang="en-US" sz="1400" err="1"/>
              <a:t>StandardCost</a:t>
            </a:r>
            <a:r>
              <a:rPr lang="en-US" sz="1400"/>
              <a:t> (located in </a:t>
            </a:r>
            <a:r>
              <a:rPr lang="en-US" sz="1400" err="1"/>
              <a:t>Production.Product</a:t>
            </a:r>
            <a:r>
              <a:rPr lang="en-US" sz="1400"/>
              <a:t>) for each product where the </a:t>
            </a:r>
            <a:r>
              <a:rPr lang="en-US" sz="1400" err="1"/>
              <a:t>StandardCost</a:t>
            </a:r>
            <a:r>
              <a:rPr lang="en-US" sz="1400"/>
              <a:t> is greater than $0.00? </a:t>
            </a:r>
          </a:p>
          <a:p>
            <a:pPr marL="285750" indent="-285750">
              <a:buFont typeface="Arial" panose="020B0604020202020204" pitchFamily="34" charset="0"/>
              <a:buChar char="•"/>
            </a:pPr>
            <a:r>
              <a:rPr lang="en-US" sz="1400"/>
              <a:t>4) What is the average Freight amount for each sale (found in </a:t>
            </a:r>
            <a:r>
              <a:rPr lang="en-US" sz="1400" err="1"/>
              <a:t>Sales.SalesOrderHeader</a:t>
            </a:r>
            <a:r>
              <a:rPr lang="en-US" sz="1400"/>
              <a:t>) where the sale took place in </a:t>
            </a:r>
            <a:r>
              <a:rPr lang="en-US" sz="1400" err="1"/>
              <a:t>TerritoryID</a:t>
            </a:r>
            <a:r>
              <a:rPr lang="en-US" sz="1400"/>
              <a:t> 4? </a:t>
            </a:r>
          </a:p>
          <a:p>
            <a:pPr marL="285750" indent="-285750">
              <a:buFont typeface="Arial" panose="020B0604020202020204" pitchFamily="34" charset="0"/>
              <a:buChar char="•"/>
            </a:pPr>
            <a:r>
              <a:rPr lang="en-US" sz="1400"/>
              <a:t>5) How expensive is the most expensive product, by </a:t>
            </a:r>
            <a:r>
              <a:rPr lang="en-US" sz="1400" err="1"/>
              <a:t>ListPrice</a:t>
            </a:r>
            <a:r>
              <a:rPr lang="en-US" sz="1400"/>
              <a:t>, in the table </a:t>
            </a:r>
            <a:r>
              <a:rPr lang="en-US" sz="1400" err="1"/>
              <a:t>Production.Product</a:t>
            </a:r>
            <a:r>
              <a:rPr lang="en-US" sz="1400"/>
              <a:t>? </a:t>
            </a:r>
          </a:p>
          <a:p>
            <a:pPr marL="285750" indent="-285750">
              <a:buFont typeface="Arial" panose="020B0604020202020204" pitchFamily="34" charset="0"/>
              <a:buChar char="•"/>
            </a:pPr>
            <a:r>
              <a:rPr lang="en-US" sz="1400"/>
              <a:t>6) Join the </a:t>
            </a:r>
            <a:r>
              <a:rPr lang="en-US" sz="1400" err="1"/>
              <a:t>Production.Product</a:t>
            </a:r>
            <a:r>
              <a:rPr lang="en-US" sz="1400"/>
              <a:t> table and the </a:t>
            </a:r>
            <a:r>
              <a:rPr lang="en-US" sz="1400" err="1"/>
              <a:t>Production.ProductInventory</a:t>
            </a:r>
            <a:r>
              <a:rPr lang="en-US" sz="1400"/>
              <a:t> table for only the products that appear in both table. Use the </a:t>
            </a:r>
            <a:r>
              <a:rPr lang="en-US" sz="1400" err="1"/>
              <a:t>ProductID</a:t>
            </a:r>
            <a:r>
              <a:rPr lang="en-US" sz="1400"/>
              <a:t> as the joining column. </a:t>
            </a:r>
            <a:r>
              <a:rPr lang="en-US" sz="1400" err="1"/>
              <a:t>Production.ProductInventory</a:t>
            </a:r>
            <a:r>
              <a:rPr lang="en-US" sz="1400"/>
              <a:t> contains the quantity of each product (several rows can appear for each product to indicate the product appears in multiple locations). Your goal is to determine how much money we would earn if we sold every product for its list price for each product with a </a:t>
            </a:r>
            <a:r>
              <a:rPr lang="en-US" sz="1400" err="1"/>
              <a:t>ListPrice</a:t>
            </a:r>
            <a:r>
              <a:rPr lang="en-US" sz="1400"/>
              <a:t> greater than $0. That is, if you summed the product of each product’s inventory by its list price, what would that value be? (Hint: This is intentionally challenging. You must use an aggregate function with a mathematical expression to accomplish your goal)</a:t>
            </a:r>
          </a:p>
        </p:txBody>
      </p:sp>
    </p:spTree>
    <p:extLst>
      <p:ext uri="{BB962C8B-B14F-4D97-AF65-F5344CB8AC3E}">
        <p14:creationId xmlns:p14="http://schemas.microsoft.com/office/powerpoint/2010/main" val="105560577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7285A8-6EB4-44C6-9ACB-4CC45D21736D}"/>
              </a:ext>
            </a:extLst>
          </p:cNvPr>
          <p:cNvSpPr>
            <a:spLocks noGrp="1"/>
          </p:cNvSpPr>
          <p:nvPr>
            <p:ph type="ctrTitle"/>
          </p:nvPr>
        </p:nvSpPr>
        <p:spPr>
          <a:xfrm>
            <a:off x="1700212" y="411061"/>
            <a:ext cx="8791575" cy="1186212"/>
          </a:xfrm>
        </p:spPr>
        <p:txBody>
          <a:bodyPr/>
          <a:lstStyle/>
          <a:p>
            <a:pPr algn="ctr"/>
            <a:r>
              <a:rPr lang="en-US"/>
              <a:t>SQL FOR DATA ANALYSIS </a:t>
            </a:r>
          </a:p>
        </p:txBody>
      </p:sp>
      <p:sp>
        <p:nvSpPr>
          <p:cNvPr id="3" name="Subtitle 2">
            <a:extLst>
              <a:ext uri="{FF2B5EF4-FFF2-40B4-BE49-F238E27FC236}">
                <a16:creationId xmlns:a16="http://schemas.microsoft.com/office/drawing/2014/main" id="{F732812B-5517-445B-B80B-C63947CC015B}"/>
              </a:ext>
            </a:extLst>
          </p:cNvPr>
          <p:cNvSpPr>
            <a:spLocks noGrp="1"/>
          </p:cNvSpPr>
          <p:nvPr>
            <p:ph type="subTitle" idx="1"/>
          </p:nvPr>
        </p:nvSpPr>
        <p:spPr>
          <a:xfrm>
            <a:off x="1826046" y="2292586"/>
            <a:ext cx="8791575" cy="564939"/>
          </a:xfrm>
        </p:spPr>
        <p:txBody>
          <a:bodyPr>
            <a:normAutofit/>
          </a:bodyPr>
          <a:lstStyle/>
          <a:p>
            <a:pPr algn="ctr"/>
            <a:r>
              <a:rPr lang="en-US">
                <a:solidFill>
                  <a:srgbClr val="FFC000"/>
                </a:solidFill>
              </a:rPr>
              <a:t>aggregation</a:t>
            </a:r>
            <a:r>
              <a:rPr lang="en-US">
                <a:solidFill>
                  <a:schemeClr val="tx1"/>
                </a:solidFill>
              </a:rPr>
              <a:t> Statement Practice</a:t>
            </a:r>
          </a:p>
        </p:txBody>
      </p:sp>
      <p:sp>
        <p:nvSpPr>
          <p:cNvPr id="6" name="TextBox 5">
            <a:extLst>
              <a:ext uri="{FF2B5EF4-FFF2-40B4-BE49-F238E27FC236}">
                <a16:creationId xmlns:a16="http://schemas.microsoft.com/office/drawing/2014/main" id="{92BB8542-0453-4BA3-9CD2-95838244AA45}"/>
              </a:ext>
            </a:extLst>
          </p:cNvPr>
          <p:cNvSpPr txBox="1"/>
          <p:nvPr/>
        </p:nvSpPr>
        <p:spPr>
          <a:xfrm>
            <a:off x="3215657" y="3042608"/>
            <a:ext cx="7020190" cy="1600438"/>
          </a:xfrm>
          <a:prstGeom prst="rect">
            <a:avLst/>
          </a:prstGeom>
          <a:noFill/>
        </p:spPr>
        <p:txBody>
          <a:bodyPr wrap="square" rtlCol="0">
            <a:spAutoFit/>
          </a:bodyPr>
          <a:lstStyle/>
          <a:p>
            <a:pPr marL="285750" indent="-285750">
              <a:buFont typeface="Arial" panose="020B0604020202020204" pitchFamily="34" charset="0"/>
              <a:buChar char="•"/>
            </a:pPr>
            <a:r>
              <a:rPr lang="en-US" sz="1400"/>
              <a:t>Question 1: SELECT COUNT(*) FROM </a:t>
            </a:r>
            <a:r>
              <a:rPr lang="en-US" sz="1400" err="1"/>
              <a:t>Person.Person</a:t>
            </a:r>
            <a:r>
              <a:rPr lang="en-US" sz="1400"/>
              <a:t> </a:t>
            </a:r>
          </a:p>
          <a:p>
            <a:pPr marL="285750" indent="-285750">
              <a:buFont typeface="Arial" panose="020B0604020202020204" pitchFamily="34" charset="0"/>
              <a:buChar char="•"/>
            </a:pPr>
            <a:r>
              <a:rPr lang="en-US" sz="1400"/>
              <a:t>Question 2: SELECT COUNT(</a:t>
            </a:r>
            <a:r>
              <a:rPr lang="en-US" sz="1400" err="1"/>
              <a:t>MiddleName</a:t>
            </a:r>
            <a:r>
              <a:rPr lang="en-US" sz="1400"/>
              <a:t>) FROM </a:t>
            </a:r>
            <a:r>
              <a:rPr lang="en-US" sz="1400" err="1"/>
              <a:t>Person.Person</a:t>
            </a:r>
            <a:r>
              <a:rPr lang="en-US" sz="1400"/>
              <a:t> </a:t>
            </a:r>
          </a:p>
          <a:p>
            <a:pPr marL="285750" indent="-285750">
              <a:buFont typeface="Arial" panose="020B0604020202020204" pitchFamily="34" charset="0"/>
              <a:buChar char="•"/>
            </a:pPr>
            <a:r>
              <a:rPr lang="en-US" sz="1400"/>
              <a:t>Question 3: SELECT AVG(</a:t>
            </a:r>
            <a:r>
              <a:rPr lang="en-US" sz="1400" err="1"/>
              <a:t>StandardCost</a:t>
            </a:r>
            <a:r>
              <a:rPr lang="en-US" sz="1400"/>
              <a:t>) FROM </a:t>
            </a:r>
            <a:r>
              <a:rPr lang="en-US" sz="1400" err="1"/>
              <a:t>Production.Product</a:t>
            </a:r>
            <a:r>
              <a:rPr lang="en-US" sz="1400"/>
              <a:t> WHERE </a:t>
            </a:r>
            <a:r>
              <a:rPr lang="en-US" sz="1400" err="1"/>
              <a:t>StandardCost</a:t>
            </a:r>
            <a:r>
              <a:rPr lang="en-US" sz="1400"/>
              <a:t> &gt; 0 </a:t>
            </a:r>
          </a:p>
          <a:p>
            <a:pPr marL="285750" indent="-285750">
              <a:buFont typeface="Arial" panose="020B0604020202020204" pitchFamily="34" charset="0"/>
              <a:buChar char="•"/>
            </a:pPr>
            <a:r>
              <a:rPr lang="en-US" sz="1400"/>
              <a:t>Question 4: SELECT AVG(Freight) FROM </a:t>
            </a:r>
            <a:r>
              <a:rPr lang="en-US" sz="1400" err="1"/>
              <a:t>Sales.SalesOrderHeader</a:t>
            </a:r>
            <a:r>
              <a:rPr lang="en-US" sz="1400"/>
              <a:t> WHERE </a:t>
            </a:r>
            <a:r>
              <a:rPr lang="en-US" sz="1400" err="1"/>
              <a:t>TerritoryID</a:t>
            </a:r>
            <a:r>
              <a:rPr lang="en-US" sz="1400"/>
              <a:t> = 4 </a:t>
            </a:r>
          </a:p>
          <a:p>
            <a:pPr marL="285750" indent="-285750">
              <a:buFont typeface="Arial" panose="020B0604020202020204" pitchFamily="34" charset="0"/>
              <a:buChar char="•"/>
            </a:pPr>
            <a:r>
              <a:rPr lang="en-US" sz="1400"/>
              <a:t>Question 5: SELECT MAX(</a:t>
            </a:r>
            <a:r>
              <a:rPr lang="en-US" sz="1400" err="1"/>
              <a:t>ListPrice</a:t>
            </a:r>
            <a:r>
              <a:rPr lang="en-US" sz="1400"/>
              <a:t>) FROM </a:t>
            </a:r>
            <a:r>
              <a:rPr lang="en-US" sz="1400" err="1"/>
              <a:t>Production.Product</a:t>
            </a:r>
            <a:r>
              <a:rPr lang="en-US" sz="1400"/>
              <a:t> </a:t>
            </a:r>
          </a:p>
          <a:p>
            <a:pPr marL="285750" indent="-285750">
              <a:buFont typeface="Arial" panose="020B0604020202020204" pitchFamily="34" charset="0"/>
              <a:buChar char="•"/>
            </a:pPr>
            <a:r>
              <a:rPr lang="en-US" sz="1400"/>
              <a:t>Question 6: SELECT SUM(</a:t>
            </a:r>
            <a:r>
              <a:rPr lang="en-US" sz="1400" err="1"/>
              <a:t>P.ListPrice</a:t>
            </a:r>
            <a:r>
              <a:rPr lang="en-US" sz="1400"/>
              <a:t>*</a:t>
            </a:r>
            <a:r>
              <a:rPr lang="en-US" sz="1400" err="1"/>
              <a:t>I.Quantity</a:t>
            </a:r>
            <a:r>
              <a:rPr lang="en-US" sz="1400"/>
              <a:t>) FROM </a:t>
            </a:r>
            <a:r>
              <a:rPr lang="en-US" sz="1400" err="1"/>
              <a:t>Production.Product</a:t>
            </a:r>
            <a:r>
              <a:rPr lang="en-US" sz="1400"/>
              <a:t> P INNER JOIN </a:t>
            </a:r>
            <a:r>
              <a:rPr lang="en-US" sz="1400" err="1"/>
              <a:t>Production.ProductInventory</a:t>
            </a:r>
            <a:r>
              <a:rPr lang="en-US" sz="1400"/>
              <a:t> I ON </a:t>
            </a:r>
            <a:r>
              <a:rPr lang="en-US" sz="1400" err="1"/>
              <a:t>I.ProductID</a:t>
            </a:r>
            <a:r>
              <a:rPr lang="en-US" sz="1400"/>
              <a:t> = </a:t>
            </a:r>
            <a:r>
              <a:rPr lang="en-US" sz="1400" err="1"/>
              <a:t>P.ProductID</a:t>
            </a:r>
            <a:r>
              <a:rPr lang="en-US" sz="1400"/>
              <a:t> WHERE </a:t>
            </a:r>
            <a:r>
              <a:rPr lang="en-US" sz="1400" err="1"/>
              <a:t>P.ListPrice</a:t>
            </a:r>
            <a:r>
              <a:rPr lang="en-US" sz="1400"/>
              <a:t> &gt; 0</a:t>
            </a:r>
          </a:p>
        </p:txBody>
      </p:sp>
    </p:spTree>
    <p:extLst>
      <p:ext uri="{BB962C8B-B14F-4D97-AF65-F5344CB8AC3E}">
        <p14:creationId xmlns:p14="http://schemas.microsoft.com/office/powerpoint/2010/main" val="236260565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7285A8-6EB4-44C6-9ACB-4CC45D21736D}"/>
              </a:ext>
            </a:extLst>
          </p:cNvPr>
          <p:cNvSpPr>
            <a:spLocks noGrp="1"/>
          </p:cNvSpPr>
          <p:nvPr>
            <p:ph type="ctrTitle"/>
          </p:nvPr>
        </p:nvSpPr>
        <p:spPr>
          <a:xfrm>
            <a:off x="1700212" y="411061"/>
            <a:ext cx="8791575" cy="1186212"/>
          </a:xfrm>
        </p:spPr>
        <p:txBody>
          <a:bodyPr/>
          <a:lstStyle/>
          <a:p>
            <a:pPr algn="ctr"/>
            <a:r>
              <a:rPr lang="en-US"/>
              <a:t>SQL FOR DATA ANALYSIS </a:t>
            </a:r>
          </a:p>
        </p:txBody>
      </p:sp>
      <p:sp>
        <p:nvSpPr>
          <p:cNvPr id="3" name="Subtitle 2">
            <a:extLst>
              <a:ext uri="{FF2B5EF4-FFF2-40B4-BE49-F238E27FC236}">
                <a16:creationId xmlns:a16="http://schemas.microsoft.com/office/drawing/2014/main" id="{F732812B-5517-445B-B80B-C63947CC015B}"/>
              </a:ext>
            </a:extLst>
          </p:cNvPr>
          <p:cNvSpPr>
            <a:spLocks noGrp="1"/>
          </p:cNvSpPr>
          <p:nvPr>
            <p:ph type="subTitle" idx="1"/>
          </p:nvPr>
        </p:nvSpPr>
        <p:spPr>
          <a:xfrm>
            <a:off x="1826046" y="2292586"/>
            <a:ext cx="8791575" cy="564939"/>
          </a:xfrm>
        </p:spPr>
        <p:txBody>
          <a:bodyPr>
            <a:normAutofit/>
          </a:bodyPr>
          <a:lstStyle/>
          <a:p>
            <a:pPr algn="ctr"/>
            <a:r>
              <a:rPr lang="en-US">
                <a:solidFill>
                  <a:srgbClr val="FFC000"/>
                </a:solidFill>
              </a:rPr>
              <a:t>Group by</a:t>
            </a:r>
            <a:r>
              <a:rPr lang="en-US">
                <a:solidFill>
                  <a:schemeClr val="tx1"/>
                </a:solidFill>
              </a:rPr>
              <a:t> Statement Practice</a:t>
            </a:r>
          </a:p>
        </p:txBody>
      </p:sp>
      <p:sp>
        <p:nvSpPr>
          <p:cNvPr id="6" name="TextBox 5">
            <a:extLst>
              <a:ext uri="{FF2B5EF4-FFF2-40B4-BE49-F238E27FC236}">
                <a16:creationId xmlns:a16="http://schemas.microsoft.com/office/drawing/2014/main" id="{92BB8542-0453-4BA3-9CD2-95838244AA45}"/>
              </a:ext>
            </a:extLst>
          </p:cNvPr>
          <p:cNvSpPr txBox="1"/>
          <p:nvPr/>
        </p:nvSpPr>
        <p:spPr>
          <a:xfrm>
            <a:off x="3180823" y="2999065"/>
            <a:ext cx="7020190" cy="1600438"/>
          </a:xfrm>
          <a:prstGeom prst="rect">
            <a:avLst/>
          </a:prstGeom>
          <a:noFill/>
        </p:spPr>
        <p:txBody>
          <a:bodyPr wrap="square" rtlCol="0">
            <a:spAutoFit/>
          </a:bodyPr>
          <a:lstStyle/>
          <a:p>
            <a:pPr marL="285750" indent="-285750">
              <a:buFont typeface="Arial" panose="020B0604020202020204" pitchFamily="34" charset="0"/>
              <a:buChar char="•"/>
            </a:pPr>
            <a:r>
              <a:rPr lang="en-US" sz="1400"/>
              <a:t>1) In the </a:t>
            </a:r>
            <a:r>
              <a:rPr lang="en-US" sz="1400" err="1"/>
              <a:t>Person.Person</a:t>
            </a:r>
            <a:r>
              <a:rPr lang="en-US" sz="1400"/>
              <a:t> table, how many people are associated with each </a:t>
            </a:r>
            <a:r>
              <a:rPr lang="en-US" sz="1400" err="1"/>
              <a:t>PersonType</a:t>
            </a:r>
            <a:r>
              <a:rPr lang="en-US" sz="1400"/>
              <a:t>? </a:t>
            </a:r>
          </a:p>
          <a:p>
            <a:pPr marL="285750" indent="-285750">
              <a:buFont typeface="Arial" panose="020B0604020202020204" pitchFamily="34" charset="0"/>
              <a:buChar char="•"/>
            </a:pPr>
            <a:r>
              <a:rPr lang="en-US" sz="1400"/>
              <a:t>2) Using only one query, find out how many products in </a:t>
            </a:r>
            <a:r>
              <a:rPr lang="en-US" sz="1400" err="1"/>
              <a:t>Production.Product</a:t>
            </a:r>
            <a:r>
              <a:rPr lang="en-US" sz="1400"/>
              <a:t> are the color “red” and how many are “black”. </a:t>
            </a:r>
          </a:p>
          <a:p>
            <a:pPr marL="285750" indent="-285750">
              <a:buFont typeface="Arial" panose="020B0604020202020204" pitchFamily="34" charset="0"/>
              <a:buChar char="•"/>
            </a:pPr>
            <a:r>
              <a:rPr lang="en-US" sz="1400"/>
              <a:t>3) Using </a:t>
            </a:r>
            <a:r>
              <a:rPr lang="en-US" sz="1400" err="1"/>
              <a:t>Sales.SalesOrderHeader</a:t>
            </a:r>
            <a:r>
              <a:rPr lang="en-US" sz="1400"/>
              <a:t>, how many sales occurred in each territory between July 1, 2005 and December 31, 2006? Order the results by the sale count in descending order. </a:t>
            </a:r>
          </a:p>
          <a:p>
            <a:pPr marL="285750" indent="-285750">
              <a:buFont typeface="Arial" panose="020B0604020202020204" pitchFamily="34" charset="0"/>
              <a:buChar char="•"/>
            </a:pPr>
            <a:r>
              <a:rPr lang="en-US" sz="1400"/>
              <a:t>4) Expanding on the previous example, group the results not by the </a:t>
            </a:r>
            <a:r>
              <a:rPr lang="en-US" sz="1400" err="1"/>
              <a:t>TerritoryID</a:t>
            </a:r>
            <a:r>
              <a:rPr lang="en-US" sz="1400"/>
              <a:t> but by the name of the territory (found in the </a:t>
            </a:r>
            <a:r>
              <a:rPr lang="en-US" sz="1400" err="1"/>
              <a:t>Sales.SalesTerritory</a:t>
            </a:r>
            <a:r>
              <a:rPr lang="en-US" sz="1400"/>
              <a:t> table). </a:t>
            </a:r>
          </a:p>
        </p:txBody>
      </p:sp>
    </p:spTree>
    <p:extLst>
      <p:ext uri="{BB962C8B-B14F-4D97-AF65-F5344CB8AC3E}">
        <p14:creationId xmlns:p14="http://schemas.microsoft.com/office/powerpoint/2010/main" val="27166830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7285A8-6EB4-44C6-9ACB-4CC45D21736D}"/>
              </a:ext>
            </a:extLst>
          </p:cNvPr>
          <p:cNvSpPr>
            <a:spLocks noGrp="1"/>
          </p:cNvSpPr>
          <p:nvPr>
            <p:ph type="ctrTitle"/>
          </p:nvPr>
        </p:nvSpPr>
        <p:spPr>
          <a:xfrm>
            <a:off x="1700212" y="411061"/>
            <a:ext cx="8791575" cy="1186212"/>
          </a:xfrm>
        </p:spPr>
        <p:txBody>
          <a:bodyPr/>
          <a:lstStyle/>
          <a:p>
            <a:pPr algn="ctr"/>
            <a:r>
              <a:rPr lang="en-US"/>
              <a:t>SQL FOR DATA ANALYSIS </a:t>
            </a:r>
          </a:p>
        </p:txBody>
      </p:sp>
      <p:sp>
        <p:nvSpPr>
          <p:cNvPr id="3" name="Subtitle 2">
            <a:extLst>
              <a:ext uri="{FF2B5EF4-FFF2-40B4-BE49-F238E27FC236}">
                <a16:creationId xmlns:a16="http://schemas.microsoft.com/office/drawing/2014/main" id="{F732812B-5517-445B-B80B-C63947CC015B}"/>
              </a:ext>
            </a:extLst>
          </p:cNvPr>
          <p:cNvSpPr>
            <a:spLocks noGrp="1"/>
          </p:cNvSpPr>
          <p:nvPr>
            <p:ph type="subTitle" idx="1"/>
          </p:nvPr>
        </p:nvSpPr>
        <p:spPr>
          <a:xfrm>
            <a:off x="1826046" y="2292586"/>
            <a:ext cx="8791575" cy="564939"/>
          </a:xfrm>
        </p:spPr>
        <p:txBody>
          <a:bodyPr>
            <a:normAutofit/>
          </a:bodyPr>
          <a:lstStyle/>
          <a:p>
            <a:pPr algn="ctr"/>
            <a:r>
              <a:rPr lang="en-US">
                <a:solidFill>
                  <a:srgbClr val="FFC000"/>
                </a:solidFill>
              </a:rPr>
              <a:t>Group by</a:t>
            </a:r>
            <a:r>
              <a:rPr lang="en-US">
                <a:solidFill>
                  <a:schemeClr val="tx1"/>
                </a:solidFill>
              </a:rPr>
              <a:t> Statement Practice</a:t>
            </a:r>
          </a:p>
        </p:txBody>
      </p:sp>
      <p:sp>
        <p:nvSpPr>
          <p:cNvPr id="6" name="TextBox 5">
            <a:extLst>
              <a:ext uri="{FF2B5EF4-FFF2-40B4-BE49-F238E27FC236}">
                <a16:creationId xmlns:a16="http://schemas.microsoft.com/office/drawing/2014/main" id="{92BB8542-0453-4BA3-9CD2-95838244AA45}"/>
              </a:ext>
            </a:extLst>
          </p:cNvPr>
          <p:cNvSpPr txBox="1"/>
          <p:nvPr/>
        </p:nvSpPr>
        <p:spPr>
          <a:xfrm>
            <a:off x="3180823" y="2999065"/>
            <a:ext cx="7020190" cy="2246769"/>
          </a:xfrm>
          <a:prstGeom prst="rect">
            <a:avLst/>
          </a:prstGeom>
          <a:noFill/>
        </p:spPr>
        <p:txBody>
          <a:bodyPr wrap="square" rtlCol="0">
            <a:spAutoFit/>
          </a:bodyPr>
          <a:lstStyle/>
          <a:p>
            <a:pPr marL="285750" indent="-285750">
              <a:buFont typeface="Arial" panose="020B0604020202020204" pitchFamily="34" charset="0"/>
              <a:buChar char="•"/>
            </a:pPr>
            <a:r>
              <a:rPr lang="en-US" sz="1400"/>
              <a:t>Question 1: SELECT </a:t>
            </a:r>
            <a:r>
              <a:rPr lang="en-US" sz="1400" err="1"/>
              <a:t>PersonType</a:t>
            </a:r>
            <a:r>
              <a:rPr lang="en-US" sz="1400"/>
              <a:t>, COUNT(*) AS </a:t>
            </a:r>
            <a:r>
              <a:rPr lang="en-US" sz="1400" err="1"/>
              <a:t>PersonCount</a:t>
            </a:r>
            <a:r>
              <a:rPr lang="en-US" sz="1400"/>
              <a:t> FROM </a:t>
            </a:r>
            <a:r>
              <a:rPr lang="en-US" sz="1400" err="1"/>
              <a:t>Person.Person</a:t>
            </a:r>
            <a:r>
              <a:rPr lang="en-US" sz="1400"/>
              <a:t> GROUP BY </a:t>
            </a:r>
            <a:r>
              <a:rPr lang="en-US" sz="1400" err="1"/>
              <a:t>PersonType</a:t>
            </a:r>
            <a:r>
              <a:rPr lang="en-US" sz="1400"/>
              <a:t> </a:t>
            </a:r>
          </a:p>
          <a:p>
            <a:pPr marL="285750" indent="-285750">
              <a:buFont typeface="Arial" panose="020B0604020202020204" pitchFamily="34" charset="0"/>
              <a:buChar char="•"/>
            </a:pPr>
            <a:r>
              <a:rPr lang="en-US" sz="1400"/>
              <a:t>Question 2: SELECT Color, COUNT(*) AS </a:t>
            </a:r>
            <a:r>
              <a:rPr lang="en-US" sz="1400" err="1"/>
              <a:t>ProductCount</a:t>
            </a:r>
            <a:r>
              <a:rPr lang="en-US" sz="1400"/>
              <a:t> FROM </a:t>
            </a:r>
            <a:r>
              <a:rPr lang="en-US" sz="1400" err="1"/>
              <a:t>Production.Product</a:t>
            </a:r>
            <a:r>
              <a:rPr lang="en-US" sz="1400"/>
              <a:t> WHERE Color IN ('Red', 'Black') GROUP BY Color </a:t>
            </a:r>
          </a:p>
          <a:p>
            <a:pPr marL="285750" indent="-285750">
              <a:buFont typeface="Arial" panose="020B0604020202020204" pitchFamily="34" charset="0"/>
              <a:buChar char="•"/>
            </a:pPr>
            <a:r>
              <a:rPr lang="en-US" sz="1400"/>
              <a:t>Question 3: SELECT </a:t>
            </a:r>
            <a:r>
              <a:rPr lang="en-US" sz="1400" err="1"/>
              <a:t>TerritoryID</a:t>
            </a:r>
            <a:r>
              <a:rPr lang="en-US" sz="1400"/>
              <a:t>, COUNT(*) AS </a:t>
            </a:r>
            <a:r>
              <a:rPr lang="en-US" sz="1400" err="1"/>
              <a:t>SalesCount</a:t>
            </a:r>
            <a:r>
              <a:rPr lang="en-US" sz="1400"/>
              <a:t> FROM </a:t>
            </a:r>
            <a:r>
              <a:rPr lang="en-US" sz="1400" err="1"/>
              <a:t>Sales.SalesOrderHeader</a:t>
            </a:r>
            <a:r>
              <a:rPr lang="en-US" sz="1400"/>
              <a:t> WHERE </a:t>
            </a:r>
            <a:r>
              <a:rPr lang="en-US" sz="1400" err="1"/>
              <a:t>OrderDate</a:t>
            </a:r>
            <a:r>
              <a:rPr lang="en-US" sz="1400"/>
              <a:t> BETWEEN '7/1/2005' AND '12/31/2006' GROUP BY </a:t>
            </a:r>
            <a:r>
              <a:rPr lang="en-US" sz="1400" err="1"/>
              <a:t>TerritoryID</a:t>
            </a:r>
            <a:r>
              <a:rPr lang="en-US" sz="1400"/>
              <a:t> </a:t>
            </a:r>
          </a:p>
          <a:p>
            <a:pPr marL="285750" indent="-285750">
              <a:buFont typeface="Arial" panose="020B0604020202020204" pitchFamily="34" charset="0"/>
              <a:buChar char="•"/>
            </a:pPr>
            <a:r>
              <a:rPr lang="en-US" sz="1400"/>
              <a:t>Question 4: SELECT </a:t>
            </a:r>
            <a:r>
              <a:rPr lang="en-US" sz="1400" err="1"/>
              <a:t>ST.Name</a:t>
            </a:r>
            <a:r>
              <a:rPr lang="en-US" sz="1400"/>
              <a:t> AS </a:t>
            </a:r>
            <a:r>
              <a:rPr lang="en-US" sz="1400" err="1"/>
              <a:t>TerritoryName</a:t>
            </a:r>
            <a:r>
              <a:rPr lang="en-US" sz="1400"/>
              <a:t>, COUNT(*) AS </a:t>
            </a:r>
            <a:r>
              <a:rPr lang="en-US" sz="1400" err="1"/>
              <a:t>SalesCount</a:t>
            </a:r>
            <a:r>
              <a:rPr lang="en-US" sz="1400"/>
              <a:t> FROM </a:t>
            </a:r>
            <a:r>
              <a:rPr lang="en-US" sz="1400" err="1"/>
              <a:t>Sales.SalesOrderHeader</a:t>
            </a:r>
            <a:r>
              <a:rPr lang="en-US" sz="1400"/>
              <a:t> SOH LEFT OUTER JOIN </a:t>
            </a:r>
            <a:r>
              <a:rPr lang="en-US" sz="1400" err="1"/>
              <a:t>Sales.SalesTerritory</a:t>
            </a:r>
            <a:r>
              <a:rPr lang="en-US" sz="1400"/>
              <a:t> ST ON </a:t>
            </a:r>
            <a:r>
              <a:rPr lang="en-US" sz="1400" err="1"/>
              <a:t>ST.TerritoryID</a:t>
            </a:r>
            <a:r>
              <a:rPr lang="en-US" sz="1400"/>
              <a:t> = </a:t>
            </a:r>
            <a:r>
              <a:rPr lang="en-US" sz="1400" err="1"/>
              <a:t>SOH.TerritoryID</a:t>
            </a:r>
            <a:r>
              <a:rPr lang="en-US" sz="1400"/>
              <a:t> WHERE </a:t>
            </a:r>
            <a:r>
              <a:rPr lang="en-US" sz="1400" err="1"/>
              <a:t>OrderDate</a:t>
            </a:r>
            <a:r>
              <a:rPr lang="en-US" sz="1400"/>
              <a:t> BETWEEN '7/1/2005' AND '12/31/2006' GROUP BY </a:t>
            </a:r>
            <a:r>
              <a:rPr lang="en-US" sz="1400" err="1"/>
              <a:t>ST.Name</a:t>
            </a:r>
            <a:r>
              <a:rPr lang="en-US" sz="1400"/>
              <a:t> </a:t>
            </a:r>
          </a:p>
        </p:txBody>
      </p:sp>
    </p:spTree>
    <p:extLst>
      <p:ext uri="{BB962C8B-B14F-4D97-AF65-F5344CB8AC3E}">
        <p14:creationId xmlns:p14="http://schemas.microsoft.com/office/powerpoint/2010/main" val="49077322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7285A8-6EB4-44C6-9ACB-4CC45D21736D}"/>
              </a:ext>
            </a:extLst>
          </p:cNvPr>
          <p:cNvSpPr>
            <a:spLocks noGrp="1"/>
          </p:cNvSpPr>
          <p:nvPr>
            <p:ph type="ctrTitle"/>
          </p:nvPr>
        </p:nvSpPr>
        <p:spPr>
          <a:xfrm>
            <a:off x="1700212" y="411061"/>
            <a:ext cx="8791575" cy="1186212"/>
          </a:xfrm>
        </p:spPr>
        <p:txBody>
          <a:bodyPr/>
          <a:lstStyle/>
          <a:p>
            <a:pPr algn="ctr"/>
            <a:r>
              <a:rPr lang="en-US"/>
              <a:t>SQL FOR DATA ANALYSIS </a:t>
            </a:r>
          </a:p>
        </p:txBody>
      </p:sp>
      <p:sp>
        <p:nvSpPr>
          <p:cNvPr id="3" name="Subtitle 2">
            <a:extLst>
              <a:ext uri="{FF2B5EF4-FFF2-40B4-BE49-F238E27FC236}">
                <a16:creationId xmlns:a16="http://schemas.microsoft.com/office/drawing/2014/main" id="{F732812B-5517-445B-B80B-C63947CC015B}"/>
              </a:ext>
            </a:extLst>
          </p:cNvPr>
          <p:cNvSpPr>
            <a:spLocks noGrp="1"/>
          </p:cNvSpPr>
          <p:nvPr>
            <p:ph type="subTitle" idx="1"/>
          </p:nvPr>
        </p:nvSpPr>
        <p:spPr>
          <a:xfrm>
            <a:off x="1876380" y="1873136"/>
            <a:ext cx="8791575" cy="564939"/>
          </a:xfrm>
        </p:spPr>
        <p:txBody>
          <a:bodyPr>
            <a:normAutofit/>
          </a:bodyPr>
          <a:lstStyle/>
          <a:p>
            <a:pPr algn="ctr"/>
            <a:r>
              <a:rPr lang="en-US">
                <a:solidFill>
                  <a:srgbClr val="FFC000"/>
                </a:solidFill>
              </a:rPr>
              <a:t>Having </a:t>
            </a:r>
            <a:r>
              <a:rPr lang="en-US">
                <a:solidFill>
                  <a:schemeClr val="tx1"/>
                </a:solidFill>
              </a:rPr>
              <a:t>Statement Practice</a:t>
            </a:r>
          </a:p>
        </p:txBody>
      </p:sp>
      <p:sp>
        <p:nvSpPr>
          <p:cNvPr id="6" name="TextBox 5">
            <a:extLst>
              <a:ext uri="{FF2B5EF4-FFF2-40B4-BE49-F238E27FC236}">
                <a16:creationId xmlns:a16="http://schemas.microsoft.com/office/drawing/2014/main" id="{92BB8542-0453-4BA3-9CD2-95838244AA45}"/>
              </a:ext>
            </a:extLst>
          </p:cNvPr>
          <p:cNvSpPr txBox="1"/>
          <p:nvPr/>
        </p:nvSpPr>
        <p:spPr>
          <a:xfrm>
            <a:off x="2238103" y="2866358"/>
            <a:ext cx="9170126" cy="2308324"/>
          </a:xfrm>
          <a:prstGeom prst="rect">
            <a:avLst/>
          </a:prstGeom>
          <a:noFill/>
        </p:spPr>
        <p:txBody>
          <a:bodyPr wrap="square" rtlCol="0">
            <a:spAutoFit/>
          </a:bodyPr>
          <a:lstStyle/>
          <a:p>
            <a:pPr marL="285750" indent="-285750">
              <a:buFont typeface="Arial" panose="020B0604020202020204" pitchFamily="34" charset="0"/>
              <a:buChar char="•"/>
            </a:pPr>
            <a:r>
              <a:rPr lang="en-US" sz="1200"/>
              <a:t>1) Find the total sales by territory for all rows in the </a:t>
            </a:r>
            <a:r>
              <a:rPr lang="en-US" sz="1200" err="1"/>
              <a:t>Sales.SalesOrderHeader</a:t>
            </a:r>
            <a:r>
              <a:rPr lang="en-US" sz="1200"/>
              <a:t> table. Return only those territories that have exceeded $10 million in historical sales. Return the total sales and the </a:t>
            </a:r>
            <a:r>
              <a:rPr lang="en-US" sz="1200" err="1"/>
              <a:t>TerritoryID</a:t>
            </a:r>
            <a:r>
              <a:rPr lang="en-US" sz="1200"/>
              <a:t> column. </a:t>
            </a:r>
          </a:p>
          <a:p>
            <a:pPr marL="285750" indent="-285750">
              <a:buFont typeface="Arial" panose="020B0604020202020204" pitchFamily="34" charset="0"/>
              <a:buChar char="•"/>
            </a:pPr>
            <a:r>
              <a:rPr lang="en-US" sz="1200"/>
              <a:t>2) Using the query from the previous question, join to the </a:t>
            </a:r>
            <a:r>
              <a:rPr lang="en-US" sz="1200" err="1"/>
              <a:t>Sales.SalesTerritory</a:t>
            </a:r>
            <a:r>
              <a:rPr lang="en-US" sz="1200"/>
              <a:t> table and replace the </a:t>
            </a:r>
            <a:r>
              <a:rPr lang="en-US" sz="1200" err="1"/>
              <a:t>TerritoryID</a:t>
            </a:r>
            <a:r>
              <a:rPr lang="en-US" sz="1200"/>
              <a:t> column with the territory’s name. </a:t>
            </a:r>
          </a:p>
          <a:p>
            <a:pPr marL="285750" indent="-285750">
              <a:buFont typeface="Arial" panose="020B0604020202020204" pitchFamily="34" charset="0"/>
              <a:buChar char="•"/>
            </a:pPr>
            <a:r>
              <a:rPr lang="en-US" sz="1200"/>
              <a:t>3) Using the </a:t>
            </a:r>
            <a:r>
              <a:rPr lang="en-US" sz="1200" err="1"/>
              <a:t>Production.Product</a:t>
            </a:r>
            <a:r>
              <a:rPr lang="en-US" sz="1200"/>
              <a:t> table, find how many products are associated with each color. Ignore all rows where the color has a NULL value. Once grouped, return to the results only those colors that had at least 20 products with that color. </a:t>
            </a:r>
          </a:p>
          <a:p>
            <a:pPr marL="285750" indent="-285750">
              <a:buFont typeface="Arial" panose="020B0604020202020204" pitchFamily="34" charset="0"/>
              <a:buChar char="•"/>
            </a:pPr>
            <a:r>
              <a:rPr lang="en-US" sz="1200"/>
              <a:t>4) Starting with the </a:t>
            </a:r>
            <a:r>
              <a:rPr lang="en-US" sz="1200" err="1"/>
              <a:t>Sales.SalesOrderHeader</a:t>
            </a:r>
            <a:r>
              <a:rPr lang="en-US" sz="1200"/>
              <a:t> table, join to the </a:t>
            </a:r>
            <a:r>
              <a:rPr lang="en-US" sz="1200" err="1"/>
              <a:t>Sales.SalesOrderDetail</a:t>
            </a:r>
            <a:r>
              <a:rPr lang="en-US" sz="1200"/>
              <a:t> table. This table contains the line item details associated with each sale. From </a:t>
            </a:r>
            <a:r>
              <a:rPr lang="en-US" sz="1200" err="1"/>
              <a:t>Sales.SalesOrderDetail</a:t>
            </a:r>
            <a:r>
              <a:rPr lang="en-US" sz="1200"/>
              <a:t>, join to the </a:t>
            </a:r>
            <a:r>
              <a:rPr lang="en-US" sz="1200" err="1"/>
              <a:t>Production.Product</a:t>
            </a:r>
            <a:r>
              <a:rPr lang="en-US" sz="1200"/>
              <a:t> table. Return the Name column from </a:t>
            </a:r>
            <a:r>
              <a:rPr lang="en-US" sz="1200" err="1"/>
              <a:t>Production.Product</a:t>
            </a:r>
            <a:r>
              <a:rPr lang="en-US" sz="1200"/>
              <a:t> and assign it the column alias “Product Name”. For each product, find out how many of each product was ordered for all orders that occurred in 2006. Only output those products where at least 200 were ordered. </a:t>
            </a:r>
          </a:p>
          <a:p>
            <a:pPr marL="285750" indent="-285750">
              <a:buFont typeface="Arial" panose="020B0604020202020204" pitchFamily="34" charset="0"/>
              <a:buChar char="•"/>
            </a:pPr>
            <a:r>
              <a:rPr lang="en-US" sz="1200"/>
              <a:t>5) Find the first and last name of each customer who has placed at least 6 orders between July 1, 2005 and December 31, 2006. Order your results by the number of orders placed in descending order. (Hint: You will need to join to three tables – </a:t>
            </a:r>
            <a:r>
              <a:rPr lang="en-US" sz="1200" err="1"/>
              <a:t>Sales.SalesOrderHeader</a:t>
            </a:r>
            <a:r>
              <a:rPr lang="en-US" sz="1200"/>
              <a:t>, </a:t>
            </a:r>
            <a:r>
              <a:rPr lang="en-US" sz="1200" err="1"/>
              <a:t>Sales.Customer</a:t>
            </a:r>
            <a:r>
              <a:rPr lang="en-US" sz="1200"/>
              <a:t>, and </a:t>
            </a:r>
            <a:r>
              <a:rPr lang="en-US" sz="1200" err="1"/>
              <a:t>Person.Person</a:t>
            </a:r>
            <a:r>
              <a:rPr lang="en-US" sz="1200"/>
              <a:t>. You will use every clause to complete this query).</a:t>
            </a:r>
          </a:p>
        </p:txBody>
      </p:sp>
    </p:spTree>
    <p:extLst>
      <p:ext uri="{BB962C8B-B14F-4D97-AF65-F5344CB8AC3E}">
        <p14:creationId xmlns:p14="http://schemas.microsoft.com/office/powerpoint/2010/main" val="208738805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7285A8-6EB4-44C6-9ACB-4CC45D21736D}"/>
              </a:ext>
            </a:extLst>
          </p:cNvPr>
          <p:cNvSpPr>
            <a:spLocks noGrp="1"/>
          </p:cNvSpPr>
          <p:nvPr>
            <p:ph type="ctrTitle"/>
          </p:nvPr>
        </p:nvSpPr>
        <p:spPr>
          <a:xfrm>
            <a:off x="1700212" y="411061"/>
            <a:ext cx="8791575" cy="1186212"/>
          </a:xfrm>
        </p:spPr>
        <p:txBody>
          <a:bodyPr/>
          <a:lstStyle/>
          <a:p>
            <a:pPr algn="ctr"/>
            <a:r>
              <a:rPr lang="en-US"/>
              <a:t>SQL FOR DATA ANALYSIS </a:t>
            </a:r>
          </a:p>
        </p:txBody>
      </p:sp>
      <p:sp>
        <p:nvSpPr>
          <p:cNvPr id="3" name="Subtitle 2">
            <a:extLst>
              <a:ext uri="{FF2B5EF4-FFF2-40B4-BE49-F238E27FC236}">
                <a16:creationId xmlns:a16="http://schemas.microsoft.com/office/drawing/2014/main" id="{F732812B-5517-445B-B80B-C63947CC015B}"/>
              </a:ext>
            </a:extLst>
          </p:cNvPr>
          <p:cNvSpPr>
            <a:spLocks noGrp="1"/>
          </p:cNvSpPr>
          <p:nvPr>
            <p:ph type="subTitle" idx="1"/>
          </p:nvPr>
        </p:nvSpPr>
        <p:spPr>
          <a:xfrm>
            <a:off x="1876380" y="1873136"/>
            <a:ext cx="8791575" cy="564939"/>
          </a:xfrm>
        </p:spPr>
        <p:txBody>
          <a:bodyPr>
            <a:normAutofit/>
          </a:bodyPr>
          <a:lstStyle/>
          <a:p>
            <a:pPr algn="ctr"/>
            <a:r>
              <a:rPr lang="en-US">
                <a:solidFill>
                  <a:srgbClr val="FFC000"/>
                </a:solidFill>
              </a:rPr>
              <a:t>Having </a:t>
            </a:r>
            <a:r>
              <a:rPr lang="en-US">
                <a:solidFill>
                  <a:schemeClr val="tx1"/>
                </a:solidFill>
              </a:rPr>
              <a:t>Statement Practice</a:t>
            </a:r>
          </a:p>
        </p:txBody>
      </p:sp>
      <p:sp>
        <p:nvSpPr>
          <p:cNvPr id="6" name="TextBox 5">
            <a:extLst>
              <a:ext uri="{FF2B5EF4-FFF2-40B4-BE49-F238E27FC236}">
                <a16:creationId xmlns:a16="http://schemas.microsoft.com/office/drawing/2014/main" id="{92BB8542-0453-4BA3-9CD2-95838244AA45}"/>
              </a:ext>
            </a:extLst>
          </p:cNvPr>
          <p:cNvSpPr txBox="1"/>
          <p:nvPr/>
        </p:nvSpPr>
        <p:spPr>
          <a:xfrm>
            <a:off x="2879218" y="3081098"/>
            <a:ext cx="8589970" cy="2677656"/>
          </a:xfrm>
          <a:prstGeom prst="rect">
            <a:avLst/>
          </a:prstGeom>
          <a:noFill/>
        </p:spPr>
        <p:txBody>
          <a:bodyPr wrap="square" rtlCol="0">
            <a:spAutoFit/>
          </a:bodyPr>
          <a:lstStyle/>
          <a:p>
            <a:pPr marL="285750" indent="-285750">
              <a:buFont typeface="Arial" panose="020B0604020202020204" pitchFamily="34" charset="0"/>
              <a:buChar char="•"/>
            </a:pPr>
            <a:r>
              <a:rPr lang="en-US" sz="1200"/>
              <a:t>Question 1: SELECT </a:t>
            </a:r>
            <a:r>
              <a:rPr lang="en-US" sz="1200" err="1"/>
              <a:t>TerritoryID</a:t>
            </a:r>
            <a:r>
              <a:rPr lang="en-US" sz="1200"/>
              <a:t>, SUM(</a:t>
            </a:r>
            <a:r>
              <a:rPr lang="en-US" sz="1200" err="1"/>
              <a:t>TotalDue</a:t>
            </a:r>
            <a:r>
              <a:rPr lang="en-US" sz="1200"/>
              <a:t>) AS </a:t>
            </a:r>
            <a:r>
              <a:rPr lang="en-US" sz="1200" err="1"/>
              <a:t>TotalSales</a:t>
            </a:r>
            <a:r>
              <a:rPr lang="en-US" sz="1200"/>
              <a:t> FROM </a:t>
            </a:r>
            <a:r>
              <a:rPr lang="en-US" sz="1200" err="1"/>
              <a:t>Sales.SalesOrderHeader</a:t>
            </a:r>
            <a:r>
              <a:rPr lang="en-US" sz="1200"/>
              <a:t> GROUP BY </a:t>
            </a:r>
            <a:r>
              <a:rPr lang="en-US" sz="1200" err="1"/>
              <a:t>TerritoryID</a:t>
            </a:r>
            <a:r>
              <a:rPr lang="en-US" sz="1200"/>
              <a:t> HAVING SUM(</a:t>
            </a:r>
            <a:r>
              <a:rPr lang="en-US" sz="1200" err="1"/>
              <a:t>TotalDue</a:t>
            </a:r>
            <a:r>
              <a:rPr lang="en-US" sz="1200"/>
              <a:t>) &gt; 10000000 </a:t>
            </a:r>
          </a:p>
          <a:p>
            <a:pPr marL="285750" indent="-285750">
              <a:buFont typeface="Arial" panose="020B0604020202020204" pitchFamily="34" charset="0"/>
              <a:buChar char="•"/>
            </a:pPr>
            <a:r>
              <a:rPr lang="en-US" sz="1200"/>
              <a:t>Question 2: SELECT </a:t>
            </a:r>
            <a:r>
              <a:rPr lang="en-US" sz="1200" err="1"/>
              <a:t>ST.Name</a:t>
            </a:r>
            <a:r>
              <a:rPr lang="en-US" sz="1200"/>
              <a:t> AS </a:t>
            </a:r>
            <a:r>
              <a:rPr lang="en-US" sz="1200" err="1"/>
              <a:t>TerritoryName</a:t>
            </a:r>
            <a:r>
              <a:rPr lang="en-US" sz="1200"/>
              <a:t>, SUM(</a:t>
            </a:r>
            <a:r>
              <a:rPr lang="en-US" sz="1200" err="1"/>
              <a:t>TotalDue</a:t>
            </a:r>
            <a:r>
              <a:rPr lang="en-US" sz="1200"/>
              <a:t>) AS </a:t>
            </a:r>
            <a:r>
              <a:rPr lang="en-US" sz="1200" err="1"/>
              <a:t>TotalSales</a:t>
            </a:r>
            <a:r>
              <a:rPr lang="en-US" sz="1200"/>
              <a:t> FROM </a:t>
            </a:r>
            <a:r>
              <a:rPr lang="en-US" sz="1200" err="1"/>
              <a:t>Sales.SalesOrderHeader</a:t>
            </a:r>
            <a:r>
              <a:rPr lang="en-US" sz="1200"/>
              <a:t> SOH LEFT OUTER JOIN </a:t>
            </a:r>
            <a:r>
              <a:rPr lang="en-US" sz="1200" err="1"/>
              <a:t>Sales.SalesTerritory</a:t>
            </a:r>
            <a:r>
              <a:rPr lang="en-US" sz="1200"/>
              <a:t> ST ON </a:t>
            </a:r>
            <a:r>
              <a:rPr lang="en-US" sz="1200" err="1"/>
              <a:t>ST.TerritoryID</a:t>
            </a:r>
            <a:r>
              <a:rPr lang="en-US" sz="1200"/>
              <a:t> = </a:t>
            </a:r>
            <a:r>
              <a:rPr lang="en-US" sz="1200" err="1"/>
              <a:t>SOH.TerritoryID</a:t>
            </a:r>
            <a:r>
              <a:rPr lang="en-US" sz="1200"/>
              <a:t> GROUP BY </a:t>
            </a:r>
            <a:r>
              <a:rPr lang="en-US" sz="1200" err="1"/>
              <a:t>ST.Name</a:t>
            </a:r>
            <a:r>
              <a:rPr lang="en-US" sz="1200"/>
              <a:t> HAVING SUM(</a:t>
            </a:r>
            <a:r>
              <a:rPr lang="en-US" sz="1200" err="1"/>
              <a:t>TotalDue</a:t>
            </a:r>
            <a:r>
              <a:rPr lang="en-US" sz="1200"/>
              <a:t>) &gt; 10000000 </a:t>
            </a:r>
          </a:p>
          <a:p>
            <a:pPr marL="285750" indent="-285750">
              <a:buFont typeface="Arial" panose="020B0604020202020204" pitchFamily="34" charset="0"/>
              <a:buChar char="•"/>
            </a:pPr>
            <a:r>
              <a:rPr lang="en-US" sz="1200"/>
              <a:t>Question 3: SELECT Color, COUNT(*) AS </a:t>
            </a:r>
            <a:r>
              <a:rPr lang="en-US" sz="1200" err="1"/>
              <a:t>ProductCount</a:t>
            </a:r>
            <a:r>
              <a:rPr lang="en-US" sz="1200"/>
              <a:t> FROM </a:t>
            </a:r>
            <a:r>
              <a:rPr lang="en-US" sz="1200" err="1"/>
              <a:t>Production.Product</a:t>
            </a:r>
            <a:r>
              <a:rPr lang="en-US" sz="1200"/>
              <a:t> WHERE Color IS NOT NULL GROUP BY Color HAVING COUNT(*) &gt;= 20 </a:t>
            </a:r>
          </a:p>
          <a:p>
            <a:pPr marL="285750" indent="-285750">
              <a:buFont typeface="Arial" panose="020B0604020202020204" pitchFamily="34" charset="0"/>
              <a:buChar char="•"/>
            </a:pPr>
            <a:r>
              <a:rPr lang="en-US" sz="1200"/>
              <a:t>Question 4: SELECT </a:t>
            </a:r>
            <a:r>
              <a:rPr lang="en-US" sz="1200" err="1"/>
              <a:t>P.Name</a:t>
            </a:r>
            <a:r>
              <a:rPr lang="en-US" sz="1200"/>
              <a:t> AS [Product Name], SUM(</a:t>
            </a:r>
            <a:r>
              <a:rPr lang="en-US" sz="1200" err="1"/>
              <a:t>SOD.OrderQty</a:t>
            </a:r>
            <a:r>
              <a:rPr lang="en-US" sz="1200"/>
              <a:t>) AS </a:t>
            </a:r>
            <a:r>
              <a:rPr lang="en-US" sz="1200" err="1"/>
              <a:t>ProductOrderCount</a:t>
            </a:r>
            <a:r>
              <a:rPr lang="en-US" sz="1200"/>
              <a:t> FROM </a:t>
            </a:r>
            <a:r>
              <a:rPr lang="en-US" sz="1200" err="1"/>
              <a:t>Sales.SalesOrderHeader</a:t>
            </a:r>
            <a:r>
              <a:rPr lang="en-US" sz="1200"/>
              <a:t> SOH INNER JOIN </a:t>
            </a:r>
            <a:r>
              <a:rPr lang="en-US" sz="1200" err="1"/>
              <a:t>Sales.SalesOrderDetail</a:t>
            </a:r>
            <a:r>
              <a:rPr lang="en-US" sz="1200"/>
              <a:t> SOD ON </a:t>
            </a:r>
            <a:r>
              <a:rPr lang="en-US" sz="1200" err="1"/>
              <a:t>SOD.SalesOrderID</a:t>
            </a:r>
            <a:r>
              <a:rPr lang="en-US" sz="1200"/>
              <a:t> = </a:t>
            </a:r>
            <a:r>
              <a:rPr lang="en-US" sz="1200" err="1"/>
              <a:t>SOH.SalesOrderID</a:t>
            </a:r>
            <a:r>
              <a:rPr lang="en-US" sz="1200"/>
              <a:t> INNER JOIN </a:t>
            </a:r>
            <a:r>
              <a:rPr lang="en-US" sz="1200" err="1"/>
              <a:t>Production.Product</a:t>
            </a:r>
            <a:r>
              <a:rPr lang="en-US" sz="1200"/>
              <a:t> P ON </a:t>
            </a:r>
            <a:r>
              <a:rPr lang="en-US" sz="1200" err="1"/>
              <a:t>P.ProductID</a:t>
            </a:r>
            <a:r>
              <a:rPr lang="en-US" sz="1200"/>
              <a:t> = </a:t>
            </a:r>
            <a:r>
              <a:rPr lang="en-US" sz="1200" err="1"/>
              <a:t>SOD.ProductID</a:t>
            </a:r>
            <a:r>
              <a:rPr lang="en-US" sz="1200"/>
              <a:t> WHERE </a:t>
            </a:r>
            <a:r>
              <a:rPr lang="en-US" sz="1200" err="1"/>
              <a:t>SOH.OrderDate</a:t>
            </a:r>
            <a:r>
              <a:rPr lang="en-US" sz="1200"/>
              <a:t> BETWEEN '1/1/2006' AND '12/31/2006' GROUP BY </a:t>
            </a:r>
            <a:r>
              <a:rPr lang="en-US" sz="1200" err="1"/>
              <a:t>P.Name</a:t>
            </a:r>
            <a:r>
              <a:rPr lang="en-US" sz="1200"/>
              <a:t> HAVING SUM(</a:t>
            </a:r>
            <a:r>
              <a:rPr lang="en-US" sz="1200" err="1"/>
              <a:t>SOD.OrderQty</a:t>
            </a:r>
            <a:r>
              <a:rPr lang="en-US" sz="1200"/>
              <a:t>) &gt;= 200 </a:t>
            </a:r>
          </a:p>
          <a:p>
            <a:pPr marL="285750" indent="-285750">
              <a:buFont typeface="Arial" panose="020B0604020202020204" pitchFamily="34" charset="0"/>
              <a:buChar char="•"/>
            </a:pPr>
            <a:r>
              <a:rPr lang="en-US" sz="1200"/>
              <a:t>Question 5: SELECT </a:t>
            </a:r>
            <a:r>
              <a:rPr lang="en-US" sz="1200" err="1"/>
              <a:t>P.FirstName</a:t>
            </a:r>
            <a:r>
              <a:rPr lang="en-US" sz="1200"/>
              <a:t>, </a:t>
            </a:r>
            <a:r>
              <a:rPr lang="en-US" sz="1200" err="1"/>
              <a:t>P.LastName</a:t>
            </a:r>
            <a:r>
              <a:rPr lang="en-US" sz="1200"/>
              <a:t>, COUNT(*) AS </a:t>
            </a:r>
            <a:r>
              <a:rPr lang="en-US" sz="1200" err="1"/>
              <a:t>OrdersPlaced</a:t>
            </a:r>
            <a:r>
              <a:rPr lang="en-US" sz="1200"/>
              <a:t> FROM </a:t>
            </a:r>
            <a:r>
              <a:rPr lang="en-US" sz="1200" err="1"/>
              <a:t>Sales.SalesOrderHeader</a:t>
            </a:r>
            <a:r>
              <a:rPr lang="en-US" sz="1200"/>
              <a:t> SOH INNER JOIN </a:t>
            </a:r>
            <a:r>
              <a:rPr lang="en-US" sz="1200" err="1"/>
              <a:t>Sales.Customer</a:t>
            </a:r>
            <a:r>
              <a:rPr lang="en-US" sz="1200"/>
              <a:t> C ON </a:t>
            </a:r>
            <a:r>
              <a:rPr lang="en-US" sz="1200" err="1"/>
              <a:t>C.CustomerID</a:t>
            </a:r>
            <a:r>
              <a:rPr lang="en-US" sz="1200"/>
              <a:t> = </a:t>
            </a:r>
            <a:r>
              <a:rPr lang="en-US" sz="1200" err="1"/>
              <a:t>SOH.CustomerID</a:t>
            </a:r>
            <a:r>
              <a:rPr lang="en-US" sz="1200"/>
              <a:t> INNER JOIN </a:t>
            </a:r>
            <a:r>
              <a:rPr lang="en-US" sz="1200" err="1"/>
              <a:t>Person.Person</a:t>
            </a:r>
            <a:r>
              <a:rPr lang="en-US" sz="1200"/>
              <a:t> P ON </a:t>
            </a:r>
            <a:r>
              <a:rPr lang="en-US" sz="1200" err="1"/>
              <a:t>P.BusinessEntityID</a:t>
            </a:r>
            <a:r>
              <a:rPr lang="en-US" sz="1200"/>
              <a:t> = </a:t>
            </a:r>
            <a:r>
              <a:rPr lang="en-US" sz="1200" err="1"/>
              <a:t>C.PersonID</a:t>
            </a:r>
            <a:r>
              <a:rPr lang="en-US" sz="1200"/>
              <a:t> WHERE </a:t>
            </a:r>
            <a:r>
              <a:rPr lang="en-US" sz="1200" err="1"/>
              <a:t>OrderDate</a:t>
            </a:r>
            <a:r>
              <a:rPr lang="en-US" sz="1200"/>
              <a:t> BETWEEN '7/1/2005' AND '12/31/2006' GROUP BY </a:t>
            </a:r>
            <a:r>
              <a:rPr lang="en-US" sz="1200" err="1"/>
              <a:t>P.FirstName</a:t>
            </a:r>
            <a:r>
              <a:rPr lang="en-US" sz="1200"/>
              <a:t>, </a:t>
            </a:r>
            <a:r>
              <a:rPr lang="en-US" sz="1200" err="1"/>
              <a:t>P.LastName</a:t>
            </a:r>
            <a:r>
              <a:rPr lang="en-US" sz="1200"/>
              <a:t> HAVING COUNT(*) &gt;= 6 ORDER BY </a:t>
            </a:r>
            <a:r>
              <a:rPr lang="en-US" sz="1200" err="1"/>
              <a:t>OrdersPlaced</a:t>
            </a:r>
            <a:r>
              <a:rPr lang="en-US" sz="1200"/>
              <a:t> DESC</a:t>
            </a:r>
          </a:p>
        </p:txBody>
      </p:sp>
    </p:spTree>
    <p:extLst>
      <p:ext uri="{BB962C8B-B14F-4D97-AF65-F5344CB8AC3E}">
        <p14:creationId xmlns:p14="http://schemas.microsoft.com/office/powerpoint/2010/main" val="298551302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7285A8-6EB4-44C6-9ACB-4CC45D21736D}"/>
              </a:ext>
            </a:extLst>
          </p:cNvPr>
          <p:cNvSpPr>
            <a:spLocks noGrp="1"/>
          </p:cNvSpPr>
          <p:nvPr>
            <p:ph type="ctrTitle"/>
          </p:nvPr>
        </p:nvSpPr>
        <p:spPr>
          <a:xfrm>
            <a:off x="1700212" y="411061"/>
            <a:ext cx="8791575" cy="1186212"/>
          </a:xfrm>
        </p:spPr>
        <p:txBody>
          <a:bodyPr/>
          <a:lstStyle/>
          <a:p>
            <a:pPr algn="ctr"/>
            <a:r>
              <a:rPr lang="en-US"/>
              <a:t>SQL FOR DATA ANALYSIS </a:t>
            </a:r>
          </a:p>
        </p:txBody>
      </p:sp>
      <p:sp>
        <p:nvSpPr>
          <p:cNvPr id="3" name="Subtitle 2">
            <a:extLst>
              <a:ext uri="{FF2B5EF4-FFF2-40B4-BE49-F238E27FC236}">
                <a16:creationId xmlns:a16="http://schemas.microsoft.com/office/drawing/2014/main" id="{F732812B-5517-445B-B80B-C63947CC015B}"/>
              </a:ext>
            </a:extLst>
          </p:cNvPr>
          <p:cNvSpPr>
            <a:spLocks noGrp="1"/>
          </p:cNvSpPr>
          <p:nvPr>
            <p:ph type="subTitle" idx="1"/>
          </p:nvPr>
        </p:nvSpPr>
        <p:spPr>
          <a:xfrm>
            <a:off x="1876380" y="1873136"/>
            <a:ext cx="8791575" cy="564939"/>
          </a:xfrm>
        </p:spPr>
        <p:txBody>
          <a:bodyPr>
            <a:normAutofit/>
          </a:bodyPr>
          <a:lstStyle/>
          <a:p>
            <a:pPr algn="ctr"/>
            <a:r>
              <a:rPr lang="en-US">
                <a:solidFill>
                  <a:srgbClr val="FFC000"/>
                </a:solidFill>
              </a:rPr>
              <a:t>String </a:t>
            </a:r>
            <a:r>
              <a:rPr lang="en-US">
                <a:solidFill>
                  <a:schemeClr val="tx1"/>
                </a:solidFill>
              </a:rPr>
              <a:t>Statement Practice</a:t>
            </a:r>
          </a:p>
        </p:txBody>
      </p:sp>
      <p:sp>
        <p:nvSpPr>
          <p:cNvPr id="6" name="TextBox 5">
            <a:extLst>
              <a:ext uri="{FF2B5EF4-FFF2-40B4-BE49-F238E27FC236}">
                <a16:creationId xmlns:a16="http://schemas.microsoft.com/office/drawing/2014/main" id="{92BB8542-0453-4BA3-9CD2-95838244AA45}"/>
              </a:ext>
            </a:extLst>
          </p:cNvPr>
          <p:cNvSpPr txBox="1"/>
          <p:nvPr/>
        </p:nvSpPr>
        <p:spPr>
          <a:xfrm>
            <a:off x="2844383" y="2631228"/>
            <a:ext cx="8058747" cy="2893100"/>
          </a:xfrm>
          <a:prstGeom prst="rect">
            <a:avLst/>
          </a:prstGeom>
          <a:noFill/>
        </p:spPr>
        <p:txBody>
          <a:bodyPr wrap="square" rtlCol="0">
            <a:spAutoFit/>
          </a:bodyPr>
          <a:lstStyle/>
          <a:p>
            <a:pPr marL="285750" indent="-285750">
              <a:buFont typeface="Arial" panose="020B0604020202020204" pitchFamily="34" charset="0"/>
              <a:buChar char="•"/>
            </a:pPr>
            <a:r>
              <a:rPr lang="en-US" sz="1400"/>
              <a:t>1) Return the first eight characters of the string “This is a basic string”. </a:t>
            </a:r>
          </a:p>
          <a:p>
            <a:pPr marL="285750" indent="-285750">
              <a:buFont typeface="Arial" panose="020B0604020202020204" pitchFamily="34" charset="0"/>
              <a:buChar char="•"/>
            </a:pPr>
            <a:r>
              <a:rPr lang="en-US" sz="1400"/>
              <a:t>2) Return the last six characters of the string “This is another string” </a:t>
            </a:r>
          </a:p>
          <a:p>
            <a:pPr marL="285750" indent="-285750">
              <a:buFont typeface="Arial" panose="020B0604020202020204" pitchFamily="34" charset="0"/>
              <a:buChar char="•"/>
            </a:pPr>
            <a:r>
              <a:rPr lang="en-US" sz="1400"/>
              <a:t>3) Find the index (integer location) of the first instance of the letter “e” in each product name from the </a:t>
            </a:r>
            <a:r>
              <a:rPr lang="en-US" sz="1400" err="1"/>
              <a:t>Production.Product</a:t>
            </a:r>
            <a:r>
              <a:rPr lang="en-US" sz="1400"/>
              <a:t> table. </a:t>
            </a:r>
          </a:p>
          <a:p>
            <a:pPr marL="285750" indent="-285750">
              <a:buFont typeface="Arial" panose="020B0604020202020204" pitchFamily="34" charset="0"/>
              <a:buChar char="•"/>
            </a:pPr>
            <a:r>
              <a:rPr lang="en-US" sz="1400"/>
              <a:t>4) Find the substring of the territory name from </a:t>
            </a:r>
            <a:r>
              <a:rPr lang="en-US" sz="1400" err="1"/>
              <a:t>Sales.SalesTerritory</a:t>
            </a:r>
            <a:r>
              <a:rPr lang="en-US" sz="1400"/>
              <a:t> starting at the third character and lasting four characters in length. </a:t>
            </a:r>
          </a:p>
          <a:p>
            <a:pPr marL="285750" indent="-285750">
              <a:buFont typeface="Arial" panose="020B0604020202020204" pitchFamily="34" charset="0"/>
              <a:buChar char="•"/>
            </a:pPr>
            <a:r>
              <a:rPr lang="en-US" sz="1400"/>
              <a:t>5) Starting with the string “This is a slightly longer string”, find the last eight characters and then, from that result, find the first four characters. In other words, find the first four characters of the last eight characters from the string “This is a slightly longer string”. (Hint: use a nested function for this query) </a:t>
            </a:r>
          </a:p>
          <a:p>
            <a:pPr marL="285750" indent="-285750">
              <a:buFont typeface="Arial" panose="020B0604020202020204" pitchFamily="34" charset="0"/>
              <a:buChar char="•"/>
            </a:pPr>
            <a:r>
              <a:rPr lang="en-US" sz="1400"/>
              <a:t>6) Find the string that results from finding all characters to left of and including the first “e” in each FirstName from </a:t>
            </a:r>
            <a:r>
              <a:rPr lang="en-US" sz="1400" err="1"/>
              <a:t>Person.Person</a:t>
            </a:r>
            <a:r>
              <a:rPr lang="en-US" sz="1400"/>
              <a:t>. Only return those results where the resulting string is not blank. (Hint: this will be challenging. Use a nested function in the SELECT statement and then that same nested function in the WHERE clause)</a:t>
            </a:r>
          </a:p>
        </p:txBody>
      </p:sp>
    </p:spTree>
    <p:extLst>
      <p:ext uri="{BB962C8B-B14F-4D97-AF65-F5344CB8AC3E}">
        <p14:creationId xmlns:p14="http://schemas.microsoft.com/office/powerpoint/2010/main" val="260759813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7285A8-6EB4-44C6-9ACB-4CC45D21736D}"/>
              </a:ext>
            </a:extLst>
          </p:cNvPr>
          <p:cNvSpPr>
            <a:spLocks noGrp="1"/>
          </p:cNvSpPr>
          <p:nvPr>
            <p:ph type="ctrTitle"/>
          </p:nvPr>
        </p:nvSpPr>
        <p:spPr>
          <a:xfrm>
            <a:off x="1700212" y="411061"/>
            <a:ext cx="8791575" cy="1186212"/>
          </a:xfrm>
        </p:spPr>
        <p:txBody>
          <a:bodyPr/>
          <a:lstStyle/>
          <a:p>
            <a:pPr algn="ctr"/>
            <a:r>
              <a:rPr lang="en-US"/>
              <a:t>SQL FOR DATA ANALYSIS </a:t>
            </a:r>
          </a:p>
        </p:txBody>
      </p:sp>
      <p:sp>
        <p:nvSpPr>
          <p:cNvPr id="3" name="Subtitle 2">
            <a:extLst>
              <a:ext uri="{FF2B5EF4-FFF2-40B4-BE49-F238E27FC236}">
                <a16:creationId xmlns:a16="http://schemas.microsoft.com/office/drawing/2014/main" id="{F732812B-5517-445B-B80B-C63947CC015B}"/>
              </a:ext>
            </a:extLst>
          </p:cNvPr>
          <p:cNvSpPr>
            <a:spLocks noGrp="1"/>
          </p:cNvSpPr>
          <p:nvPr>
            <p:ph type="subTitle" idx="1"/>
          </p:nvPr>
        </p:nvSpPr>
        <p:spPr>
          <a:xfrm>
            <a:off x="1876380" y="1873136"/>
            <a:ext cx="8791575" cy="564939"/>
          </a:xfrm>
        </p:spPr>
        <p:txBody>
          <a:bodyPr>
            <a:normAutofit/>
          </a:bodyPr>
          <a:lstStyle/>
          <a:p>
            <a:pPr algn="ctr"/>
            <a:r>
              <a:rPr lang="en-US">
                <a:solidFill>
                  <a:srgbClr val="FFC000"/>
                </a:solidFill>
              </a:rPr>
              <a:t>String </a:t>
            </a:r>
            <a:r>
              <a:rPr lang="en-US">
                <a:solidFill>
                  <a:schemeClr val="tx1"/>
                </a:solidFill>
              </a:rPr>
              <a:t>Statement Practice</a:t>
            </a:r>
          </a:p>
        </p:txBody>
      </p:sp>
      <p:sp>
        <p:nvSpPr>
          <p:cNvPr id="6" name="TextBox 5">
            <a:extLst>
              <a:ext uri="{FF2B5EF4-FFF2-40B4-BE49-F238E27FC236}">
                <a16:creationId xmlns:a16="http://schemas.microsoft.com/office/drawing/2014/main" id="{92BB8542-0453-4BA3-9CD2-95838244AA45}"/>
              </a:ext>
            </a:extLst>
          </p:cNvPr>
          <p:cNvSpPr txBox="1"/>
          <p:nvPr/>
        </p:nvSpPr>
        <p:spPr>
          <a:xfrm>
            <a:off x="3096933" y="2596393"/>
            <a:ext cx="7020190" cy="1600438"/>
          </a:xfrm>
          <a:prstGeom prst="rect">
            <a:avLst/>
          </a:prstGeom>
          <a:noFill/>
        </p:spPr>
        <p:txBody>
          <a:bodyPr wrap="square" rtlCol="0">
            <a:spAutoFit/>
          </a:bodyPr>
          <a:lstStyle/>
          <a:p>
            <a:pPr marL="285750" indent="-285750">
              <a:buFont typeface="Arial" panose="020B0604020202020204" pitchFamily="34" charset="0"/>
              <a:buChar char="•"/>
            </a:pPr>
            <a:r>
              <a:rPr lang="en-US" sz="1400"/>
              <a:t>Question 1: SELECT LEFT('This is a basic string', 8) </a:t>
            </a:r>
          </a:p>
          <a:p>
            <a:pPr marL="285750" indent="-285750">
              <a:buFont typeface="Arial" panose="020B0604020202020204" pitchFamily="34" charset="0"/>
              <a:buChar char="•"/>
            </a:pPr>
            <a:r>
              <a:rPr lang="en-US" sz="1400"/>
              <a:t>Question 2: SELECT RIGHT('This is another string', 6) </a:t>
            </a:r>
          </a:p>
          <a:p>
            <a:pPr marL="285750" indent="-285750">
              <a:buFont typeface="Arial" panose="020B0604020202020204" pitchFamily="34" charset="0"/>
              <a:buChar char="•"/>
            </a:pPr>
            <a:r>
              <a:rPr lang="en-US" sz="1400"/>
              <a:t>Question 3: SELECT CHARINDEX('e', Name) FROM </a:t>
            </a:r>
            <a:r>
              <a:rPr lang="en-US" sz="1400" err="1"/>
              <a:t>Production.Product</a:t>
            </a:r>
            <a:r>
              <a:rPr lang="en-US" sz="1400"/>
              <a:t> </a:t>
            </a:r>
          </a:p>
          <a:p>
            <a:pPr marL="285750" indent="-285750">
              <a:buFont typeface="Arial" panose="020B0604020202020204" pitchFamily="34" charset="0"/>
              <a:buChar char="•"/>
            </a:pPr>
            <a:r>
              <a:rPr lang="en-US" sz="1400"/>
              <a:t>Question 4: SELECT SUBSTRING(Name, 3, 4) FROM </a:t>
            </a:r>
            <a:r>
              <a:rPr lang="en-US" sz="1400" err="1"/>
              <a:t>Sales.SalesTerritory</a:t>
            </a:r>
            <a:r>
              <a:rPr lang="en-US" sz="1400"/>
              <a:t> </a:t>
            </a:r>
          </a:p>
          <a:p>
            <a:pPr marL="285750" indent="-285750">
              <a:buFont typeface="Arial" panose="020B0604020202020204" pitchFamily="34" charset="0"/>
              <a:buChar char="•"/>
            </a:pPr>
            <a:r>
              <a:rPr lang="en-US" sz="1400"/>
              <a:t>Question 5: SELECT LEFT(RIGHT('This is a slightly longer string', 8), 4) </a:t>
            </a:r>
          </a:p>
          <a:p>
            <a:pPr marL="285750" indent="-285750">
              <a:buFont typeface="Arial" panose="020B0604020202020204" pitchFamily="34" charset="0"/>
              <a:buChar char="•"/>
            </a:pPr>
            <a:r>
              <a:rPr lang="en-US" sz="1400"/>
              <a:t>Question 6: SELECT LEFT(FirstName, CHARINDEX('e', FirstName, 0)) FROM </a:t>
            </a:r>
            <a:r>
              <a:rPr lang="en-US" sz="1400" err="1"/>
              <a:t>Person.Person</a:t>
            </a:r>
            <a:r>
              <a:rPr lang="en-US" sz="1400"/>
              <a:t> WHERE LEFT(FirstName, CHARINDEX('e', FirstName, 0)) &lt;&gt; ''</a:t>
            </a:r>
          </a:p>
        </p:txBody>
      </p:sp>
    </p:spTree>
    <p:extLst>
      <p:ext uri="{BB962C8B-B14F-4D97-AF65-F5344CB8AC3E}">
        <p14:creationId xmlns:p14="http://schemas.microsoft.com/office/powerpoint/2010/main" val="130650839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7285A8-6EB4-44C6-9ACB-4CC45D21736D}"/>
              </a:ext>
            </a:extLst>
          </p:cNvPr>
          <p:cNvSpPr>
            <a:spLocks noGrp="1"/>
          </p:cNvSpPr>
          <p:nvPr>
            <p:ph type="ctrTitle"/>
          </p:nvPr>
        </p:nvSpPr>
        <p:spPr>
          <a:xfrm>
            <a:off x="1700212" y="411061"/>
            <a:ext cx="8791575" cy="1186212"/>
          </a:xfrm>
        </p:spPr>
        <p:txBody>
          <a:bodyPr/>
          <a:lstStyle/>
          <a:p>
            <a:pPr algn="ctr"/>
            <a:r>
              <a:rPr lang="en-US"/>
              <a:t>SQL FOR DATA ANALYSIS </a:t>
            </a:r>
          </a:p>
        </p:txBody>
      </p:sp>
      <p:sp>
        <p:nvSpPr>
          <p:cNvPr id="3" name="Subtitle 2">
            <a:extLst>
              <a:ext uri="{FF2B5EF4-FFF2-40B4-BE49-F238E27FC236}">
                <a16:creationId xmlns:a16="http://schemas.microsoft.com/office/drawing/2014/main" id="{F732812B-5517-445B-B80B-C63947CC015B}"/>
              </a:ext>
            </a:extLst>
          </p:cNvPr>
          <p:cNvSpPr>
            <a:spLocks noGrp="1"/>
          </p:cNvSpPr>
          <p:nvPr>
            <p:ph type="subTitle" idx="1"/>
          </p:nvPr>
        </p:nvSpPr>
        <p:spPr>
          <a:xfrm>
            <a:off x="1876380" y="1873136"/>
            <a:ext cx="8791575" cy="564939"/>
          </a:xfrm>
        </p:spPr>
        <p:txBody>
          <a:bodyPr>
            <a:normAutofit/>
          </a:bodyPr>
          <a:lstStyle/>
          <a:p>
            <a:pPr algn="ctr"/>
            <a:r>
              <a:rPr lang="en-US">
                <a:solidFill>
                  <a:srgbClr val="FFC000"/>
                </a:solidFill>
              </a:rPr>
              <a:t>Date </a:t>
            </a:r>
            <a:r>
              <a:rPr lang="en-US">
                <a:solidFill>
                  <a:schemeClr val="tx1"/>
                </a:solidFill>
              </a:rPr>
              <a:t>Statement Practice</a:t>
            </a:r>
          </a:p>
        </p:txBody>
      </p:sp>
      <p:sp>
        <p:nvSpPr>
          <p:cNvPr id="6" name="TextBox 5">
            <a:extLst>
              <a:ext uri="{FF2B5EF4-FFF2-40B4-BE49-F238E27FC236}">
                <a16:creationId xmlns:a16="http://schemas.microsoft.com/office/drawing/2014/main" id="{92BB8542-0453-4BA3-9CD2-95838244AA45}"/>
              </a:ext>
            </a:extLst>
          </p:cNvPr>
          <p:cNvSpPr txBox="1"/>
          <p:nvPr/>
        </p:nvSpPr>
        <p:spPr>
          <a:xfrm>
            <a:off x="3096933" y="2596393"/>
            <a:ext cx="7020190" cy="1815882"/>
          </a:xfrm>
          <a:prstGeom prst="rect">
            <a:avLst/>
          </a:prstGeom>
          <a:noFill/>
        </p:spPr>
        <p:txBody>
          <a:bodyPr wrap="square" rtlCol="0">
            <a:spAutoFit/>
          </a:bodyPr>
          <a:lstStyle/>
          <a:p>
            <a:pPr marL="285750" indent="-285750">
              <a:buFont typeface="Arial" panose="020B0604020202020204" pitchFamily="34" charset="0"/>
              <a:buChar char="•"/>
            </a:pPr>
            <a:r>
              <a:rPr lang="en-US" sz="1400"/>
              <a:t>1) What is the month </a:t>
            </a:r>
            <a:r>
              <a:rPr lang="en-US" sz="1400" err="1"/>
              <a:t>datepart</a:t>
            </a:r>
            <a:r>
              <a:rPr lang="en-US" sz="1400"/>
              <a:t> for June 12, 2011? </a:t>
            </a:r>
          </a:p>
          <a:p>
            <a:pPr marL="285750" indent="-285750">
              <a:buFont typeface="Arial" panose="020B0604020202020204" pitchFamily="34" charset="0"/>
              <a:buChar char="•"/>
            </a:pPr>
            <a:r>
              <a:rPr lang="en-US" sz="1400"/>
              <a:t>2) What is the year </a:t>
            </a:r>
            <a:r>
              <a:rPr lang="en-US" sz="1400" err="1"/>
              <a:t>datepart</a:t>
            </a:r>
            <a:r>
              <a:rPr lang="en-US" sz="1400"/>
              <a:t> for November 20, 1992? </a:t>
            </a:r>
          </a:p>
          <a:p>
            <a:pPr marL="285750" indent="-285750">
              <a:buFont typeface="Arial" panose="020B0604020202020204" pitchFamily="34" charset="0"/>
              <a:buChar char="•"/>
            </a:pPr>
            <a:r>
              <a:rPr lang="en-US" sz="1400"/>
              <a:t>3) What day was it seventy-four days ago? </a:t>
            </a:r>
          </a:p>
          <a:p>
            <a:pPr marL="285750" indent="-285750">
              <a:buFont typeface="Arial" panose="020B0604020202020204" pitchFamily="34" charset="0"/>
              <a:buChar char="•"/>
            </a:pPr>
            <a:r>
              <a:rPr lang="en-US" sz="1400"/>
              <a:t>4) What is the current date? Complete this problem using at least two different date functions. </a:t>
            </a:r>
          </a:p>
          <a:p>
            <a:pPr marL="285750" indent="-285750">
              <a:buFont typeface="Arial" panose="020B0604020202020204" pitchFamily="34" charset="0"/>
              <a:buChar char="•"/>
            </a:pPr>
            <a:r>
              <a:rPr lang="en-US" sz="1400"/>
              <a:t>5) How many days are between April 17, 1996 and September 4, 2001? </a:t>
            </a:r>
          </a:p>
          <a:p>
            <a:pPr marL="285750" indent="-285750">
              <a:buFont typeface="Arial" panose="020B0604020202020204" pitchFamily="34" charset="0"/>
              <a:buChar char="•"/>
            </a:pPr>
            <a:r>
              <a:rPr lang="en-US" sz="1400"/>
              <a:t>6) How many months are between December 25, 1993 and the date that is 2,719 days before today’s date?</a:t>
            </a:r>
          </a:p>
        </p:txBody>
      </p:sp>
    </p:spTree>
    <p:extLst>
      <p:ext uri="{BB962C8B-B14F-4D97-AF65-F5344CB8AC3E}">
        <p14:creationId xmlns:p14="http://schemas.microsoft.com/office/powerpoint/2010/main" val="50484923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7285A8-6EB4-44C6-9ACB-4CC45D21736D}"/>
              </a:ext>
            </a:extLst>
          </p:cNvPr>
          <p:cNvSpPr>
            <a:spLocks noGrp="1"/>
          </p:cNvSpPr>
          <p:nvPr>
            <p:ph type="ctrTitle"/>
          </p:nvPr>
        </p:nvSpPr>
        <p:spPr>
          <a:xfrm>
            <a:off x="1700212" y="411061"/>
            <a:ext cx="8791575" cy="1186212"/>
          </a:xfrm>
        </p:spPr>
        <p:txBody>
          <a:bodyPr/>
          <a:lstStyle/>
          <a:p>
            <a:pPr algn="ctr"/>
            <a:r>
              <a:rPr lang="en-US"/>
              <a:t>SQL FOR DATA ANALYSIS </a:t>
            </a:r>
          </a:p>
        </p:txBody>
      </p:sp>
      <p:sp>
        <p:nvSpPr>
          <p:cNvPr id="3" name="Subtitle 2">
            <a:extLst>
              <a:ext uri="{FF2B5EF4-FFF2-40B4-BE49-F238E27FC236}">
                <a16:creationId xmlns:a16="http://schemas.microsoft.com/office/drawing/2014/main" id="{F732812B-5517-445B-B80B-C63947CC015B}"/>
              </a:ext>
            </a:extLst>
          </p:cNvPr>
          <p:cNvSpPr>
            <a:spLocks noGrp="1"/>
          </p:cNvSpPr>
          <p:nvPr>
            <p:ph type="subTitle" idx="1"/>
          </p:nvPr>
        </p:nvSpPr>
        <p:spPr>
          <a:xfrm>
            <a:off x="1876380" y="1873136"/>
            <a:ext cx="8791575" cy="564939"/>
          </a:xfrm>
        </p:spPr>
        <p:txBody>
          <a:bodyPr>
            <a:normAutofit/>
          </a:bodyPr>
          <a:lstStyle/>
          <a:p>
            <a:pPr algn="ctr"/>
            <a:r>
              <a:rPr lang="en-US">
                <a:solidFill>
                  <a:srgbClr val="FFC000"/>
                </a:solidFill>
              </a:rPr>
              <a:t>Date </a:t>
            </a:r>
            <a:r>
              <a:rPr lang="en-US">
                <a:solidFill>
                  <a:schemeClr val="tx1"/>
                </a:solidFill>
              </a:rPr>
              <a:t>Statement Practice</a:t>
            </a:r>
          </a:p>
        </p:txBody>
      </p:sp>
      <p:sp>
        <p:nvSpPr>
          <p:cNvPr id="6" name="TextBox 5">
            <a:extLst>
              <a:ext uri="{FF2B5EF4-FFF2-40B4-BE49-F238E27FC236}">
                <a16:creationId xmlns:a16="http://schemas.microsoft.com/office/drawing/2014/main" id="{92BB8542-0453-4BA3-9CD2-95838244AA45}"/>
              </a:ext>
            </a:extLst>
          </p:cNvPr>
          <p:cNvSpPr txBox="1"/>
          <p:nvPr/>
        </p:nvSpPr>
        <p:spPr>
          <a:xfrm>
            <a:off x="3096933" y="2596393"/>
            <a:ext cx="7020190" cy="1384995"/>
          </a:xfrm>
          <a:prstGeom prst="rect">
            <a:avLst/>
          </a:prstGeom>
          <a:noFill/>
        </p:spPr>
        <p:txBody>
          <a:bodyPr wrap="square" rtlCol="0">
            <a:spAutoFit/>
          </a:bodyPr>
          <a:lstStyle/>
          <a:p>
            <a:pPr marL="285750" indent="-285750">
              <a:buFont typeface="Arial" panose="020B0604020202020204" pitchFamily="34" charset="0"/>
              <a:buChar char="•"/>
            </a:pPr>
            <a:r>
              <a:rPr lang="en-US" sz="1400"/>
              <a:t>Question 1: SELECT DATEPART(MONTH, '6/12/2011') SELECT MONTH('6/12/2011') Question 2: SELECT DATEPART(YEAR, '11/20/1992') SELECT YEAR('11/20/1992’) </a:t>
            </a:r>
          </a:p>
          <a:p>
            <a:pPr marL="285750" indent="-285750">
              <a:buFont typeface="Arial" panose="020B0604020202020204" pitchFamily="34" charset="0"/>
              <a:buChar char="•"/>
            </a:pPr>
            <a:r>
              <a:rPr lang="en-US" sz="1400"/>
              <a:t>Question 3: SELECT DATEADD(DAY, -74, GETDATE()) </a:t>
            </a:r>
          </a:p>
          <a:p>
            <a:pPr marL="285750" indent="-285750">
              <a:buFont typeface="Arial" panose="020B0604020202020204" pitchFamily="34" charset="0"/>
              <a:buChar char="•"/>
            </a:pPr>
            <a:r>
              <a:rPr lang="en-US" sz="1400"/>
              <a:t>Question 4: SELECT GETDATE() SELECT GETUTCDATE() SELECT SYSDATETIME() </a:t>
            </a:r>
          </a:p>
          <a:p>
            <a:pPr marL="285750" indent="-285750">
              <a:buFont typeface="Arial" panose="020B0604020202020204" pitchFamily="34" charset="0"/>
              <a:buChar char="•"/>
            </a:pPr>
            <a:r>
              <a:rPr lang="en-US" sz="1400"/>
              <a:t>Question 5: SELECT DATEDIFF(DAY, '4/17/1996', '9/4/2001’) </a:t>
            </a:r>
          </a:p>
          <a:p>
            <a:pPr marL="285750" indent="-285750">
              <a:buFont typeface="Arial" panose="020B0604020202020204" pitchFamily="34" charset="0"/>
              <a:buChar char="•"/>
            </a:pPr>
            <a:r>
              <a:rPr lang="en-US" sz="1400"/>
              <a:t>Question 6: SELECT DATEDIFF(MONTH, '12/25/1993', DATEADD(DAY, -2719, GETDATE()))</a:t>
            </a:r>
          </a:p>
        </p:txBody>
      </p:sp>
    </p:spTree>
    <p:extLst>
      <p:ext uri="{BB962C8B-B14F-4D97-AF65-F5344CB8AC3E}">
        <p14:creationId xmlns:p14="http://schemas.microsoft.com/office/powerpoint/2010/main" val="242951832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7285A8-6EB4-44C6-9ACB-4CC45D21736D}"/>
              </a:ext>
            </a:extLst>
          </p:cNvPr>
          <p:cNvSpPr>
            <a:spLocks noGrp="1"/>
          </p:cNvSpPr>
          <p:nvPr>
            <p:ph type="ctrTitle"/>
          </p:nvPr>
        </p:nvSpPr>
        <p:spPr>
          <a:xfrm>
            <a:off x="1700212" y="411061"/>
            <a:ext cx="8791575" cy="1186212"/>
          </a:xfrm>
        </p:spPr>
        <p:txBody>
          <a:bodyPr/>
          <a:lstStyle/>
          <a:p>
            <a:pPr algn="ctr"/>
            <a:r>
              <a:rPr lang="en-US"/>
              <a:t>SQL FOR DATA ANALYSIS </a:t>
            </a:r>
          </a:p>
        </p:txBody>
      </p:sp>
      <p:sp>
        <p:nvSpPr>
          <p:cNvPr id="3" name="Subtitle 2">
            <a:extLst>
              <a:ext uri="{FF2B5EF4-FFF2-40B4-BE49-F238E27FC236}">
                <a16:creationId xmlns:a16="http://schemas.microsoft.com/office/drawing/2014/main" id="{F732812B-5517-445B-B80B-C63947CC015B}"/>
              </a:ext>
            </a:extLst>
          </p:cNvPr>
          <p:cNvSpPr>
            <a:spLocks noGrp="1"/>
          </p:cNvSpPr>
          <p:nvPr>
            <p:ph type="subTitle" idx="1"/>
          </p:nvPr>
        </p:nvSpPr>
        <p:spPr>
          <a:xfrm>
            <a:off x="1876380" y="1873136"/>
            <a:ext cx="8791575" cy="564939"/>
          </a:xfrm>
        </p:spPr>
        <p:txBody>
          <a:bodyPr>
            <a:normAutofit/>
          </a:bodyPr>
          <a:lstStyle/>
          <a:p>
            <a:pPr algn="ctr"/>
            <a:r>
              <a:rPr lang="en-US">
                <a:solidFill>
                  <a:srgbClr val="FFC000"/>
                </a:solidFill>
              </a:rPr>
              <a:t>null </a:t>
            </a:r>
            <a:r>
              <a:rPr lang="en-US">
                <a:solidFill>
                  <a:schemeClr val="tx1"/>
                </a:solidFill>
              </a:rPr>
              <a:t>Statement Practice</a:t>
            </a:r>
          </a:p>
        </p:txBody>
      </p:sp>
      <p:sp>
        <p:nvSpPr>
          <p:cNvPr id="6" name="TextBox 5">
            <a:extLst>
              <a:ext uri="{FF2B5EF4-FFF2-40B4-BE49-F238E27FC236}">
                <a16:creationId xmlns:a16="http://schemas.microsoft.com/office/drawing/2014/main" id="{92BB8542-0453-4BA3-9CD2-95838244AA45}"/>
              </a:ext>
            </a:extLst>
          </p:cNvPr>
          <p:cNvSpPr txBox="1"/>
          <p:nvPr/>
        </p:nvSpPr>
        <p:spPr>
          <a:xfrm>
            <a:off x="2903986" y="3007667"/>
            <a:ext cx="7020190" cy="1815882"/>
          </a:xfrm>
          <a:prstGeom prst="rect">
            <a:avLst/>
          </a:prstGeom>
          <a:noFill/>
        </p:spPr>
        <p:txBody>
          <a:bodyPr wrap="square" rtlCol="0">
            <a:spAutoFit/>
          </a:bodyPr>
          <a:lstStyle/>
          <a:p>
            <a:pPr marL="285750" indent="-285750">
              <a:buFont typeface="Arial" panose="020B0604020202020204" pitchFamily="34" charset="0"/>
              <a:buChar char="•"/>
            </a:pPr>
            <a:r>
              <a:rPr lang="en-US" sz="1400"/>
              <a:t>1) If the Title column of </a:t>
            </a:r>
            <a:r>
              <a:rPr lang="en-US" sz="1400" err="1"/>
              <a:t>Person.Person</a:t>
            </a:r>
            <a:r>
              <a:rPr lang="en-US" sz="1400"/>
              <a:t> is NULL then return the string “No Title Listed”. </a:t>
            </a:r>
          </a:p>
          <a:p>
            <a:pPr marL="285750" indent="-285750">
              <a:buFont typeface="Arial" panose="020B0604020202020204" pitchFamily="34" charset="0"/>
              <a:buChar char="•"/>
            </a:pPr>
            <a:r>
              <a:rPr lang="en-US" sz="1400"/>
              <a:t>2) If the </a:t>
            </a:r>
            <a:r>
              <a:rPr lang="en-US" sz="1400" err="1"/>
              <a:t>MiddleName</a:t>
            </a:r>
            <a:r>
              <a:rPr lang="en-US" sz="1400"/>
              <a:t> column of </a:t>
            </a:r>
            <a:r>
              <a:rPr lang="en-US" sz="1400" err="1"/>
              <a:t>Person.Person</a:t>
            </a:r>
            <a:r>
              <a:rPr lang="en-US" sz="1400"/>
              <a:t> is NULL then return the string “No Middle Name Listed”. </a:t>
            </a:r>
          </a:p>
          <a:p>
            <a:pPr marL="285750" indent="-285750">
              <a:buFont typeface="Arial" panose="020B0604020202020204" pitchFamily="34" charset="0"/>
              <a:buChar char="•"/>
            </a:pPr>
            <a:r>
              <a:rPr lang="en-US" sz="1400"/>
              <a:t>3) If the </a:t>
            </a:r>
            <a:r>
              <a:rPr lang="en-US" sz="1400" err="1"/>
              <a:t>MiddleName</a:t>
            </a:r>
            <a:r>
              <a:rPr lang="en-US" sz="1400"/>
              <a:t> column is NULL then return the FirstName and </a:t>
            </a:r>
            <a:r>
              <a:rPr lang="en-US" sz="1400" err="1"/>
              <a:t>LastName</a:t>
            </a:r>
            <a:r>
              <a:rPr lang="en-US" sz="1400"/>
              <a:t> concatenated. If the </a:t>
            </a:r>
            <a:r>
              <a:rPr lang="en-US" sz="1400" err="1"/>
              <a:t>MiddleName</a:t>
            </a:r>
            <a:r>
              <a:rPr lang="en-US" sz="1400"/>
              <a:t> is non-NULL then return the FirstName, </a:t>
            </a:r>
            <a:r>
              <a:rPr lang="en-US" sz="1400" err="1"/>
              <a:t>MiddleName</a:t>
            </a:r>
            <a:r>
              <a:rPr lang="en-US" sz="1400"/>
              <a:t> and </a:t>
            </a:r>
            <a:r>
              <a:rPr lang="en-US" sz="1400" err="1"/>
              <a:t>LastName</a:t>
            </a:r>
            <a:r>
              <a:rPr lang="en-US" sz="1400"/>
              <a:t> concatenated. </a:t>
            </a:r>
          </a:p>
          <a:p>
            <a:pPr marL="285750" indent="-285750">
              <a:buFont typeface="Arial" panose="020B0604020202020204" pitchFamily="34" charset="0"/>
              <a:buChar char="•"/>
            </a:pPr>
            <a:r>
              <a:rPr lang="en-US" sz="1400"/>
              <a:t>4) Using the </a:t>
            </a:r>
            <a:r>
              <a:rPr lang="en-US" sz="1400" err="1"/>
              <a:t>Production.Product</a:t>
            </a:r>
            <a:r>
              <a:rPr lang="en-US" sz="1400"/>
              <a:t> table, if the </a:t>
            </a:r>
            <a:r>
              <a:rPr lang="en-US" sz="1400" err="1"/>
              <a:t>MakeFlag</a:t>
            </a:r>
            <a:r>
              <a:rPr lang="en-US" sz="1400"/>
              <a:t> and </a:t>
            </a:r>
            <a:r>
              <a:rPr lang="en-US" sz="1400" err="1"/>
              <a:t>FinishedGoodsFlag</a:t>
            </a:r>
            <a:r>
              <a:rPr lang="en-US" sz="1400"/>
              <a:t> columns are equal then return a NULL value.</a:t>
            </a:r>
          </a:p>
        </p:txBody>
      </p:sp>
    </p:spTree>
    <p:extLst>
      <p:ext uri="{BB962C8B-B14F-4D97-AF65-F5344CB8AC3E}">
        <p14:creationId xmlns:p14="http://schemas.microsoft.com/office/powerpoint/2010/main" val="328242039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7285A8-6EB4-44C6-9ACB-4CC45D21736D}"/>
              </a:ext>
            </a:extLst>
          </p:cNvPr>
          <p:cNvSpPr>
            <a:spLocks noGrp="1"/>
          </p:cNvSpPr>
          <p:nvPr>
            <p:ph type="ctrTitle"/>
          </p:nvPr>
        </p:nvSpPr>
        <p:spPr>
          <a:xfrm>
            <a:off x="1700212" y="411061"/>
            <a:ext cx="8791575" cy="1186212"/>
          </a:xfrm>
        </p:spPr>
        <p:txBody>
          <a:bodyPr/>
          <a:lstStyle/>
          <a:p>
            <a:pPr algn="ctr"/>
            <a:r>
              <a:rPr lang="en-US"/>
              <a:t>SQL FOR DATA ANALYSIS </a:t>
            </a:r>
          </a:p>
        </p:txBody>
      </p:sp>
      <p:sp>
        <p:nvSpPr>
          <p:cNvPr id="3" name="Subtitle 2">
            <a:extLst>
              <a:ext uri="{FF2B5EF4-FFF2-40B4-BE49-F238E27FC236}">
                <a16:creationId xmlns:a16="http://schemas.microsoft.com/office/drawing/2014/main" id="{F732812B-5517-445B-B80B-C63947CC015B}"/>
              </a:ext>
            </a:extLst>
          </p:cNvPr>
          <p:cNvSpPr>
            <a:spLocks noGrp="1"/>
          </p:cNvSpPr>
          <p:nvPr>
            <p:ph type="subTitle" idx="1"/>
          </p:nvPr>
        </p:nvSpPr>
        <p:spPr>
          <a:xfrm>
            <a:off x="1876380" y="1873136"/>
            <a:ext cx="8791575" cy="564939"/>
          </a:xfrm>
        </p:spPr>
        <p:txBody>
          <a:bodyPr>
            <a:normAutofit/>
          </a:bodyPr>
          <a:lstStyle/>
          <a:p>
            <a:pPr algn="ctr"/>
            <a:r>
              <a:rPr lang="en-US">
                <a:solidFill>
                  <a:srgbClr val="FFC000"/>
                </a:solidFill>
              </a:rPr>
              <a:t>null </a:t>
            </a:r>
            <a:r>
              <a:rPr lang="en-US">
                <a:solidFill>
                  <a:schemeClr val="tx1"/>
                </a:solidFill>
              </a:rPr>
              <a:t>Statement Practice</a:t>
            </a:r>
          </a:p>
        </p:txBody>
      </p:sp>
      <p:sp>
        <p:nvSpPr>
          <p:cNvPr id="6" name="TextBox 5">
            <a:extLst>
              <a:ext uri="{FF2B5EF4-FFF2-40B4-BE49-F238E27FC236}">
                <a16:creationId xmlns:a16="http://schemas.microsoft.com/office/drawing/2014/main" id="{92BB8542-0453-4BA3-9CD2-95838244AA45}"/>
              </a:ext>
            </a:extLst>
          </p:cNvPr>
          <p:cNvSpPr txBox="1"/>
          <p:nvPr/>
        </p:nvSpPr>
        <p:spPr>
          <a:xfrm>
            <a:off x="2903986" y="3007667"/>
            <a:ext cx="7020190" cy="1384995"/>
          </a:xfrm>
          <a:prstGeom prst="rect">
            <a:avLst/>
          </a:prstGeom>
          <a:noFill/>
        </p:spPr>
        <p:txBody>
          <a:bodyPr wrap="square" rtlCol="0">
            <a:spAutoFit/>
          </a:bodyPr>
          <a:lstStyle/>
          <a:p>
            <a:pPr marL="285750" indent="-285750">
              <a:buFont typeface="Arial" panose="020B0604020202020204" pitchFamily="34" charset="0"/>
              <a:buChar char="•"/>
            </a:pPr>
            <a:r>
              <a:rPr lang="en-US" sz="1400"/>
              <a:t>Question 1: SELECT COALESCE(Title, 'No Title Listed') AS Title FROM </a:t>
            </a:r>
            <a:r>
              <a:rPr lang="en-US" sz="1400" err="1"/>
              <a:t>Person.Person</a:t>
            </a:r>
            <a:r>
              <a:rPr lang="en-US" sz="1400"/>
              <a:t> </a:t>
            </a:r>
          </a:p>
          <a:p>
            <a:pPr marL="285750" indent="-285750">
              <a:buFont typeface="Arial" panose="020B0604020202020204" pitchFamily="34" charset="0"/>
              <a:buChar char="•"/>
            </a:pPr>
            <a:r>
              <a:rPr lang="en-US" sz="1400"/>
              <a:t>Question 2: SELECT COALESCE(</a:t>
            </a:r>
            <a:r>
              <a:rPr lang="en-US" sz="1400" err="1"/>
              <a:t>MiddleName</a:t>
            </a:r>
            <a:r>
              <a:rPr lang="en-US" sz="1400"/>
              <a:t>, 'No Middle Name Listed') AS </a:t>
            </a:r>
            <a:r>
              <a:rPr lang="en-US" sz="1400" err="1"/>
              <a:t>MiddleName</a:t>
            </a:r>
            <a:r>
              <a:rPr lang="en-US" sz="1400"/>
              <a:t> FROM </a:t>
            </a:r>
            <a:r>
              <a:rPr lang="en-US" sz="1400" err="1"/>
              <a:t>Person.Person</a:t>
            </a:r>
            <a:r>
              <a:rPr lang="en-US" sz="1400"/>
              <a:t> </a:t>
            </a:r>
          </a:p>
          <a:p>
            <a:pPr marL="285750" indent="-285750">
              <a:buFont typeface="Arial" panose="020B0604020202020204" pitchFamily="34" charset="0"/>
              <a:buChar char="•"/>
            </a:pPr>
            <a:r>
              <a:rPr lang="en-US" sz="1400"/>
              <a:t>Question 3: SELECT COALESCE(FirstName + ' ' + </a:t>
            </a:r>
            <a:r>
              <a:rPr lang="en-US" sz="1400" err="1"/>
              <a:t>MiddleName</a:t>
            </a:r>
            <a:r>
              <a:rPr lang="en-US" sz="1400"/>
              <a:t> + ' ' + </a:t>
            </a:r>
            <a:r>
              <a:rPr lang="en-US" sz="1400" err="1"/>
              <a:t>LastName</a:t>
            </a:r>
            <a:r>
              <a:rPr lang="en-US" sz="1400"/>
              <a:t>, FirstName + ' ' + </a:t>
            </a:r>
            <a:r>
              <a:rPr lang="en-US" sz="1400" err="1"/>
              <a:t>LastName</a:t>
            </a:r>
            <a:r>
              <a:rPr lang="en-US" sz="1400"/>
              <a:t>) AS </a:t>
            </a:r>
            <a:r>
              <a:rPr lang="en-US" sz="1400" err="1"/>
              <a:t>FullName</a:t>
            </a:r>
            <a:r>
              <a:rPr lang="en-US" sz="1400"/>
              <a:t> FROM </a:t>
            </a:r>
            <a:r>
              <a:rPr lang="en-US" sz="1400" err="1"/>
              <a:t>Person.Person</a:t>
            </a:r>
            <a:r>
              <a:rPr lang="en-US" sz="1400"/>
              <a:t> </a:t>
            </a:r>
          </a:p>
          <a:p>
            <a:pPr marL="285750" indent="-285750">
              <a:buFont typeface="Arial" panose="020B0604020202020204" pitchFamily="34" charset="0"/>
              <a:buChar char="•"/>
            </a:pPr>
            <a:r>
              <a:rPr lang="en-US" sz="1400"/>
              <a:t>Question 4: SELECT NULLIF(</a:t>
            </a:r>
            <a:r>
              <a:rPr lang="en-US" sz="1400" err="1"/>
              <a:t>MakeFlag</a:t>
            </a:r>
            <a:r>
              <a:rPr lang="en-US" sz="1400"/>
              <a:t>, </a:t>
            </a:r>
            <a:r>
              <a:rPr lang="en-US" sz="1400" err="1"/>
              <a:t>FinishedGoodsFlag</a:t>
            </a:r>
            <a:r>
              <a:rPr lang="en-US" sz="1400"/>
              <a:t>) FROM </a:t>
            </a:r>
            <a:r>
              <a:rPr lang="en-US" sz="1400" err="1"/>
              <a:t>Production.Product</a:t>
            </a:r>
            <a:endParaRPr lang="en-US" sz="1400"/>
          </a:p>
        </p:txBody>
      </p:sp>
    </p:spTree>
    <p:extLst>
      <p:ext uri="{BB962C8B-B14F-4D97-AF65-F5344CB8AC3E}">
        <p14:creationId xmlns:p14="http://schemas.microsoft.com/office/powerpoint/2010/main" val="217710704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7285A8-6EB4-44C6-9ACB-4CC45D21736D}"/>
              </a:ext>
            </a:extLst>
          </p:cNvPr>
          <p:cNvSpPr>
            <a:spLocks noGrp="1"/>
          </p:cNvSpPr>
          <p:nvPr>
            <p:ph type="ctrTitle"/>
          </p:nvPr>
        </p:nvSpPr>
        <p:spPr>
          <a:xfrm>
            <a:off x="1700212" y="411061"/>
            <a:ext cx="8791575" cy="1186212"/>
          </a:xfrm>
        </p:spPr>
        <p:txBody>
          <a:bodyPr/>
          <a:lstStyle/>
          <a:p>
            <a:pPr algn="ctr"/>
            <a:r>
              <a:rPr lang="en-US"/>
              <a:t>SQL FOR DATA ANALYSIS </a:t>
            </a:r>
          </a:p>
        </p:txBody>
      </p:sp>
      <p:sp>
        <p:nvSpPr>
          <p:cNvPr id="3" name="Subtitle 2">
            <a:extLst>
              <a:ext uri="{FF2B5EF4-FFF2-40B4-BE49-F238E27FC236}">
                <a16:creationId xmlns:a16="http://schemas.microsoft.com/office/drawing/2014/main" id="{F732812B-5517-445B-B80B-C63947CC015B}"/>
              </a:ext>
            </a:extLst>
          </p:cNvPr>
          <p:cNvSpPr>
            <a:spLocks noGrp="1"/>
          </p:cNvSpPr>
          <p:nvPr>
            <p:ph type="subTitle" idx="1"/>
          </p:nvPr>
        </p:nvSpPr>
        <p:spPr>
          <a:xfrm>
            <a:off x="1876380" y="1873136"/>
            <a:ext cx="8791575" cy="564939"/>
          </a:xfrm>
        </p:spPr>
        <p:txBody>
          <a:bodyPr>
            <a:normAutofit/>
          </a:bodyPr>
          <a:lstStyle/>
          <a:p>
            <a:pPr algn="ctr"/>
            <a:r>
              <a:rPr lang="en-US">
                <a:solidFill>
                  <a:srgbClr val="FFC000"/>
                </a:solidFill>
              </a:rPr>
              <a:t>cast </a:t>
            </a:r>
            <a:r>
              <a:rPr lang="en-US">
                <a:solidFill>
                  <a:schemeClr val="tx1"/>
                </a:solidFill>
              </a:rPr>
              <a:t>Statement Practice</a:t>
            </a:r>
          </a:p>
        </p:txBody>
      </p:sp>
      <p:sp>
        <p:nvSpPr>
          <p:cNvPr id="6" name="TextBox 5">
            <a:extLst>
              <a:ext uri="{FF2B5EF4-FFF2-40B4-BE49-F238E27FC236}">
                <a16:creationId xmlns:a16="http://schemas.microsoft.com/office/drawing/2014/main" id="{92BB8542-0453-4BA3-9CD2-95838244AA45}"/>
              </a:ext>
            </a:extLst>
          </p:cNvPr>
          <p:cNvSpPr txBox="1"/>
          <p:nvPr/>
        </p:nvSpPr>
        <p:spPr>
          <a:xfrm>
            <a:off x="2903986" y="3007667"/>
            <a:ext cx="7020190" cy="3108543"/>
          </a:xfrm>
          <a:prstGeom prst="rect">
            <a:avLst/>
          </a:prstGeom>
          <a:noFill/>
        </p:spPr>
        <p:txBody>
          <a:bodyPr wrap="square" rtlCol="0">
            <a:spAutoFit/>
          </a:bodyPr>
          <a:lstStyle/>
          <a:p>
            <a:pPr marL="285750" indent="-285750">
              <a:buFont typeface="Arial" panose="020B0604020202020204" pitchFamily="34" charset="0"/>
              <a:buChar char="•"/>
            </a:pPr>
            <a:r>
              <a:rPr lang="en-US" sz="1400"/>
              <a:t>1) Write the SQL SELECT statement that returns the FirstName column of </a:t>
            </a:r>
            <a:r>
              <a:rPr lang="en-US" sz="1400" err="1"/>
              <a:t>Person.Person</a:t>
            </a:r>
            <a:r>
              <a:rPr lang="en-US" sz="1400"/>
              <a:t> casted as the VARCHAR data type. </a:t>
            </a:r>
          </a:p>
          <a:p>
            <a:pPr marL="285750" indent="-285750">
              <a:buFont typeface="Arial" panose="020B0604020202020204" pitchFamily="34" charset="0"/>
              <a:buChar char="•"/>
            </a:pPr>
            <a:r>
              <a:rPr lang="en-US" sz="1400"/>
              <a:t>2) Write three expressions in a single SELECT statement: one that returns the results of 11 divided by 4. The second column should return the result of 11 casted as float divided by 4 casted as float. The final column should divide 11.0 by 4.0 (including the decimal point and trailing zero). </a:t>
            </a:r>
          </a:p>
          <a:p>
            <a:pPr marL="285750" indent="-285750">
              <a:buFont typeface="Arial" panose="020B0604020202020204" pitchFamily="34" charset="0"/>
              <a:buChar char="•"/>
            </a:pPr>
            <a:r>
              <a:rPr lang="en-US" sz="1400"/>
              <a:t>3) Cast the FirstName column of </a:t>
            </a:r>
            <a:r>
              <a:rPr lang="en-US" sz="1400" err="1"/>
              <a:t>Person.Person</a:t>
            </a:r>
            <a:r>
              <a:rPr lang="en-US" sz="1400"/>
              <a:t> as the VARCHAR(3) data type. What happens? Why? </a:t>
            </a:r>
          </a:p>
          <a:p>
            <a:pPr marL="285750" indent="-285750">
              <a:buFont typeface="Arial" panose="020B0604020202020204" pitchFamily="34" charset="0"/>
              <a:buChar char="•"/>
            </a:pPr>
            <a:r>
              <a:rPr lang="en-US" sz="1400"/>
              <a:t>4) Many of the values in the Size column of the </a:t>
            </a:r>
            <a:r>
              <a:rPr lang="en-US" sz="1400" err="1"/>
              <a:t>Production.Product</a:t>
            </a:r>
            <a:r>
              <a:rPr lang="en-US" sz="1400"/>
              <a:t> table contain numeric values. Write a SELECT statement that returns the Size column casted as the integer data type. What is the result? Why? </a:t>
            </a:r>
          </a:p>
          <a:p>
            <a:pPr marL="285750" indent="-285750">
              <a:buFont typeface="Arial" panose="020B0604020202020204" pitchFamily="34" charset="0"/>
              <a:buChar char="•"/>
            </a:pPr>
            <a:r>
              <a:rPr lang="en-US" sz="1400"/>
              <a:t>5) Using the same SELECT statement that you developed in problem 4, add the WHERE clause, “WHERE ISNUMERIC(Size) = 1”. What is the result of the query now? Why? (Hint: use the MSDN articles to find how the ISNUMERIC() function is used).</a:t>
            </a:r>
          </a:p>
        </p:txBody>
      </p:sp>
    </p:spTree>
    <p:extLst>
      <p:ext uri="{BB962C8B-B14F-4D97-AF65-F5344CB8AC3E}">
        <p14:creationId xmlns:p14="http://schemas.microsoft.com/office/powerpoint/2010/main" val="188254318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7285A8-6EB4-44C6-9ACB-4CC45D21736D}"/>
              </a:ext>
            </a:extLst>
          </p:cNvPr>
          <p:cNvSpPr>
            <a:spLocks noGrp="1"/>
          </p:cNvSpPr>
          <p:nvPr>
            <p:ph type="ctrTitle"/>
          </p:nvPr>
        </p:nvSpPr>
        <p:spPr>
          <a:xfrm>
            <a:off x="1700212" y="411061"/>
            <a:ext cx="8791575" cy="1186212"/>
          </a:xfrm>
        </p:spPr>
        <p:txBody>
          <a:bodyPr/>
          <a:lstStyle/>
          <a:p>
            <a:pPr algn="ctr"/>
            <a:r>
              <a:rPr lang="en-US"/>
              <a:t>SQL FOR DATA ANALYSIS </a:t>
            </a:r>
          </a:p>
        </p:txBody>
      </p:sp>
      <p:sp>
        <p:nvSpPr>
          <p:cNvPr id="3" name="Subtitle 2">
            <a:extLst>
              <a:ext uri="{FF2B5EF4-FFF2-40B4-BE49-F238E27FC236}">
                <a16:creationId xmlns:a16="http://schemas.microsoft.com/office/drawing/2014/main" id="{F732812B-5517-445B-B80B-C63947CC015B}"/>
              </a:ext>
            </a:extLst>
          </p:cNvPr>
          <p:cNvSpPr>
            <a:spLocks noGrp="1"/>
          </p:cNvSpPr>
          <p:nvPr>
            <p:ph type="subTitle" idx="1"/>
          </p:nvPr>
        </p:nvSpPr>
        <p:spPr>
          <a:xfrm>
            <a:off x="1876380" y="1873136"/>
            <a:ext cx="8791575" cy="564939"/>
          </a:xfrm>
        </p:spPr>
        <p:txBody>
          <a:bodyPr>
            <a:normAutofit/>
          </a:bodyPr>
          <a:lstStyle/>
          <a:p>
            <a:pPr algn="ctr"/>
            <a:r>
              <a:rPr lang="en-US">
                <a:solidFill>
                  <a:srgbClr val="FFC000"/>
                </a:solidFill>
              </a:rPr>
              <a:t>cast </a:t>
            </a:r>
            <a:r>
              <a:rPr lang="en-US">
                <a:solidFill>
                  <a:schemeClr val="tx1"/>
                </a:solidFill>
              </a:rPr>
              <a:t>Statement Practice</a:t>
            </a:r>
          </a:p>
        </p:txBody>
      </p:sp>
      <p:sp>
        <p:nvSpPr>
          <p:cNvPr id="6" name="TextBox 5">
            <a:extLst>
              <a:ext uri="{FF2B5EF4-FFF2-40B4-BE49-F238E27FC236}">
                <a16:creationId xmlns:a16="http://schemas.microsoft.com/office/drawing/2014/main" id="{92BB8542-0453-4BA3-9CD2-95838244AA45}"/>
              </a:ext>
            </a:extLst>
          </p:cNvPr>
          <p:cNvSpPr txBox="1"/>
          <p:nvPr/>
        </p:nvSpPr>
        <p:spPr>
          <a:xfrm>
            <a:off x="2903986" y="3007667"/>
            <a:ext cx="7020190" cy="2246769"/>
          </a:xfrm>
          <a:prstGeom prst="rect">
            <a:avLst/>
          </a:prstGeom>
          <a:noFill/>
        </p:spPr>
        <p:txBody>
          <a:bodyPr wrap="square" rtlCol="0">
            <a:spAutoFit/>
          </a:bodyPr>
          <a:lstStyle/>
          <a:p>
            <a:pPr marL="285750" indent="-285750">
              <a:buFont typeface="Arial" panose="020B0604020202020204" pitchFamily="34" charset="0"/>
              <a:buChar char="•"/>
            </a:pPr>
            <a:r>
              <a:rPr lang="en-US" sz="1400"/>
              <a:t>Question 1: SELECT CAST(FirstName AS VARCHAR) FROM </a:t>
            </a:r>
            <a:r>
              <a:rPr lang="en-US" sz="1400" err="1"/>
              <a:t>Person.Person</a:t>
            </a:r>
            <a:r>
              <a:rPr lang="en-US" sz="1400"/>
              <a:t> </a:t>
            </a:r>
          </a:p>
          <a:p>
            <a:pPr marL="285750" indent="-285750">
              <a:buFont typeface="Arial" panose="020B0604020202020204" pitchFamily="34" charset="0"/>
              <a:buChar char="•"/>
            </a:pPr>
            <a:r>
              <a:rPr lang="en-US" sz="1400"/>
              <a:t>Question 2: SELECT 11/4, CAST(11 AS FLOAT)/CAST(4 AS FLOAT), 11.0/4.0 </a:t>
            </a:r>
          </a:p>
          <a:p>
            <a:pPr marL="285750" indent="-285750">
              <a:buFont typeface="Arial" panose="020B0604020202020204" pitchFamily="34" charset="0"/>
              <a:buChar char="•"/>
            </a:pPr>
            <a:r>
              <a:rPr lang="en-US" sz="1400"/>
              <a:t>Question 3: SELECT CAST(FirstName AS VARCHAR(3)) FROM </a:t>
            </a:r>
            <a:r>
              <a:rPr lang="en-US" sz="1400" err="1"/>
              <a:t>Person.Person</a:t>
            </a:r>
            <a:r>
              <a:rPr lang="en-US" sz="1400"/>
              <a:t> </a:t>
            </a:r>
          </a:p>
          <a:p>
            <a:pPr marL="285750" indent="-285750">
              <a:buFont typeface="Arial" panose="020B0604020202020204" pitchFamily="34" charset="0"/>
              <a:buChar char="•"/>
            </a:pPr>
            <a:r>
              <a:rPr lang="en-US" sz="1400"/>
              <a:t>Question 4: SELECT CAST(Size AS INT) FROM </a:t>
            </a:r>
            <a:r>
              <a:rPr lang="en-US" sz="1400" err="1"/>
              <a:t>Production.Product</a:t>
            </a:r>
            <a:r>
              <a:rPr lang="en-US" sz="1400"/>
              <a:t> An error is returned stating “conversion failed when converting the </a:t>
            </a:r>
            <a:r>
              <a:rPr lang="en-US" sz="1400" err="1"/>
              <a:t>nvarchar</a:t>
            </a:r>
            <a:r>
              <a:rPr lang="en-US" sz="1400"/>
              <a:t> value ‘M’ to data type int.”. This is because there are some values of the Size column that contain sizes like “S”, “M”, “L”, etc. These values are not numeric and cannot be converted to an integer as there is certainly no integer equivalent for the value of the letter “S” or “M”. </a:t>
            </a:r>
          </a:p>
          <a:p>
            <a:pPr marL="285750" indent="-285750">
              <a:buFont typeface="Arial" panose="020B0604020202020204" pitchFamily="34" charset="0"/>
              <a:buChar char="•"/>
            </a:pPr>
            <a:r>
              <a:rPr lang="en-US" sz="1400"/>
              <a:t>Question 5: SELECT CAST(Size AS INT) FROM </a:t>
            </a:r>
            <a:r>
              <a:rPr lang="en-US" sz="1400" err="1"/>
              <a:t>Production.Product</a:t>
            </a:r>
            <a:r>
              <a:rPr lang="en-US" sz="1400"/>
              <a:t> WHERE ISNUMERIC(Size) = 1</a:t>
            </a:r>
          </a:p>
        </p:txBody>
      </p:sp>
    </p:spTree>
    <p:extLst>
      <p:ext uri="{BB962C8B-B14F-4D97-AF65-F5344CB8AC3E}">
        <p14:creationId xmlns:p14="http://schemas.microsoft.com/office/powerpoint/2010/main" val="77489844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7285A8-6EB4-44C6-9ACB-4CC45D21736D}"/>
              </a:ext>
            </a:extLst>
          </p:cNvPr>
          <p:cNvSpPr>
            <a:spLocks noGrp="1"/>
          </p:cNvSpPr>
          <p:nvPr>
            <p:ph type="ctrTitle"/>
          </p:nvPr>
        </p:nvSpPr>
        <p:spPr>
          <a:xfrm>
            <a:off x="1700212" y="411061"/>
            <a:ext cx="8791575" cy="1186212"/>
          </a:xfrm>
        </p:spPr>
        <p:txBody>
          <a:bodyPr/>
          <a:lstStyle/>
          <a:p>
            <a:pPr algn="ctr"/>
            <a:r>
              <a:rPr lang="en-US"/>
              <a:t>SQL FOR DATA ANALYSIS </a:t>
            </a:r>
          </a:p>
        </p:txBody>
      </p:sp>
      <p:sp>
        <p:nvSpPr>
          <p:cNvPr id="3" name="Subtitle 2">
            <a:extLst>
              <a:ext uri="{FF2B5EF4-FFF2-40B4-BE49-F238E27FC236}">
                <a16:creationId xmlns:a16="http://schemas.microsoft.com/office/drawing/2014/main" id="{F732812B-5517-445B-B80B-C63947CC015B}"/>
              </a:ext>
            </a:extLst>
          </p:cNvPr>
          <p:cNvSpPr>
            <a:spLocks noGrp="1"/>
          </p:cNvSpPr>
          <p:nvPr>
            <p:ph type="subTitle" idx="1"/>
          </p:nvPr>
        </p:nvSpPr>
        <p:spPr>
          <a:xfrm>
            <a:off x="1876380" y="1873136"/>
            <a:ext cx="8791575" cy="564939"/>
          </a:xfrm>
        </p:spPr>
        <p:txBody>
          <a:bodyPr>
            <a:normAutofit/>
          </a:bodyPr>
          <a:lstStyle/>
          <a:p>
            <a:pPr algn="ctr"/>
            <a:r>
              <a:rPr lang="en-US">
                <a:solidFill>
                  <a:srgbClr val="FFC000"/>
                </a:solidFill>
              </a:rPr>
              <a:t>Sub query </a:t>
            </a:r>
            <a:r>
              <a:rPr lang="en-US">
                <a:solidFill>
                  <a:schemeClr val="tx1"/>
                </a:solidFill>
              </a:rPr>
              <a:t>Statement Practice</a:t>
            </a:r>
          </a:p>
        </p:txBody>
      </p:sp>
      <p:sp>
        <p:nvSpPr>
          <p:cNvPr id="6" name="TextBox 5">
            <a:extLst>
              <a:ext uri="{FF2B5EF4-FFF2-40B4-BE49-F238E27FC236}">
                <a16:creationId xmlns:a16="http://schemas.microsoft.com/office/drawing/2014/main" id="{92BB8542-0453-4BA3-9CD2-95838244AA45}"/>
              </a:ext>
            </a:extLst>
          </p:cNvPr>
          <p:cNvSpPr txBox="1"/>
          <p:nvPr/>
        </p:nvSpPr>
        <p:spPr>
          <a:xfrm>
            <a:off x="2546890" y="2894456"/>
            <a:ext cx="8121065" cy="2462213"/>
          </a:xfrm>
          <a:prstGeom prst="rect">
            <a:avLst/>
          </a:prstGeom>
          <a:noFill/>
        </p:spPr>
        <p:txBody>
          <a:bodyPr wrap="square" rtlCol="0">
            <a:spAutoFit/>
          </a:bodyPr>
          <a:lstStyle/>
          <a:p>
            <a:pPr marL="285750" indent="-285750">
              <a:buFont typeface="Arial" panose="020B0604020202020204" pitchFamily="34" charset="0"/>
              <a:buChar char="•"/>
            </a:pPr>
            <a:r>
              <a:rPr lang="en-US" sz="1400"/>
              <a:t>1) Will the following query execute properly? Why or why not? SELECT * FROM ( SELECT </a:t>
            </a:r>
            <a:r>
              <a:rPr lang="en-US" sz="1400" err="1"/>
              <a:t>P.BusinessEntityID</a:t>
            </a:r>
            <a:r>
              <a:rPr lang="en-US" sz="1400"/>
              <a:t>, </a:t>
            </a:r>
            <a:r>
              <a:rPr lang="en-US" sz="1400" err="1"/>
              <a:t>P.FirstName</a:t>
            </a:r>
            <a:r>
              <a:rPr lang="en-US" sz="1400"/>
              <a:t>, </a:t>
            </a:r>
            <a:r>
              <a:rPr lang="en-US" sz="1400" err="1"/>
              <a:t>P.LastName</a:t>
            </a:r>
            <a:r>
              <a:rPr lang="en-US" sz="1400"/>
              <a:t>, YEAR(</a:t>
            </a:r>
            <a:r>
              <a:rPr lang="en-US" sz="1400" err="1"/>
              <a:t>E.HireDate</a:t>
            </a:r>
            <a:r>
              <a:rPr lang="en-US" sz="1400"/>
              <a:t>) FROM </a:t>
            </a:r>
            <a:r>
              <a:rPr lang="en-US" sz="1400" err="1"/>
              <a:t>HumanResources.Employee</a:t>
            </a:r>
            <a:r>
              <a:rPr lang="en-US" sz="1400"/>
              <a:t> E INNER JOIN </a:t>
            </a:r>
            <a:r>
              <a:rPr lang="en-US" sz="1400" err="1"/>
              <a:t>Person.Person</a:t>
            </a:r>
            <a:r>
              <a:rPr lang="en-US" sz="1400"/>
              <a:t> P ON </a:t>
            </a:r>
            <a:r>
              <a:rPr lang="en-US" sz="1400" err="1"/>
              <a:t>P.BusinessEntityID</a:t>
            </a:r>
            <a:r>
              <a:rPr lang="en-US" sz="1400"/>
              <a:t> = </a:t>
            </a:r>
            <a:r>
              <a:rPr lang="en-US" sz="1400" err="1"/>
              <a:t>E.BusinessEntityID</a:t>
            </a:r>
            <a:r>
              <a:rPr lang="en-US" sz="1400"/>
              <a:t> ) AS </a:t>
            </a:r>
            <a:r>
              <a:rPr lang="en-US" sz="1400" err="1"/>
              <a:t>EmployeeDetails</a:t>
            </a:r>
            <a:r>
              <a:rPr lang="en-US" sz="1400"/>
              <a:t> </a:t>
            </a:r>
          </a:p>
          <a:p>
            <a:pPr marL="285750" indent="-285750">
              <a:buFont typeface="Arial" panose="020B0604020202020204" pitchFamily="34" charset="0"/>
              <a:buChar char="•"/>
            </a:pPr>
            <a:r>
              <a:rPr lang="en-US" sz="1400"/>
              <a:t>2) Will the following query execute properly? Why or why not? SELECT * FROM ( SELECT TOP 100 </a:t>
            </a:r>
            <a:r>
              <a:rPr lang="en-US" sz="1400" err="1"/>
              <a:t>P.BusinessEntityID</a:t>
            </a:r>
            <a:r>
              <a:rPr lang="en-US" sz="1400"/>
              <a:t>, </a:t>
            </a:r>
            <a:r>
              <a:rPr lang="en-US" sz="1400" err="1"/>
              <a:t>P.FirstName</a:t>
            </a:r>
            <a:r>
              <a:rPr lang="en-US" sz="1400"/>
              <a:t>, </a:t>
            </a:r>
            <a:r>
              <a:rPr lang="en-US" sz="1400" err="1"/>
              <a:t>P.LastName</a:t>
            </a:r>
            <a:r>
              <a:rPr lang="en-US" sz="1400"/>
              <a:t> FROM </a:t>
            </a:r>
            <a:r>
              <a:rPr lang="en-US" sz="1400" err="1"/>
              <a:t>HumanResources.Employee</a:t>
            </a:r>
            <a:r>
              <a:rPr lang="en-US" sz="1400"/>
              <a:t> E INNER JOIN </a:t>
            </a:r>
            <a:r>
              <a:rPr lang="en-US" sz="1400" err="1"/>
              <a:t>Person.Person</a:t>
            </a:r>
            <a:r>
              <a:rPr lang="en-US" sz="1400"/>
              <a:t> P ON </a:t>
            </a:r>
            <a:r>
              <a:rPr lang="en-US" sz="1400" err="1"/>
              <a:t>P.BusinessEntityID</a:t>
            </a:r>
            <a:r>
              <a:rPr lang="en-US" sz="1400"/>
              <a:t> = </a:t>
            </a:r>
            <a:r>
              <a:rPr lang="en-US" sz="1400" err="1"/>
              <a:t>E.BusinessEntityID</a:t>
            </a:r>
            <a:r>
              <a:rPr lang="en-US" sz="1400"/>
              <a:t> ORDER BY 1 ) AS </a:t>
            </a:r>
            <a:r>
              <a:rPr lang="en-US" sz="1400" err="1"/>
              <a:t>EmployeeDetails</a:t>
            </a:r>
            <a:r>
              <a:rPr lang="en-US" sz="1400"/>
              <a:t> </a:t>
            </a:r>
          </a:p>
          <a:p>
            <a:pPr marL="285750" indent="-285750">
              <a:buFont typeface="Arial" panose="020B0604020202020204" pitchFamily="34" charset="0"/>
              <a:buChar char="•"/>
            </a:pPr>
            <a:r>
              <a:rPr lang="en-US" sz="1400"/>
              <a:t>3) Using a derived table so that no functions will appear in the WHERE clause, find all employees from the </a:t>
            </a:r>
            <a:r>
              <a:rPr lang="en-US" sz="1400" err="1"/>
              <a:t>HumanResources.Employee</a:t>
            </a:r>
            <a:r>
              <a:rPr lang="en-US" sz="1400"/>
              <a:t> table who were hired in the year 2006 or greater and who were born in the year 1968 or less. </a:t>
            </a:r>
          </a:p>
          <a:p>
            <a:pPr marL="285750" indent="-285750">
              <a:buFont typeface="Arial" panose="020B0604020202020204" pitchFamily="34" charset="0"/>
              <a:buChar char="•"/>
            </a:pPr>
            <a:r>
              <a:rPr lang="en-US" sz="1400"/>
              <a:t>4) Using a derived table, find the total sales revenue generated for the year 2005 and 2006. The WHERE and GROUP BY clause of your SELECT statement should have no functions</a:t>
            </a:r>
          </a:p>
        </p:txBody>
      </p:sp>
    </p:spTree>
    <p:extLst>
      <p:ext uri="{BB962C8B-B14F-4D97-AF65-F5344CB8AC3E}">
        <p14:creationId xmlns:p14="http://schemas.microsoft.com/office/powerpoint/2010/main" val="60699507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7285A8-6EB4-44C6-9ACB-4CC45D21736D}"/>
              </a:ext>
            </a:extLst>
          </p:cNvPr>
          <p:cNvSpPr>
            <a:spLocks noGrp="1"/>
          </p:cNvSpPr>
          <p:nvPr>
            <p:ph type="ctrTitle"/>
          </p:nvPr>
        </p:nvSpPr>
        <p:spPr>
          <a:xfrm>
            <a:off x="1700212" y="411061"/>
            <a:ext cx="8791575" cy="1186212"/>
          </a:xfrm>
        </p:spPr>
        <p:txBody>
          <a:bodyPr/>
          <a:lstStyle/>
          <a:p>
            <a:pPr algn="ctr"/>
            <a:r>
              <a:rPr lang="en-US"/>
              <a:t>SQL FOR DATA ANALYSIS </a:t>
            </a:r>
          </a:p>
        </p:txBody>
      </p:sp>
      <p:sp>
        <p:nvSpPr>
          <p:cNvPr id="3" name="Subtitle 2">
            <a:extLst>
              <a:ext uri="{FF2B5EF4-FFF2-40B4-BE49-F238E27FC236}">
                <a16:creationId xmlns:a16="http://schemas.microsoft.com/office/drawing/2014/main" id="{F732812B-5517-445B-B80B-C63947CC015B}"/>
              </a:ext>
            </a:extLst>
          </p:cNvPr>
          <p:cNvSpPr>
            <a:spLocks noGrp="1"/>
          </p:cNvSpPr>
          <p:nvPr>
            <p:ph type="subTitle" idx="1"/>
          </p:nvPr>
        </p:nvSpPr>
        <p:spPr>
          <a:xfrm>
            <a:off x="1876380" y="1873136"/>
            <a:ext cx="8791575" cy="564939"/>
          </a:xfrm>
        </p:spPr>
        <p:txBody>
          <a:bodyPr>
            <a:normAutofit/>
          </a:bodyPr>
          <a:lstStyle/>
          <a:p>
            <a:pPr algn="ctr"/>
            <a:r>
              <a:rPr lang="en-US">
                <a:solidFill>
                  <a:srgbClr val="FFC000"/>
                </a:solidFill>
              </a:rPr>
              <a:t>Sub query </a:t>
            </a:r>
            <a:r>
              <a:rPr lang="en-US">
                <a:solidFill>
                  <a:schemeClr val="tx1"/>
                </a:solidFill>
              </a:rPr>
              <a:t>Statement Practice</a:t>
            </a:r>
          </a:p>
        </p:txBody>
      </p:sp>
      <p:sp>
        <p:nvSpPr>
          <p:cNvPr id="6" name="TextBox 5">
            <a:extLst>
              <a:ext uri="{FF2B5EF4-FFF2-40B4-BE49-F238E27FC236}">
                <a16:creationId xmlns:a16="http://schemas.microsoft.com/office/drawing/2014/main" id="{92BB8542-0453-4BA3-9CD2-95838244AA45}"/>
              </a:ext>
            </a:extLst>
          </p:cNvPr>
          <p:cNvSpPr txBox="1"/>
          <p:nvPr/>
        </p:nvSpPr>
        <p:spPr>
          <a:xfrm>
            <a:off x="2903986" y="3007667"/>
            <a:ext cx="8094940" cy="1938992"/>
          </a:xfrm>
          <a:prstGeom prst="rect">
            <a:avLst/>
          </a:prstGeom>
          <a:noFill/>
        </p:spPr>
        <p:txBody>
          <a:bodyPr wrap="square" rtlCol="0">
            <a:spAutoFit/>
          </a:bodyPr>
          <a:lstStyle/>
          <a:p>
            <a:pPr marL="285750" indent="-285750">
              <a:buFont typeface="Arial" panose="020B0604020202020204" pitchFamily="34" charset="0"/>
              <a:buChar char="•"/>
            </a:pPr>
            <a:r>
              <a:rPr lang="en-US" sz="1200"/>
              <a:t>Question 1: The query will not execute because a required condition of a table expression is that each column must have a name specified. The “YEAR(</a:t>
            </a:r>
            <a:r>
              <a:rPr lang="en-US" sz="1200" err="1"/>
              <a:t>HireDate</a:t>
            </a:r>
            <a:r>
              <a:rPr lang="en-US" sz="1200"/>
              <a:t>)” column does not have an alias specified, therefore the table expression cannot be evaluated and the query will fail. </a:t>
            </a:r>
          </a:p>
          <a:p>
            <a:pPr marL="285750" indent="-285750">
              <a:buFont typeface="Arial" panose="020B0604020202020204" pitchFamily="34" charset="0"/>
              <a:buChar char="•"/>
            </a:pPr>
            <a:r>
              <a:rPr lang="en-US" sz="1200"/>
              <a:t>Question 2: This query will execute without an issue. ORDER BY clauses are not allowed in table expressions unless the TOP operator is used within the expression. Since the TOP operator is included in this table expression the ORDER BY clause is allowed.</a:t>
            </a:r>
          </a:p>
          <a:p>
            <a:pPr marL="285750" indent="-285750">
              <a:buFont typeface="Arial" panose="020B0604020202020204" pitchFamily="34" charset="0"/>
              <a:buChar char="•"/>
            </a:pPr>
            <a:r>
              <a:rPr lang="en-US" sz="1200"/>
              <a:t>Question 3: SELECT * FROM ( SELECT *, YEAR(</a:t>
            </a:r>
            <a:r>
              <a:rPr lang="en-US" sz="1200" err="1"/>
              <a:t>HireDate</a:t>
            </a:r>
            <a:r>
              <a:rPr lang="en-US" sz="1200"/>
              <a:t>) AS </a:t>
            </a:r>
            <a:r>
              <a:rPr lang="en-US" sz="1200" err="1"/>
              <a:t>HireYear</a:t>
            </a:r>
            <a:r>
              <a:rPr lang="en-US" sz="1200"/>
              <a:t>, YEAR(</a:t>
            </a:r>
            <a:r>
              <a:rPr lang="en-US" sz="1200" err="1"/>
              <a:t>BirthDate</a:t>
            </a:r>
            <a:r>
              <a:rPr lang="en-US" sz="1200"/>
              <a:t>) AS </a:t>
            </a:r>
            <a:r>
              <a:rPr lang="en-US" sz="1200" err="1"/>
              <a:t>BirthYear</a:t>
            </a:r>
            <a:r>
              <a:rPr lang="en-US" sz="1200"/>
              <a:t> FROM </a:t>
            </a:r>
            <a:r>
              <a:rPr lang="en-US" sz="1200" err="1"/>
              <a:t>HumanResources.Employee</a:t>
            </a:r>
            <a:r>
              <a:rPr lang="en-US" sz="1200"/>
              <a:t> ) AS Emp WHERE </a:t>
            </a:r>
            <a:r>
              <a:rPr lang="en-US" sz="1200" err="1"/>
              <a:t>HireYear</a:t>
            </a:r>
            <a:r>
              <a:rPr lang="en-US" sz="1200"/>
              <a:t> &gt;= 2006 AND </a:t>
            </a:r>
            <a:r>
              <a:rPr lang="en-US" sz="1200" err="1"/>
              <a:t>BirthYear</a:t>
            </a:r>
            <a:r>
              <a:rPr lang="en-US" sz="1200"/>
              <a:t> &lt;= 1968 </a:t>
            </a:r>
          </a:p>
          <a:p>
            <a:pPr marL="285750" indent="-285750">
              <a:buFont typeface="Arial" panose="020B0604020202020204" pitchFamily="34" charset="0"/>
              <a:buChar char="•"/>
            </a:pPr>
            <a:r>
              <a:rPr lang="en-US" sz="1200"/>
              <a:t>Question 4: SELECT </a:t>
            </a:r>
            <a:r>
              <a:rPr lang="en-US" sz="1200" err="1"/>
              <a:t>OrderYear</a:t>
            </a:r>
            <a:r>
              <a:rPr lang="en-US" sz="1200"/>
              <a:t>, SUM(</a:t>
            </a:r>
            <a:r>
              <a:rPr lang="en-US" sz="1200" err="1"/>
              <a:t>TotalDue</a:t>
            </a:r>
            <a:r>
              <a:rPr lang="en-US" sz="1200"/>
              <a:t>) AS </a:t>
            </a:r>
            <a:r>
              <a:rPr lang="en-US" sz="1200" err="1"/>
              <a:t>TotalSales</a:t>
            </a:r>
            <a:r>
              <a:rPr lang="en-US" sz="1200"/>
              <a:t> FROM ( SELECT *, YEAR(</a:t>
            </a:r>
            <a:r>
              <a:rPr lang="en-US" sz="1200" err="1"/>
              <a:t>OrderDate</a:t>
            </a:r>
            <a:r>
              <a:rPr lang="en-US" sz="1200"/>
              <a:t>) AS </a:t>
            </a:r>
            <a:r>
              <a:rPr lang="en-US" sz="1200" err="1"/>
              <a:t>OrderYear</a:t>
            </a:r>
            <a:r>
              <a:rPr lang="en-US" sz="1200"/>
              <a:t> FROM </a:t>
            </a:r>
            <a:r>
              <a:rPr lang="en-US" sz="1200" err="1"/>
              <a:t>Sales.SalesOrderHeader</a:t>
            </a:r>
            <a:r>
              <a:rPr lang="en-US" sz="1200"/>
              <a:t> ) AS </a:t>
            </a:r>
            <a:r>
              <a:rPr lang="en-US" sz="1200" err="1"/>
              <a:t>SalesOrders</a:t>
            </a:r>
            <a:r>
              <a:rPr lang="en-US" sz="1200"/>
              <a:t> WHERE </a:t>
            </a:r>
            <a:r>
              <a:rPr lang="en-US" sz="1200" err="1"/>
              <a:t>OrderYear</a:t>
            </a:r>
            <a:r>
              <a:rPr lang="en-US" sz="1200"/>
              <a:t> IN (</a:t>
            </a:r>
          </a:p>
        </p:txBody>
      </p:sp>
    </p:spTree>
    <p:extLst>
      <p:ext uri="{BB962C8B-B14F-4D97-AF65-F5344CB8AC3E}">
        <p14:creationId xmlns:p14="http://schemas.microsoft.com/office/powerpoint/2010/main" val="88566481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7285A8-6EB4-44C6-9ACB-4CC45D21736D}"/>
              </a:ext>
            </a:extLst>
          </p:cNvPr>
          <p:cNvSpPr>
            <a:spLocks noGrp="1"/>
          </p:cNvSpPr>
          <p:nvPr>
            <p:ph type="ctrTitle"/>
          </p:nvPr>
        </p:nvSpPr>
        <p:spPr>
          <a:xfrm>
            <a:off x="1700212" y="411061"/>
            <a:ext cx="8791575" cy="1186212"/>
          </a:xfrm>
        </p:spPr>
        <p:txBody>
          <a:bodyPr/>
          <a:lstStyle/>
          <a:p>
            <a:pPr algn="ctr"/>
            <a:r>
              <a:rPr lang="en-US"/>
              <a:t>SQL FOR DATA ANALYSIS </a:t>
            </a:r>
          </a:p>
        </p:txBody>
      </p:sp>
      <p:sp>
        <p:nvSpPr>
          <p:cNvPr id="3" name="Subtitle 2">
            <a:extLst>
              <a:ext uri="{FF2B5EF4-FFF2-40B4-BE49-F238E27FC236}">
                <a16:creationId xmlns:a16="http://schemas.microsoft.com/office/drawing/2014/main" id="{F732812B-5517-445B-B80B-C63947CC015B}"/>
              </a:ext>
            </a:extLst>
          </p:cNvPr>
          <p:cNvSpPr>
            <a:spLocks noGrp="1"/>
          </p:cNvSpPr>
          <p:nvPr>
            <p:ph type="subTitle" idx="1"/>
          </p:nvPr>
        </p:nvSpPr>
        <p:spPr>
          <a:xfrm>
            <a:off x="1876380" y="1873136"/>
            <a:ext cx="8791575" cy="564939"/>
          </a:xfrm>
        </p:spPr>
        <p:txBody>
          <a:bodyPr>
            <a:normAutofit/>
          </a:bodyPr>
          <a:lstStyle/>
          <a:p>
            <a:pPr algn="ctr"/>
            <a:r>
              <a:rPr lang="en-US">
                <a:solidFill>
                  <a:srgbClr val="FFC000"/>
                </a:solidFill>
              </a:rPr>
              <a:t>CTE(common table expression) </a:t>
            </a:r>
            <a:r>
              <a:rPr lang="en-US">
                <a:solidFill>
                  <a:schemeClr val="tx1"/>
                </a:solidFill>
              </a:rPr>
              <a:t>Statement Practice</a:t>
            </a:r>
          </a:p>
        </p:txBody>
      </p:sp>
      <p:sp>
        <p:nvSpPr>
          <p:cNvPr id="6" name="TextBox 5">
            <a:extLst>
              <a:ext uri="{FF2B5EF4-FFF2-40B4-BE49-F238E27FC236}">
                <a16:creationId xmlns:a16="http://schemas.microsoft.com/office/drawing/2014/main" id="{92BB8542-0453-4BA3-9CD2-95838244AA45}"/>
              </a:ext>
            </a:extLst>
          </p:cNvPr>
          <p:cNvSpPr txBox="1"/>
          <p:nvPr/>
        </p:nvSpPr>
        <p:spPr>
          <a:xfrm>
            <a:off x="2903986" y="3007667"/>
            <a:ext cx="7946894" cy="2677656"/>
          </a:xfrm>
          <a:prstGeom prst="rect">
            <a:avLst/>
          </a:prstGeom>
          <a:noFill/>
        </p:spPr>
        <p:txBody>
          <a:bodyPr wrap="square" rtlCol="0">
            <a:spAutoFit/>
          </a:bodyPr>
          <a:lstStyle/>
          <a:p>
            <a:pPr marL="285750" indent="-285750">
              <a:buFont typeface="Arial" panose="020B0604020202020204" pitchFamily="34" charset="0"/>
              <a:buChar char="•"/>
            </a:pPr>
            <a:r>
              <a:rPr lang="en-US" sz="1400"/>
              <a:t>1) Will the following code execute properly? Why or why not? WITH Sales AS ( SELECT YEAR(</a:t>
            </a:r>
            <a:r>
              <a:rPr lang="en-US" sz="1400" err="1"/>
              <a:t>OrderDate</a:t>
            </a:r>
            <a:r>
              <a:rPr lang="en-US" sz="1400"/>
              <a:t>), </a:t>
            </a:r>
            <a:r>
              <a:rPr lang="en-US" sz="1400" err="1"/>
              <a:t>TotalDue</a:t>
            </a:r>
            <a:r>
              <a:rPr lang="en-US" sz="1400"/>
              <a:t> FROM </a:t>
            </a:r>
            <a:r>
              <a:rPr lang="en-US" sz="1400" err="1"/>
              <a:t>Sales.SalesOrderHeader</a:t>
            </a:r>
            <a:r>
              <a:rPr lang="en-US" sz="1400"/>
              <a:t> ) SELECT * FROM Sales </a:t>
            </a:r>
          </a:p>
          <a:p>
            <a:pPr marL="285750" indent="-285750">
              <a:buFont typeface="Arial" panose="020B0604020202020204" pitchFamily="34" charset="0"/>
              <a:buChar char="•"/>
            </a:pPr>
            <a:r>
              <a:rPr lang="en-US" sz="1400"/>
              <a:t>2) Using CTEs, find out, for each year the company hired new employees, how many employees the company hired for each year and how many employees they hired the previous year. Use the </a:t>
            </a:r>
            <a:r>
              <a:rPr lang="en-US" sz="1400" err="1"/>
              <a:t>HumanResources.Employee</a:t>
            </a:r>
            <a:r>
              <a:rPr lang="en-US" sz="1400"/>
              <a:t> table for this lab question. You should have return three columns: the hire year, the number of employees hired that year, and the number of employees hired the year before. </a:t>
            </a:r>
          </a:p>
          <a:p>
            <a:pPr marL="285750" indent="-285750">
              <a:buFont typeface="Arial" panose="020B0604020202020204" pitchFamily="34" charset="0"/>
              <a:buChar char="•"/>
            </a:pPr>
            <a:r>
              <a:rPr lang="en-US" sz="1400"/>
              <a:t>3) Using a CTE such that no functions are contained in the GROUP BY clause of the SELECT statement, find the number of products that began selling per year (using the </a:t>
            </a:r>
            <a:r>
              <a:rPr lang="en-US" sz="1400" err="1"/>
              <a:t>Production.Product</a:t>
            </a:r>
            <a:r>
              <a:rPr lang="en-US" sz="1400"/>
              <a:t> table and the </a:t>
            </a:r>
            <a:r>
              <a:rPr lang="en-US" sz="1400" err="1"/>
              <a:t>SellStartDate</a:t>
            </a:r>
            <a:r>
              <a:rPr lang="en-US" sz="1400"/>
              <a:t> column). </a:t>
            </a:r>
          </a:p>
          <a:p>
            <a:pPr marL="285750" indent="-285750">
              <a:buFont typeface="Arial" panose="020B0604020202020204" pitchFamily="34" charset="0"/>
              <a:buChar char="•"/>
            </a:pPr>
            <a:r>
              <a:rPr lang="en-US" sz="1400"/>
              <a:t>4) Using a CTE that references the </a:t>
            </a:r>
            <a:r>
              <a:rPr lang="en-US" sz="1400" err="1"/>
              <a:t>Sales.SalesOrderHeader</a:t>
            </a:r>
            <a:r>
              <a:rPr lang="en-US" sz="1400"/>
              <a:t> table, find each month’s total sales for the year 2006. No functions should be used in either the WHERE or the GROUP BY clause of your SELECT statement.</a:t>
            </a:r>
          </a:p>
        </p:txBody>
      </p:sp>
    </p:spTree>
    <p:extLst>
      <p:ext uri="{BB962C8B-B14F-4D97-AF65-F5344CB8AC3E}">
        <p14:creationId xmlns:p14="http://schemas.microsoft.com/office/powerpoint/2010/main" val="277957078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7285A8-6EB4-44C6-9ACB-4CC45D21736D}"/>
              </a:ext>
            </a:extLst>
          </p:cNvPr>
          <p:cNvSpPr>
            <a:spLocks noGrp="1"/>
          </p:cNvSpPr>
          <p:nvPr>
            <p:ph type="ctrTitle"/>
          </p:nvPr>
        </p:nvSpPr>
        <p:spPr>
          <a:xfrm>
            <a:off x="1700212" y="411061"/>
            <a:ext cx="8791575" cy="1186212"/>
          </a:xfrm>
        </p:spPr>
        <p:txBody>
          <a:bodyPr/>
          <a:lstStyle/>
          <a:p>
            <a:pPr algn="ctr"/>
            <a:r>
              <a:rPr lang="en-US"/>
              <a:t>SQL FOR DATA ANALYSIS </a:t>
            </a:r>
          </a:p>
        </p:txBody>
      </p:sp>
      <p:sp>
        <p:nvSpPr>
          <p:cNvPr id="3" name="Subtitle 2">
            <a:extLst>
              <a:ext uri="{FF2B5EF4-FFF2-40B4-BE49-F238E27FC236}">
                <a16:creationId xmlns:a16="http://schemas.microsoft.com/office/drawing/2014/main" id="{F732812B-5517-445B-B80B-C63947CC015B}"/>
              </a:ext>
            </a:extLst>
          </p:cNvPr>
          <p:cNvSpPr>
            <a:spLocks noGrp="1"/>
          </p:cNvSpPr>
          <p:nvPr>
            <p:ph type="subTitle" idx="1"/>
          </p:nvPr>
        </p:nvSpPr>
        <p:spPr>
          <a:xfrm>
            <a:off x="1876380" y="1873136"/>
            <a:ext cx="8791575" cy="564939"/>
          </a:xfrm>
        </p:spPr>
        <p:txBody>
          <a:bodyPr>
            <a:normAutofit/>
          </a:bodyPr>
          <a:lstStyle/>
          <a:p>
            <a:pPr algn="ctr"/>
            <a:r>
              <a:rPr lang="en-US">
                <a:solidFill>
                  <a:srgbClr val="FFC000"/>
                </a:solidFill>
              </a:rPr>
              <a:t>with </a:t>
            </a:r>
            <a:r>
              <a:rPr lang="en-US">
                <a:solidFill>
                  <a:schemeClr val="tx1"/>
                </a:solidFill>
              </a:rPr>
              <a:t>Statement Practice</a:t>
            </a:r>
          </a:p>
        </p:txBody>
      </p:sp>
      <p:sp>
        <p:nvSpPr>
          <p:cNvPr id="6" name="TextBox 5">
            <a:extLst>
              <a:ext uri="{FF2B5EF4-FFF2-40B4-BE49-F238E27FC236}">
                <a16:creationId xmlns:a16="http://schemas.microsoft.com/office/drawing/2014/main" id="{92BB8542-0453-4BA3-9CD2-95838244AA45}"/>
              </a:ext>
            </a:extLst>
          </p:cNvPr>
          <p:cNvSpPr txBox="1"/>
          <p:nvPr/>
        </p:nvSpPr>
        <p:spPr>
          <a:xfrm>
            <a:off x="2903985" y="3007667"/>
            <a:ext cx="8600037" cy="2893100"/>
          </a:xfrm>
          <a:prstGeom prst="rect">
            <a:avLst/>
          </a:prstGeom>
          <a:noFill/>
        </p:spPr>
        <p:txBody>
          <a:bodyPr wrap="square" rtlCol="0">
            <a:spAutoFit/>
          </a:bodyPr>
          <a:lstStyle/>
          <a:p>
            <a:pPr marL="285750" indent="-285750">
              <a:buFont typeface="Arial" panose="020B0604020202020204" pitchFamily="34" charset="0"/>
              <a:buChar char="•"/>
            </a:pPr>
            <a:r>
              <a:rPr lang="en-US" sz="1400"/>
              <a:t>Question 1: This query will fail at runtime because the first column of the CTE does not contain a name. Since every column in a table expression must have a name specified, the lack of a column alias will cause the query to return an error. </a:t>
            </a:r>
          </a:p>
          <a:p>
            <a:pPr marL="285750" indent="-285750">
              <a:buFont typeface="Arial" panose="020B0604020202020204" pitchFamily="34" charset="0"/>
              <a:buChar char="•"/>
            </a:pPr>
            <a:r>
              <a:rPr lang="en-US" sz="1400"/>
              <a:t>Question 2: WITH Hires AS ( SELECT YEAR(</a:t>
            </a:r>
            <a:r>
              <a:rPr lang="en-US" sz="1400" err="1"/>
              <a:t>HireDate</a:t>
            </a:r>
            <a:r>
              <a:rPr lang="en-US" sz="1400"/>
              <a:t>) AS </a:t>
            </a:r>
            <a:r>
              <a:rPr lang="en-US" sz="1400" err="1"/>
              <a:t>HireYear</a:t>
            </a:r>
            <a:r>
              <a:rPr lang="en-US" sz="1400"/>
              <a:t>, </a:t>
            </a:r>
            <a:r>
              <a:rPr lang="en-US" sz="1400" err="1"/>
              <a:t>BusinessEntityID</a:t>
            </a:r>
            <a:r>
              <a:rPr lang="en-US" sz="1400"/>
              <a:t> FROM </a:t>
            </a:r>
            <a:r>
              <a:rPr lang="en-US" sz="1400" err="1"/>
              <a:t>HumanResources.Employee</a:t>
            </a:r>
            <a:r>
              <a:rPr lang="en-US" sz="1400"/>
              <a:t> ), </a:t>
            </a:r>
            <a:r>
              <a:rPr lang="en-US" sz="1400" err="1"/>
              <a:t>HireByYear</a:t>
            </a:r>
            <a:r>
              <a:rPr lang="en-US" sz="1400"/>
              <a:t> AS ( SELECT </a:t>
            </a:r>
            <a:r>
              <a:rPr lang="en-US" sz="1400" err="1"/>
              <a:t>HireYear</a:t>
            </a:r>
            <a:r>
              <a:rPr lang="en-US" sz="1400"/>
              <a:t>, COUNT(*) AS </a:t>
            </a:r>
            <a:r>
              <a:rPr lang="en-US" sz="1400" err="1"/>
              <a:t>HireCount</a:t>
            </a:r>
            <a:r>
              <a:rPr lang="en-US" sz="1400"/>
              <a:t> FROM Hires GROUP BY </a:t>
            </a:r>
            <a:r>
              <a:rPr lang="en-US" sz="1400" err="1"/>
              <a:t>HireYear</a:t>
            </a:r>
            <a:r>
              <a:rPr lang="en-US" sz="1400"/>
              <a:t> ) SELECT H1.HireYear, H1.HireCount AS </a:t>
            </a:r>
            <a:r>
              <a:rPr lang="en-US" sz="1400" err="1"/>
              <a:t>CurrentYearHireCount</a:t>
            </a:r>
            <a:r>
              <a:rPr lang="en-US" sz="1400"/>
              <a:t>, H2.HireCount AS </a:t>
            </a:r>
            <a:r>
              <a:rPr lang="en-US" sz="1400" err="1"/>
              <a:t>PriorYearHireCount</a:t>
            </a:r>
            <a:r>
              <a:rPr lang="en-US" sz="1400"/>
              <a:t> FROM </a:t>
            </a:r>
            <a:r>
              <a:rPr lang="en-US" sz="1400" err="1"/>
              <a:t>HireByYear</a:t>
            </a:r>
            <a:r>
              <a:rPr lang="en-US" sz="1400"/>
              <a:t> H1 LEFT OUTER JOIN </a:t>
            </a:r>
            <a:r>
              <a:rPr lang="en-US" sz="1400" err="1"/>
              <a:t>HireByYear</a:t>
            </a:r>
            <a:r>
              <a:rPr lang="en-US" sz="1400"/>
              <a:t> H2 ON H1.HireYear = H2.HireYear + 1 </a:t>
            </a:r>
          </a:p>
          <a:p>
            <a:pPr marL="285750" indent="-285750">
              <a:buFont typeface="Arial" panose="020B0604020202020204" pitchFamily="34" charset="0"/>
              <a:buChar char="•"/>
            </a:pPr>
            <a:r>
              <a:rPr lang="en-US" sz="1400"/>
              <a:t>Question 3: WITH Products AS ( SELECT YEAR(</a:t>
            </a:r>
            <a:r>
              <a:rPr lang="en-US" sz="1400" err="1"/>
              <a:t>SellStartDate</a:t>
            </a:r>
            <a:r>
              <a:rPr lang="en-US" sz="1400"/>
              <a:t>) AS </a:t>
            </a:r>
            <a:r>
              <a:rPr lang="en-US" sz="1400" err="1"/>
              <a:t>ProductSellStartYear</a:t>
            </a:r>
            <a:r>
              <a:rPr lang="en-US" sz="1400"/>
              <a:t>, </a:t>
            </a:r>
            <a:r>
              <a:rPr lang="en-US" sz="1400" err="1"/>
              <a:t>ProductID</a:t>
            </a:r>
            <a:r>
              <a:rPr lang="en-US" sz="1400"/>
              <a:t> FROM </a:t>
            </a:r>
            <a:r>
              <a:rPr lang="en-US" sz="1400" err="1"/>
              <a:t>Production.Product</a:t>
            </a:r>
            <a:r>
              <a:rPr lang="en-US" sz="1400"/>
              <a:t> ) SELECT </a:t>
            </a:r>
            <a:r>
              <a:rPr lang="en-US" sz="1400" err="1"/>
              <a:t>ProductSellStartYear</a:t>
            </a:r>
            <a:r>
              <a:rPr lang="en-US" sz="1400"/>
              <a:t>, COUNT(*) AS </a:t>
            </a:r>
            <a:r>
              <a:rPr lang="en-US" sz="1400" err="1"/>
              <a:t>ProductCount</a:t>
            </a:r>
            <a:r>
              <a:rPr lang="en-US" sz="1400"/>
              <a:t> FROM Products GROUP BY </a:t>
            </a:r>
            <a:r>
              <a:rPr lang="en-US" sz="1400" err="1"/>
              <a:t>ProductSellStartYear</a:t>
            </a:r>
            <a:r>
              <a:rPr lang="en-US" sz="1400"/>
              <a:t> </a:t>
            </a:r>
          </a:p>
          <a:p>
            <a:pPr marL="285750" indent="-285750">
              <a:buFont typeface="Arial" panose="020B0604020202020204" pitchFamily="34" charset="0"/>
              <a:buChar char="•"/>
            </a:pPr>
            <a:r>
              <a:rPr lang="en-US" sz="1400"/>
              <a:t>Question 4: WITH </a:t>
            </a:r>
            <a:r>
              <a:rPr lang="en-US" sz="1400" err="1"/>
              <a:t>SalesMonth</a:t>
            </a:r>
            <a:r>
              <a:rPr lang="en-US" sz="1400"/>
              <a:t> AS ( SELECT MONTH(</a:t>
            </a:r>
            <a:r>
              <a:rPr lang="en-US" sz="1400" err="1"/>
              <a:t>OrderDate</a:t>
            </a:r>
            <a:r>
              <a:rPr lang="en-US" sz="1400"/>
              <a:t>) AS </a:t>
            </a:r>
            <a:r>
              <a:rPr lang="en-US" sz="1400" err="1"/>
              <a:t>OrderMonth</a:t>
            </a:r>
            <a:r>
              <a:rPr lang="en-US" sz="1400"/>
              <a:t>, </a:t>
            </a:r>
            <a:r>
              <a:rPr lang="en-US" sz="1400" err="1"/>
              <a:t>TotalDue</a:t>
            </a:r>
            <a:r>
              <a:rPr lang="en-US" sz="1400"/>
              <a:t> FROM </a:t>
            </a:r>
            <a:r>
              <a:rPr lang="en-US" sz="1400" err="1"/>
              <a:t>Sales.SalesOrderHeader</a:t>
            </a:r>
            <a:r>
              <a:rPr lang="en-US" sz="1400"/>
              <a:t> WHERE YEAR(</a:t>
            </a:r>
            <a:r>
              <a:rPr lang="en-US" sz="1400" err="1"/>
              <a:t>OrderDate</a:t>
            </a:r>
            <a:r>
              <a:rPr lang="en-US" sz="1400"/>
              <a:t>) = 2006 ) SELECT </a:t>
            </a:r>
            <a:r>
              <a:rPr lang="en-US" sz="1400" err="1"/>
              <a:t>OrderMonth</a:t>
            </a:r>
            <a:r>
              <a:rPr lang="en-US" sz="1400"/>
              <a:t>, SUM(</a:t>
            </a:r>
            <a:r>
              <a:rPr lang="en-US" sz="1400" err="1"/>
              <a:t>TotalDue</a:t>
            </a:r>
            <a:r>
              <a:rPr lang="en-US" sz="1400"/>
              <a:t>) AS </a:t>
            </a:r>
            <a:r>
              <a:rPr lang="en-US" sz="1400" err="1"/>
              <a:t>MonthlySales</a:t>
            </a:r>
            <a:r>
              <a:rPr lang="en-US" sz="1400"/>
              <a:t> FROM </a:t>
            </a:r>
            <a:r>
              <a:rPr lang="en-US" sz="1400" err="1"/>
              <a:t>SalesMonth</a:t>
            </a:r>
            <a:r>
              <a:rPr lang="en-US" sz="1400"/>
              <a:t> GROUP BY </a:t>
            </a:r>
            <a:r>
              <a:rPr lang="en-US" sz="1400" err="1"/>
              <a:t>OrderMonth</a:t>
            </a:r>
            <a:r>
              <a:rPr lang="en-US" sz="1400"/>
              <a:t> ORDER BY 1</a:t>
            </a:r>
          </a:p>
        </p:txBody>
      </p:sp>
    </p:spTree>
    <p:extLst>
      <p:ext uri="{BB962C8B-B14F-4D97-AF65-F5344CB8AC3E}">
        <p14:creationId xmlns:p14="http://schemas.microsoft.com/office/powerpoint/2010/main" val="384651345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7285A8-6EB4-44C6-9ACB-4CC45D21736D}"/>
              </a:ext>
            </a:extLst>
          </p:cNvPr>
          <p:cNvSpPr>
            <a:spLocks noGrp="1"/>
          </p:cNvSpPr>
          <p:nvPr>
            <p:ph type="ctrTitle"/>
          </p:nvPr>
        </p:nvSpPr>
        <p:spPr>
          <a:xfrm>
            <a:off x="1700212" y="411061"/>
            <a:ext cx="8791575" cy="1186212"/>
          </a:xfrm>
        </p:spPr>
        <p:txBody>
          <a:bodyPr/>
          <a:lstStyle/>
          <a:p>
            <a:pPr algn="ctr"/>
            <a:r>
              <a:rPr lang="en-US"/>
              <a:t>SQL FOR DATA ANALYSIS </a:t>
            </a:r>
          </a:p>
        </p:txBody>
      </p:sp>
      <p:sp>
        <p:nvSpPr>
          <p:cNvPr id="3" name="Subtitle 2">
            <a:extLst>
              <a:ext uri="{FF2B5EF4-FFF2-40B4-BE49-F238E27FC236}">
                <a16:creationId xmlns:a16="http://schemas.microsoft.com/office/drawing/2014/main" id="{F732812B-5517-445B-B80B-C63947CC015B}"/>
              </a:ext>
            </a:extLst>
          </p:cNvPr>
          <p:cNvSpPr>
            <a:spLocks noGrp="1"/>
          </p:cNvSpPr>
          <p:nvPr>
            <p:ph type="subTitle" idx="1"/>
          </p:nvPr>
        </p:nvSpPr>
        <p:spPr>
          <a:xfrm>
            <a:off x="1876380" y="1873136"/>
            <a:ext cx="8791575" cy="564939"/>
          </a:xfrm>
        </p:spPr>
        <p:txBody>
          <a:bodyPr>
            <a:normAutofit/>
          </a:bodyPr>
          <a:lstStyle/>
          <a:p>
            <a:pPr algn="ctr"/>
            <a:r>
              <a:rPr lang="en-US">
                <a:solidFill>
                  <a:srgbClr val="FFC000"/>
                </a:solidFill>
              </a:rPr>
              <a:t>case </a:t>
            </a:r>
            <a:r>
              <a:rPr lang="en-US">
                <a:solidFill>
                  <a:schemeClr val="tx1"/>
                </a:solidFill>
              </a:rPr>
              <a:t>Statement Practice</a:t>
            </a:r>
          </a:p>
        </p:txBody>
      </p:sp>
      <p:sp>
        <p:nvSpPr>
          <p:cNvPr id="6" name="TextBox 5">
            <a:extLst>
              <a:ext uri="{FF2B5EF4-FFF2-40B4-BE49-F238E27FC236}">
                <a16:creationId xmlns:a16="http://schemas.microsoft.com/office/drawing/2014/main" id="{92BB8542-0453-4BA3-9CD2-95838244AA45}"/>
              </a:ext>
            </a:extLst>
          </p:cNvPr>
          <p:cNvSpPr txBox="1"/>
          <p:nvPr/>
        </p:nvSpPr>
        <p:spPr>
          <a:xfrm>
            <a:off x="2903986" y="3007667"/>
            <a:ext cx="7020190" cy="3323987"/>
          </a:xfrm>
          <a:prstGeom prst="rect">
            <a:avLst/>
          </a:prstGeom>
          <a:noFill/>
        </p:spPr>
        <p:txBody>
          <a:bodyPr wrap="square" rtlCol="0">
            <a:spAutoFit/>
          </a:bodyPr>
          <a:lstStyle/>
          <a:p>
            <a:pPr marL="285750" indent="-285750">
              <a:buFont typeface="Arial" panose="020B0604020202020204" pitchFamily="34" charset="0"/>
              <a:buChar char="•"/>
            </a:pPr>
            <a:r>
              <a:rPr lang="en-US" sz="1400"/>
              <a:t>1) Return the FirstName and </a:t>
            </a:r>
            <a:r>
              <a:rPr lang="en-US" sz="1400" err="1"/>
              <a:t>LastName</a:t>
            </a:r>
            <a:r>
              <a:rPr lang="en-US" sz="1400"/>
              <a:t> column from </a:t>
            </a:r>
            <a:r>
              <a:rPr lang="en-US" sz="1400" err="1"/>
              <a:t>Person.Person</a:t>
            </a:r>
            <a:r>
              <a:rPr lang="en-US" sz="1400"/>
              <a:t>. Return a third column that outputs “Promotion 1” if the </a:t>
            </a:r>
            <a:r>
              <a:rPr lang="en-US" sz="1400" err="1"/>
              <a:t>EmailPromotion</a:t>
            </a:r>
            <a:r>
              <a:rPr lang="en-US" sz="1400"/>
              <a:t> column value is 0, “Promotion 2” if the </a:t>
            </a:r>
            <a:r>
              <a:rPr lang="en-US" sz="1400" err="1"/>
              <a:t>EmailPromotion</a:t>
            </a:r>
            <a:r>
              <a:rPr lang="en-US" sz="1400"/>
              <a:t> value is 1, and “Promotion 3” if the column value is 2. </a:t>
            </a:r>
          </a:p>
          <a:p>
            <a:pPr marL="285750" indent="-285750">
              <a:buFont typeface="Arial" panose="020B0604020202020204" pitchFamily="34" charset="0"/>
              <a:buChar char="•"/>
            </a:pPr>
            <a:r>
              <a:rPr lang="en-US" sz="1400"/>
              <a:t>2) In a CASE statement you define conditional expressions based on column values. What happens if a value does not meet any of the conditions expressed in the CASE statement? </a:t>
            </a:r>
          </a:p>
          <a:p>
            <a:pPr marL="285750" indent="-285750">
              <a:buFont typeface="Arial" panose="020B0604020202020204" pitchFamily="34" charset="0"/>
              <a:buChar char="•"/>
            </a:pPr>
            <a:r>
              <a:rPr lang="en-US" sz="1400"/>
              <a:t>3) Using the </a:t>
            </a:r>
            <a:r>
              <a:rPr lang="en-US" sz="1400" err="1"/>
              <a:t>Person.Person</a:t>
            </a:r>
            <a:r>
              <a:rPr lang="en-US" sz="1400"/>
              <a:t> table, complete a CASE statement that returns the string “Long Name” if the FirstName column is at least ten characters long. If the FirstName column is less than ten characters, return the string “Short Name”. </a:t>
            </a:r>
          </a:p>
          <a:p>
            <a:pPr marL="285750" indent="-285750">
              <a:buFont typeface="Arial" panose="020B0604020202020204" pitchFamily="34" charset="0"/>
              <a:buChar char="•"/>
            </a:pPr>
            <a:r>
              <a:rPr lang="en-US" sz="1400"/>
              <a:t>4) Find out how many sales in </a:t>
            </a:r>
            <a:r>
              <a:rPr lang="en-US" sz="1400" err="1"/>
              <a:t>Sales.SalesOrderHeader</a:t>
            </a:r>
            <a:r>
              <a:rPr lang="en-US" sz="1400"/>
              <a:t> fell into the following ranges: “$0 to $149.99”, “$150 – 499.99”, “$500 to $4,999.99”, “$5,000 - $24,999.99”, and “Over $25,000”. Only analyze sales that had a sales person associated with them. </a:t>
            </a:r>
          </a:p>
          <a:p>
            <a:pPr marL="285750" indent="-285750">
              <a:buFont typeface="Arial" panose="020B0604020202020204" pitchFamily="34" charset="0"/>
              <a:buChar char="•"/>
            </a:pPr>
            <a:r>
              <a:rPr lang="en-US" sz="1400"/>
              <a:t>5) Using the </a:t>
            </a:r>
            <a:r>
              <a:rPr lang="en-US" sz="1400" err="1"/>
              <a:t>Production.Product</a:t>
            </a:r>
            <a:r>
              <a:rPr lang="en-US" sz="1400"/>
              <a:t> table, if the value in Color column is NULL then return the string “No Color”. If a color exists, then return that color. Complete this request two ways: once with a CASE statement, and the second with a function we have previously discussed in this guide.</a:t>
            </a:r>
          </a:p>
        </p:txBody>
      </p:sp>
    </p:spTree>
    <p:extLst>
      <p:ext uri="{BB962C8B-B14F-4D97-AF65-F5344CB8AC3E}">
        <p14:creationId xmlns:p14="http://schemas.microsoft.com/office/powerpoint/2010/main" val="265968864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7285A8-6EB4-44C6-9ACB-4CC45D21736D}"/>
              </a:ext>
            </a:extLst>
          </p:cNvPr>
          <p:cNvSpPr>
            <a:spLocks noGrp="1"/>
          </p:cNvSpPr>
          <p:nvPr>
            <p:ph type="ctrTitle"/>
          </p:nvPr>
        </p:nvSpPr>
        <p:spPr>
          <a:xfrm>
            <a:off x="1700212" y="411061"/>
            <a:ext cx="8791575" cy="1186212"/>
          </a:xfrm>
        </p:spPr>
        <p:txBody>
          <a:bodyPr/>
          <a:lstStyle/>
          <a:p>
            <a:pPr algn="ctr"/>
            <a:r>
              <a:rPr lang="en-US"/>
              <a:t>SQL FOR DATA ANALYSIS </a:t>
            </a:r>
          </a:p>
        </p:txBody>
      </p:sp>
      <p:sp>
        <p:nvSpPr>
          <p:cNvPr id="3" name="Subtitle 2">
            <a:extLst>
              <a:ext uri="{FF2B5EF4-FFF2-40B4-BE49-F238E27FC236}">
                <a16:creationId xmlns:a16="http://schemas.microsoft.com/office/drawing/2014/main" id="{F732812B-5517-445B-B80B-C63947CC015B}"/>
              </a:ext>
            </a:extLst>
          </p:cNvPr>
          <p:cNvSpPr>
            <a:spLocks noGrp="1"/>
          </p:cNvSpPr>
          <p:nvPr>
            <p:ph type="subTitle" idx="1"/>
          </p:nvPr>
        </p:nvSpPr>
        <p:spPr>
          <a:xfrm>
            <a:off x="1876380" y="1873136"/>
            <a:ext cx="8791575" cy="564939"/>
          </a:xfrm>
        </p:spPr>
        <p:txBody>
          <a:bodyPr>
            <a:normAutofit/>
          </a:bodyPr>
          <a:lstStyle/>
          <a:p>
            <a:pPr algn="ctr"/>
            <a:r>
              <a:rPr lang="en-US">
                <a:solidFill>
                  <a:srgbClr val="FFC000"/>
                </a:solidFill>
              </a:rPr>
              <a:t>case </a:t>
            </a:r>
            <a:r>
              <a:rPr lang="en-US">
                <a:solidFill>
                  <a:schemeClr val="tx1"/>
                </a:solidFill>
              </a:rPr>
              <a:t>Statement Practice</a:t>
            </a:r>
          </a:p>
        </p:txBody>
      </p:sp>
      <p:sp>
        <p:nvSpPr>
          <p:cNvPr id="6" name="TextBox 5">
            <a:extLst>
              <a:ext uri="{FF2B5EF4-FFF2-40B4-BE49-F238E27FC236}">
                <a16:creationId xmlns:a16="http://schemas.microsoft.com/office/drawing/2014/main" id="{92BB8542-0453-4BA3-9CD2-95838244AA45}"/>
              </a:ext>
            </a:extLst>
          </p:cNvPr>
          <p:cNvSpPr txBox="1"/>
          <p:nvPr/>
        </p:nvSpPr>
        <p:spPr>
          <a:xfrm>
            <a:off x="2303093" y="2877038"/>
            <a:ext cx="8930963" cy="2893100"/>
          </a:xfrm>
          <a:prstGeom prst="rect">
            <a:avLst/>
          </a:prstGeom>
          <a:noFill/>
        </p:spPr>
        <p:txBody>
          <a:bodyPr wrap="square" rtlCol="0">
            <a:spAutoFit/>
          </a:bodyPr>
          <a:lstStyle/>
          <a:p>
            <a:pPr marL="285750" indent="-285750">
              <a:buFont typeface="Arial" panose="020B0604020202020204" pitchFamily="34" charset="0"/>
              <a:buChar char="•"/>
            </a:pPr>
            <a:r>
              <a:rPr lang="en-US" sz="1400"/>
              <a:t>Question 1: SELECT FirstName, </a:t>
            </a:r>
            <a:r>
              <a:rPr lang="en-US" sz="1400" err="1"/>
              <a:t>LastName</a:t>
            </a:r>
            <a:r>
              <a:rPr lang="en-US" sz="1400"/>
              <a:t>, CASE WHEN </a:t>
            </a:r>
            <a:r>
              <a:rPr lang="en-US" sz="1400" err="1"/>
              <a:t>EmailPromotion</a:t>
            </a:r>
            <a:r>
              <a:rPr lang="en-US" sz="1400"/>
              <a:t> = 0 THEN 'Promotion 1' WHEN </a:t>
            </a:r>
            <a:r>
              <a:rPr lang="en-US" sz="1400" err="1"/>
              <a:t>EmailPromotion</a:t>
            </a:r>
            <a:r>
              <a:rPr lang="en-US" sz="1400"/>
              <a:t> = 1 THEN 'Promotion 2' WHEN </a:t>
            </a:r>
            <a:r>
              <a:rPr lang="en-US" sz="1400" err="1"/>
              <a:t>EmailPromotion</a:t>
            </a:r>
            <a:r>
              <a:rPr lang="en-US" sz="1400"/>
              <a:t> = 2 THEN 'Promotion 3' END AS </a:t>
            </a:r>
            <a:r>
              <a:rPr lang="en-US" sz="1400" err="1"/>
              <a:t>PromotionName</a:t>
            </a:r>
            <a:r>
              <a:rPr lang="en-US" sz="1400"/>
              <a:t> FROM </a:t>
            </a:r>
            <a:r>
              <a:rPr lang="en-US" sz="1400" err="1"/>
              <a:t>Person.Person</a:t>
            </a:r>
            <a:r>
              <a:rPr lang="en-US" sz="1400"/>
              <a:t> </a:t>
            </a:r>
          </a:p>
          <a:p>
            <a:pPr marL="285750" indent="-285750">
              <a:buFont typeface="Arial" panose="020B0604020202020204" pitchFamily="34" charset="0"/>
              <a:buChar char="•"/>
            </a:pPr>
            <a:r>
              <a:rPr lang="en-US" sz="1400"/>
              <a:t>Question 2: If a value does not meet any of the conditions in a CASE statement, the output to be returned will be a NULL value. </a:t>
            </a:r>
          </a:p>
          <a:p>
            <a:pPr marL="285750" indent="-285750">
              <a:buFont typeface="Arial" panose="020B0604020202020204" pitchFamily="34" charset="0"/>
              <a:buChar char="•"/>
            </a:pPr>
            <a:r>
              <a:rPr lang="en-US" sz="1400"/>
              <a:t>Question 3: SELECT CASE WHEN LEN(FirstName) &gt;= 10 THEN 'Long Name' ELSE 'Short Name' END FROM </a:t>
            </a:r>
            <a:r>
              <a:rPr lang="en-US" sz="1400" err="1"/>
              <a:t>Person.Person</a:t>
            </a:r>
            <a:r>
              <a:rPr lang="en-US" sz="1400"/>
              <a:t> </a:t>
            </a:r>
          </a:p>
          <a:p>
            <a:pPr marL="285750" indent="-285750">
              <a:buFont typeface="Arial" panose="020B0604020202020204" pitchFamily="34" charset="0"/>
              <a:buChar char="•"/>
            </a:pPr>
            <a:r>
              <a:rPr lang="en-US" sz="1400"/>
              <a:t>Question 4: WITH </a:t>
            </a:r>
            <a:r>
              <a:rPr lang="en-US" sz="1400" err="1"/>
              <a:t>SalesRanges</a:t>
            </a:r>
            <a:r>
              <a:rPr lang="en-US" sz="1400"/>
              <a:t> AS ( SELECT CASE WHEN </a:t>
            </a:r>
            <a:r>
              <a:rPr lang="en-US" sz="1400" err="1"/>
              <a:t>TotalDue</a:t>
            </a:r>
            <a:r>
              <a:rPr lang="en-US" sz="1400"/>
              <a:t> BETWEEN 0 AND 149.99 THEN '$0 to $149.99' WHEN </a:t>
            </a:r>
            <a:r>
              <a:rPr lang="en-US" sz="1400" err="1"/>
              <a:t>TotalDue</a:t>
            </a:r>
            <a:r>
              <a:rPr lang="en-US" sz="1400"/>
              <a:t> BETWEEN 150 AND 499.99 THEN '$150 to $499.99' WHEN </a:t>
            </a:r>
            <a:r>
              <a:rPr lang="en-US" sz="1400" err="1"/>
              <a:t>TotalDue</a:t>
            </a:r>
            <a:r>
              <a:rPr lang="en-US" sz="1400"/>
              <a:t> BETWEEN 500 AND 4999.99 THEN '$500 to $4,999.99' WHEN </a:t>
            </a:r>
            <a:r>
              <a:rPr lang="en-US" sz="1400" err="1"/>
              <a:t>TotalDue</a:t>
            </a:r>
            <a:r>
              <a:rPr lang="en-US" sz="1400"/>
              <a:t> BETWEEN 5000 AND 24999.99 THEN '$5,000 to $24,999.99' ELSE 'Over $25,000' END AS </a:t>
            </a:r>
            <a:r>
              <a:rPr lang="en-US" sz="1400" err="1"/>
              <a:t>SalesPriceRange</a:t>
            </a:r>
            <a:r>
              <a:rPr lang="en-US" sz="1400"/>
              <a:t>, </a:t>
            </a:r>
            <a:r>
              <a:rPr lang="en-US" sz="1400" err="1"/>
              <a:t>SalesOrderID</a:t>
            </a:r>
            <a:r>
              <a:rPr lang="en-US" sz="1400"/>
              <a:t> FROM </a:t>
            </a:r>
            <a:r>
              <a:rPr lang="en-US" sz="1400" err="1"/>
              <a:t>Sales.SalesOrderHeader</a:t>
            </a:r>
            <a:r>
              <a:rPr lang="en-US" sz="1400"/>
              <a:t> WHERE </a:t>
            </a:r>
            <a:r>
              <a:rPr lang="en-US" sz="1400" err="1"/>
              <a:t>SalesPersonID</a:t>
            </a:r>
            <a:r>
              <a:rPr lang="en-US" sz="1400"/>
              <a:t> IS NOT NULL ) SELECT </a:t>
            </a:r>
            <a:r>
              <a:rPr lang="en-US" sz="1400" err="1"/>
              <a:t>SalesPriceRange</a:t>
            </a:r>
            <a:r>
              <a:rPr lang="en-US" sz="1400"/>
              <a:t>, COUNT(*) FROM </a:t>
            </a:r>
            <a:r>
              <a:rPr lang="en-US" sz="1400" err="1"/>
              <a:t>SalesRanges</a:t>
            </a:r>
            <a:r>
              <a:rPr lang="en-US" sz="1400"/>
              <a:t> GROUP BY </a:t>
            </a:r>
            <a:r>
              <a:rPr lang="en-US" sz="1400" err="1"/>
              <a:t>SalesPriceRange</a:t>
            </a:r>
            <a:r>
              <a:rPr lang="en-US" sz="1400"/>
              <a:t> </a:t>
            </a:r>
          </a:p>
          <a:p>
            <a:pPr marL="285750" indent="-285750">
              <a:buFont typeface="Arial" panose="020B0604020202020204" pitchFamily="34" charset="0"/>
              <a:buChar char="•"/>
            </a:pPr>
            <a:r>
              <a:rPr lang="en-US" sz="1400"/>
              <a:t>Question 5: SELECT CASE WHEN Color IS NULL THEN 'No Color' ELSE Color END AS Color FROM </a:t>
            </a:r>
            <a:r>
              <a:rPr lang="en-US" sz="1400" err="1"/>
              <a:t>Production.Product</a:t>
            </a:r>
            <a:r>
              <a:rPr lang="en-US" sz="1400"/>
              <a:t> SELECT COALESCE(Color, 'No Color') FROM </a:t>
            </a:r>
            <a:r>
              <a:rPr lang="en-US" sz="1400" err="1"/>
              <a:t>Production.Produc</a:t>
            </a:r>
            <a:endParaRPr lang="en-US" sz="1400"/>
          </a:p>
        </p:txBody>
      </p:sp>
    </p:spTree>
    <p:extLst>
      <p:ext uri="{BB962C8B-B14F-4D97-AF65-F5344CB8AC3E}">
        <p14:creationId xmlns:p14="http://schemas.microsoft.com/office/powerpoint/2010/main" val="306921896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7285A8-6EB4-44C6-9ACB-4CC45D21736D}"/>
              </a:ext>
            </a:extLst>
          </p:cNvPr>
          <p:cNvSpPr>
            <a:spLocks noGrp="1"/>
          </p:cNvSpPr>
          <p:nvPr>
            <p:ph type="ctrTitle"/>
          </p:nvPr>
        </p:nvSpPr>
        <p:spPr>
          <a:xfrm>
            <a:off x="1700212" y="411061"/>
            <a:ext cx="8791575" cy="1186212"/>
          </a:xfrm>
        </p:spPr>
        <p:txBody>
          <a:bodyPr/>
          <a:lstStyle/>
          <a:p>
            <a:pPr algn="ctr"/>
            <a:r>
              <a:rPr lang="en-US"/>
              <a:t>SQL FOR DATA ANALYSIS </a:t>
            </a:r>
          </a:p>
        </p:txBody>
      </p:sp>
      <p:sp>
        <p:nvSpPr>
          <p:cNvPr id="3" name="Subtitle 2">
            <a:extLst>
              <a:ext uri="{FF2B5EF4-FFF2-40B4-BE49-F238E27FC236}">
                <a16:creationId xmlns:a16="http://schemas.microsoft.com/office/drawing/2014/main" id="{F732812B-5517-445B-B80B-C63947CC015B}"/>
              </a:ext>
            </a:extLst>
          </p:cNvPr>
          <p:cNvSpPr>
            <a:spLocks noGrp="1"/>
          </p:cNvSpPr>
          <p:nvPr>
            <p:ph type="subTitle" idx="1"/>
          </p:nvPr>
        </p:nvSpPr>
        <p:spPr>
          <a:xfrm>
            <a:off x="1876380" y="1873136"/>
            <a:ext cx="8791575" cy="564939"/>
          </a:xfrm>
        </p:spPr>
        <p:txBody>
          <a:bodyPr>
            <a:normAutofit/>
          </a:bodyPr>
          <a:lstStyle/>
          <a:p>
            <a:pPr algn="ctr"/>
            <a:r>
              <a:rPr lang="en-US">
                <a:solidFill>
                  <a:srgbClr val="FFC000"/>
                </a:solidFill>
              </a:rPr>
              <a:t>Create, insert, update, delete </a:t>
            </a:r>
            <a:r>
              <a:rPr lang="en-US">
                <a:solidFill>
                  <a:schemeClr val="tx1"/>
                </a:solidFill>
              </a:rPr>
              <a:t>Statement Practice</a:t>
            </a:r>
          </a:p>
        </p:txBody>
      </p:sp>
      <p:sp>
        <p:nvSpPr>
          <p:cNvPr id="6" name="TextBox 5">
            <a:extLst>
              <a:ext uri="{FF2B5EF4-FFF2-40B4-BE49-F238E27FC236}">
                <a16:creationId xmlns:a16="http://schemas.microsoft.com/office/drawing/2014/main" id="{92BB8542-0453-4BA3-9CD2-95838244AA45}"/>
              </a:ext>
            </a:extLst>
          </p:cNvPr>
          <p:cNvSpPr txBox="1"/>
          <p:nvPr/>
        </p:nvSpPr>
        <p:spPr>
          <a:xfrm>
            <a:off x="3138878" y="3108335"/>
            <a:ext cx="7020190" cy="3808735"/>
          </a:xfrm>
          <a:prstGeom prst="rect">
            <a:avLst/>
          </a:prstGeom>
          <a:noFill/>
        </p:spPr>
        <p:txBody>
          <a:bodyPr wrap="square" rtlCol="0">
            <a:spAutoFit/>
          </a:bodyPr>
          <a:lstStyle/>
          <a:p>
            <a:pPr algn="l"/>
            <a:r>
              <a:rPr lang="en-US" sz="1050" b="1" i="0">
                <a:effectLst/>
                <a:latin typeface="Consolas" panose="020B0609020204030204" pitchFamily="49" charset="0"/>
              </a:rPr>
              <a:t>CREATE</a:t>
            </a:r>
            <a:r>
              <a:rPr lang="en-US" sz="1050" b="0" i="0">
                <a:effectLst/>
                <a:latin typeface="Consolas" panose="020B0609020204030204" pitchFamily="49" charset="0"/>
              </a:rPr>
              <a:t> </a:t>
            </a:r>
            <a:r>
              <a:rPr lang="en-US" sz="1050" b="1" i="0">
                <a:effectLst/>
                <a:latin typeface="Consolas" panose="020B0609020204030204" pitchFamily="49" charset="0"/>
              </a:rPr>
              <a:t>TABLE</a:t>
            </a:r>
            <a:r>
              <a:rPr lang="en-US" sz="1050" b="0" i="0">
                <a:effectLst/>
                <a:latin typeface="Consolas" panose="020B0609020204030204" pitchFamily="49" charset="0"/>
              </a:rPr>
              <a:t> Employee(  </a:t>
            </a:r>
            <a:r>
              <a:rPr lang="en-US" sz="1050" b="0" i="0" err="1">
                <a:effectLst/>
                <a:latin typeface="Consolas" panose="020B0609020204030204" pitchFamily="49" charset="0"/>
              </a:rPr>
              <a:t>EmpId</a:t>
            </a:r>
            <a:r>
              <a:rPr lang="en-US" sz="1050" b="0" i="0">
                <a:effectLst/>
                <a:latin typeface="Consolas" panose="020B0609020204030204" pitchFamily="49" charset="0"/>
              </a:rPr>
              <a:t> </a:t>
            </a:r>
            <a:r>
              <a:rPr lang="en-US" sz="1050" b="1" i="0">
                <a:effectLst/>
                <a:latin typeface="Consolas" panose="020B0609020204030204" pitchFamily="49" charset="0"/>
              </a:rPr>
              <a:t>int</a:t>
            </a:r>
            <a:r>
              <a:rPr lang="en-US" sz="1050" b="0" i="0">
                <a:effectLst/>
                <a:latin typeface="Consolas" panose="020B0609020204030204" pitchFamily="49" charset="0"/>
              </a:rPr>
              <a:t>,  </a:t>
            </a:r>
          </a:p>
          <a:p>
            <a:pPr algn="l"/>
            <a:r>
              <a:rPr lang="en-US" sz="1050" b="0" i="0">
                <a:effectLst/>
                <a:latin typeface="Consolas" panose="020B0609020204030204" pitchFamily="49" charset="0"/>
              </a:rPr>
              <a:t>    </a:t>
            </a:r>
            <a:r>
              <a:rPr lang="en-US" sz="1050" b="0" i="0" err="1">
                <a:effectLst/>
                <a:latin typeface="Consolas" panose="020B0609020204030204" pitchFamily="49" charset="0"/>
              </a:rPr>
              <a:t>LastName</a:t>
            </a:r>
            <a:r>
              <a:rPr lang="en-US" sz="1050" b="0" i="0">
                <a:effectLst/>
                <a:latin typeface="Consolas" panose="020B0609020204030204" pitchFamily="49" charset="0"/>
              </a:rPr>
              <a:t> </a:t>
            </a:r>
            <a:r>
              <a:rPr lang="en-US" sz="1050" b="1" i="0">
                <a:effectLst/>
                <a:latin typeface="Consolas" panose="020B0609020204030204" pitchFamily="49" charset="0"/>
              </a:rPr>
              <a:t>varchar</a:t>
            </a:r>
            <a:r>
              <a:rPr lang="en-US" sz="1050" b="0" i="0">
                <a:effectLst/>
                <a:latin typeface="Consolas" panose="020B0609020204030204" pitchFamily="49" charset="0"/>
              </a:rPr>
              <a:t>(255),  </a:t>
            </a:r>
          </a:p>
          <a:p>
            <a:pPr algn="l"/>
            <a:r>
              <a:rPr lang="en-US" sz="1050" b="0" i="0">
                <a:effectLst/>
                <a:latin typeface="Consolas" panose="020B0609020204030204" pitchFamily="49" charset="0"/>
              </a:rPr>
              <a:t>    FirstName </a:t>
            </a:r>
            <a:r>
              <a:rPr lang="en-US" sz="1050" b="1" i="0">
                <a:effectLst/>
                <a:latin typeface="Consolas" panose="020B0609020204030204" pitchFamily="49" charset="0"/>
              </a:rPr>
              <a:t>varchar</a:t>
            </a:r>
            <a:r>
              <a:rPr lang="en-US" sz="1050" b="0" i="0">
                <a:effectLst/>
                <a:latin typeface="Consolas" panose="020B0609020204030204" pitchFamily="49" charset="0"/>
              </a:rPr>
              <a:t>(255),  </a:t>
            </a:r>
          </a:p>
          <a:p>
            <a:pPr algn="l"/>
            <a:r>
              <a:rPr lang="en-US" sz="1050" b="0" i="0">
                <a:effectLst/>
                <a:latin typeface="Consolas" panose="020B0609020204030204" pitchFamily="49" charset="0"/>
              </a:rPr>
              <a:t>    Address </a:t>
            </a:r>
            <a:r>
              <a:rPr lang="en-US" sz="1050" b="1" i="0">
                <a:effectLst/>
                <a:latin typeface="Consolas" panose="020B0609020204030204" pitchFamily="49" charset="0"/>
              </a:rPr>
              <a:t>varchar</a:t>
            </a:r>
            <a:r>
              <a:rPr lang="en-US" sz="1050" b="0" i="0">
                <a:effectLst/>
                <a:latin typeface="Consolas" panose="020B0609020204030204" pitchFamily="49" charset="0"/>
              </a:rPr>
              <a:t>(255),  </a:t>
            </a:r>
          </a:p>
          <a:p>
            <a:pPr algn="l"/>
            <a:r>
              <a:rPr lang="en-US" sz="1050" b="0" i="0">
                <a:effectLst/>
                <a:latin typeface="Consolas" panose="020B0609020204030204" pitchFamily="49" charset="0"/>
              </a:rPr>
              <a:t>    City </a:t>
            </a:r>
            <a:r>
              <a:rPr lang="en-US" sz="1050" b="1" i="0">
                <a:effectLst/>
                <a:latin typeface="Consolas" panose="020B0609020204030204" pitchFamily="49" charset="0"/>
              </a:rPr>
              <a:t>varchar</a:t>
            </a:r>
            <a:r>
              <a:rPr lang="en-US" sz="1050" b="0" i="0">
                <a:effectLst/>
                <a:latin typeface="Consolas" panose="020B0609020204030204" pitchFamily="49" charset="0"/>
              </a:rPr>
              <a:t>(255)   </a:t>
            </a:r>
          </a:p>
          <a:p>
            <a:pPr algn="l"/>
            <a:r>
              <a:rPr lang="en-US" sz="1050" b="0" i="0">
                <a:effectLst/>
                <a:latin typeface="Consolas" panose="020B0609020204030204" pitchFamily="49" charset="0"/>
              </a:rPr>
              <a:t>); </a:t>
            </a:r>
          </a:p>
          <a:p>
            <a:pPr algn="l"/>
            <a:endParaRPr lang="en-US" sz="1050">
              <a:latin typeface="Consolas" panose="020B0609020204030204" pitchFamily="49" charset="0"/>
            </a:endParaRPr>
          </a:p>
          <a:p>
            <a:pPr algn="l"/>
            <a:endParaRPr lang="en-US" sz="1050" b="0" i="0">
              <a:effectLst/>
              <a:latin typeface="Consolas" panose="020B0609020204030204" pitchFamily="49" charset="0"/>
            </a:endParaRPr>
          </a:p>
          <a:p>
            <a:pPr algn="l"/>
            <a:r>
              <a:rPr lang="en-US" sz="1050" b="1" i="0">
                <a:effectLst/>
                <a:latin typeface="Consolas" panose="020B0609020204030204" pitchFamily="49" charset="0"/>
              </a:rPr>
              <a:t>INSERT</a:t>
            </a:r>
            <a:r>
              <a:rPr lang="en-US" sz="1050" b="0" i="0">
                <a:effectLst/>
                <a:latin typeface="Consolas" panose="020B0609020204030204" pitchFamily="49" charset="0"/>
              </a:rPr>
              <a:t> </a:t>
            </a:r>
            <a:r>
              <a:rPr lang="en-US" sz="1050" b="1" i="0">
                <a:effectLst/>
                <a:latin typeface="Consolas" panose="020B0609020204030204" pitchFamily="49" charset="0"/>
              </a:rPr>
              <a:t>INTO</a:t>
            </a:r>
            <a:r>
              <a:rPr lang="en-US" sz="1050" b="0" i="0">
                <a:effectLst/>
                <a:latin typeface="Consolas" panose="020B0609020204030204" pitchFamily="49" charset="0"/>
              </a:rPr>
              <a:t> Employee    (</a:t>
            </a:r>
            <a:r>
              <a:rPr lang="en-US" sz="1050" b="0" i="0" err="1">
                <a:effectLst/>
                <a:latin typeface="Consolas" panose="020B0609020204030204" pitchFamily="49" charset="0"/>
              </a:rPr>
              <a:t>EmpId,LastName,FirstName,ADDRESS,City</a:t>
            </a:r>
            <a:r>
              <a:rPr lang="en-US" sz="1050" b="0" i="0">
                <a:effectLst/>
                <a:latin typeface="Consolas" panose="020B0609020204030204" pitchFamily="49" charset="0"/>
              </a:rPr>
              <a:t>)</a:t>
            </a:r>
          </a:p>
          <a:p>
            <a:pPr algn="l"/>
            <a:r>
              <a:rPr lang="en-US" sz="1050" b="1" i="0">
                <a:effectLst/>
                <a:latin typeface="Consolas" panose="020B0609020204030204" pitchFamily="49" charset="0"/>
              </a:rPr>
              <a:t>VALUES</a:t>
            </a:r>
            <a:r>
              <a:rPr lang="en-US" sz="1050" b="0" i="0">
                <a:effectLst/>
                <a:latin typeface="Consolas" panose="020B0609020204030204" pitchFamily="49" charset="0"/>
              </a:rPr>
              <a:t> (1, 'XYZ', 'ABC', 'India', 'Mumbai' ); </a:t>
            </a:r>
          </a:p>
          <a:p>
            <a:pPr algn="l"/>
            <a:endParaRPr lang="en-US" sz="1050" b="0" i="0">
              <a:effectLst/>
              <a:latin typeface="Consolas" panose="020B0609020204030204" pitchFamily="49" charset="0"/>
            </a:endParaRPr>
          </a:p>
          <a:p>
            <a:pPr algn="l"/>
            <a:r>
              <a:rPr lang="en-US" sz="1050" b="0" i="0">
                <a:effectLst/>
                <a:latin typeface="Consolas" panose="020B0609020204030204" pitchFamily="49" charset="0"/>
              </a:rPr>
              <a:t>  </a:t>
            </a:r>
            <a:r>
              <a:rPr lang="en-US" sz="1050" b="1" i="0">
                <a:effectLst/>
                <a:latin typeface="Consolas" panose="020B0609020204030204" pitchFamily="49" charset="0"/>
              </a:rPr>
              <a:t>INSERT</a:t>
            </a:r>
            <a:r>
              <a:rPr lang="en-US" sz="1050" b="0" i="0">
                <a:effectLst/>
                <a:latin typeface="Consolas" panose="020B0609020204030204" pitchFamily="49" charset="0"/>
              </a:rPr>
              <a:t> </a:t>
            </a:r>
            <a:r>
              <a:rPr lang="en-US" sz="1050" b="1" i="0">
                <a:effectLst/>
                <a:latin typeface="Consolas" panose="020B0609020204030204" pitchFamily="49" charset="0"/>
              </a:rPr>
              <a:t>INTO</a:t>
            </a:r>
            <a:r>
              <a:rPr lang="en-US" sz="1050" b="0" i="0">
                <a:effectLst/>
                <a:latin typeface="Consolas" panose="020B0609020204030204" pitchFamily="49" charset="0"/>
              </a:rPr>
              <a:t> Employee (</a:t>
            </a:r>
            <a:r>
              <a:rPr lang="en-US" sz="1050" b="0" i="0" err="1">
                <a:effectLst/>
                <a:latin typeface="Consolas" panose="020B0609020204030204" pitchFamily="49" charset="0"/>
              </a:rPr>
              <a:t>EmpId,LastName,FirstName,ADDRESS,City</a:t>
            </a:r>
            <a:r>
              <a:rPr lang="en-US" sz="1050" b="0" i="0">
                <a:effectLst/>
                <a:latin typeface="Consolas" panose="020B0609020204030204" pitchFamily="49" charset="0"/>
              </a:rPr>
              <a:t>)</a:t>
            </a:r>
          </a:p>
          <a:p>
            <a:pPr algn="l"/>
            <a:r>
              <a:rPr lang="en-US" sz="1050" b="0" i="0">
                <a:effectLst/>
                <a:latin typeface="Consolas" panose="020B0609020204030204" pitchFamily="49" charset="0"/>
              </a:rPr>
              <a:t>VALUES (2, 'X', 'A', 'India', 'Pune' );</a:t>
            </a:r>
          </a:p>
          <a:p>
            <a:pPr algn="l"/>
            <a:endParaRPr lang="en-US" sz="1050" b="0" i="0">
              <a:effectLst/>
              <a:latin typeface="Consolas" panose="020B0609020204030204" pitchFamily="49" charset="0"/>
            </a:endParaRPr>
          </a:p>
          <a:p>
            <a:pPr algn="l"/>
            <a:r>
              <a:rPr lang="en-US" sz="1050" b="1" i="0">
                <a:effectLst/>
                <a:latin typeface="Consolas" panose="020B0609020204030204" pitchFamily="49" charset="0"/>
              </a:rPr>
              <a:t>UPDATE</a:t>
            </a:r>
            <a:r>
              <a:rPr lang="en-US" sz="1050" b="0" i="0">
                <a:effectLst/>
                <a:latin typeface="Consolas" panose="020B0609020204030204" pitchFamily="49" charset="0"/>
              </a:rPr>
              <a:t> Employee  </a:t>
            </a:r>
          </a:p>
          <a:p>
            <a:pPr algn="l"/>
            <a:r>
              <a:rPr lang="en-US" sz="1050" b="1" i="0">
                <a:effectLst/>
                <a:latin typeface="Consolas" panose="020B0609020204030204" pitchFamily="49" charset="0"/>
              </a:rPr>
              <a:t>SET</a:t>
            </a:r>
            <a:r>
              <a:rPr lang="en-US" sz="1050" b="0" i="0">
                <a:effectLst/>
                <a:latin typeface="Consolas" panose="020B0609020204030204" pitchFamily="49" charset="0"/>
              </a:rPr>
              <a:t> FirstName= 'KS', City= 'Pune'  </a:t>
            </a:r>
          </a:p>
          <a:p>
            <a:pPr algn="l"/>
            <a:r>
              <a:rPr lang="en-US" sz="1050" b="1" i="0">
                <a:effectLst/>
                <a:latin typeface="Consolas" panose="020B0609020204030204" pitchFamily="49" charset="0"/>
              </a:rPr>
              <a:t>WHERE</a:t>
            </a:r>
            <a:r>
              <a:rPr lang="en-US" sz="1050" b="0" i="0">
                <a:effectLst/>
                <a:latin typeface="Consolas" panose="020B0609020204030204" pitchFamily="49" charset="0"/>
              </a:rPr>
              <a:t> </a:t>
            </a:r>
            <a:r>
              <a:rPr lang="en-US" sz="1050" b="0" i="0" err="1">
                <a:effectLst/>
                <a:latin typeface="Consolas" panose="020B0609020204030204" pitchFamily="49" charset="0"/>
              </a:rPr>
              <a:t>EmpId</a:t>
            </a:r>
            <a:r>
              <a:rPr lang="en-US" sz="1050" b="0" i="0">
                <a:effectLst/>
                <a:latin typeface="Consolas" panose="020B0609020204030204" pitchFamily="49" charset="0"/>
              </a:rPr>
              <a:t>= 1;</a:t>
            </a:r>
          </a:p>
          <a:p>
            <a:pPr algn="l"/>
            <a:endParaRPr lang="en-US" sz="1050">
              <a:latin typeface="Consolas" panose="020B0609020204030204" pitchFamily="49" charset="0"/>
            </a:endParaRPr>
          </a:p>
          <a:p>
            <a:pPr algn="l"/>
            <a:r>
              <a:rPr lang="en-US" sz="1050" b="1" i="0">
                <a:effectLst/>
                <a:latin typeface="Consolas" panose="020B0609020204030204" pitchFamily="49" charset="0"/>
              </a:rPr>
              <a:t>DELETE</a:t>
            </a:r>
            <a:r>
              <a:rPr lang="en-US" sz="1050" b="0" i="0">
                <a:effectLst/>
                <a:latin typeface="Consolas" panose="020B0609020204030204" pitchFamily="49" charset="0"/>
              </a:rPr>
              <a:t> </a:t>
            </a:r>
            <a:r>
              <a:rPr lang="en-US" sz="1050" b="1" i="0">
                <a:effectLst/>
                <a:latin typeface="Consolas" panose="020B0609020204030204" pitchFamily="49" charset="0"/>
              </a:rPr>
              <a:t>FROM</a:t>
            </a:r>
            <a:r>
              <a:rPr lang="en-US" sz="1050" b="0" i="0">
                <a:effectLst/>
                <a:latin typeface="Consolas" panose="020B0609020204030204" pitchFamily="49" charset="0"/>
              </a:rPr>
              <a:t> Employee </a:t>
            </a:r>
            <a:r>
              <a:rPr lang="en-US" sz="1050" b="1" i="0">
                <a:effectLst/>
                <a:latin typeface="Consolas" panose="020B0609020204030204" pitchFamily="49" charset="0"/>
              </a:rPr>
              <a:t>WHERE</a:t>
            </a:r>
            <a:r>
              <a:rPr lang="en-US" sz="1050" b="0" i="0">
                <a:effectLst/>
                <a:latin typeface="Consolas" panose="020B0609020204030204" pitchFamily="49" charset="0"/>
              </a:rPr>
              <a:t> </a:t>
            </a:r>
            <a:r>
              <a:rPr lang="en-US" sz="1050" b="0" i="0" err="1">
                <a:effectLst/>
                <a:latin typeface="Consolas" panose="020B0609020204030204" pitchFamily="49" charset="0"/>
              </a:rPr>
              <a:t>EmpId</a:t>
            </a:r>
            <a:r>
              <a:rPr lang="en-US" sz="1050" b="0" i="0">
                <a:effectLst/>
                <a:latin typeface="Consolas" panose="020B0609020204030204" pitchFamily="49" charset="0"/>
              </a:rPr>
              <a:t>=1; </a:t>
            </a:r>
          </a:p>
          <a:p>
            <a:pPr algn="l"/>
            <a:endParaRPr lang="en-US" sz="1050">
              <a:latin typeface="Consolas" panose="020B0609020204030204" pitchFamily="49" charset="0"/>
            </a:endParaRPr>
          </a:p>
          <a:p>
            <a:r>
              <a:rPr lang="en-US" sz="1050">
                <a:latin typeface="Consolas" panose="020B0609020204030204" pitchFamily="49" charset="0"/>
              </a:rPr>
              <a:t>drop table Employee</a:t>
            </a:r>
          </a:p>
          <a:p>
            <a:pPr algn="l"/>
            <a:endParaRPr lang="en-US" sz="1050">
              <a:latin typeface="Consolas" panose="020B0609020204030204" pitchFamily="49" charset="0"/>
            </a:endParaRPr>
          </a:p>
          <a:p>
            <a:pPr algn="l"/>
            <a:endParaRPr lang="en-US" sz="1050" b="0" i="0">
              <a:effectLst/>
              <a:latin typeface="Consolas" panose="020B0609020204030204" pitchFamily="49" charset="0"/>
            </a:endParaRPr>
          </a:p>
        </p:txBody>
      </p:sp>
    </p:spTree>
    <p:extLst>
      <p:ext uri="{BB962C8B-B14F-4D97-AF65-F5344CB8AC3E}">
        <p14:creationId xmlns:p14="http://schemas.microsoft.com/office/powerpoint/2010/main" val="18036168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7285A8-6EB4-44C6-9ACB-4CC45D21736D}"/>
              </a:ext>
            </a:extLst>
          </p:cNvPr>
          <p:cNvSpPr>
            <a:spLocks noGrp="1"/>
          </p:cNvSpPr>
          <p:nvPr>
            <p:ph type="ctrTitle"/>
          </p:nvPr>
        </p:nvSpPr>
        <p:spPr>
          <a:xfrm>
            <a:off x="1700212" y="-129959"/>
            <a:ext cx="8791575" cy="1186212"/>
          </a:xfrm>
        </p:spPr>
        <p:txBody>
          <a:bodyPr/>
          <a:lstStyle/>
          <a:p>
            <a:pPr algn="ctr"/>
            <a:r>
              <a:rPr lang="en-US"/>
              <a:t>Window function</a:t>
            </a:r>
          </a:p>
        </p:txBody>
      </p:sp>
      <p:sp>
        <p:nvSpPr>
          <p:cNvPr id="8" name="TextBox 7">
            <a:extLst>
              <a:ext uri="{FF2B5EF4-FFF2-40B4-BE49-F238E27FC236}">
                <a16:creationId xmlns:a16="http://schemas.microsoft.com/office/drawing/2014/main" id="{C5A15B18-4F4E-B5AA-7BD2-A61B0F0CB879}"/>
              </a:ext>
            </a:extLst>
          </p:cNvPr>
          <p:cNvSpPr txBox="1"/>
          <p:nvPr/>
        </p:nvSpPr>
        <p:spPr>
          <a:xfrm>
            <a:off x="3177539" y="1376293"/>
            <a:ext cx="6096000" cy="4862870"/>
          </a:xfrm>
          <a:prstGeom prst="rect">
            <a:avLst/>
          </a:prstGeom>
          <a:noFill/>
        </p:spPr>
        <p:txBody>
          <a:bodyPr wrap="square">
            <a:spAutoFit/>
          </a:bodyPr>
          <a:lstStyle/>
          <a:p>
            <a:r>
              <a:rPr lang="en-US" sz="1000"/>
              <a:t>SELECT</a:t>
            </a:r>
          </a:p>
          <a:p>
            <a:r>
              <a:rPr lang="en-US" sz="1000"/>
              <a:t>    </a:t>
            </a:r>
            <a:r>
              <a:rPr lang="en-US" sz="1000" err="1"/>
              <a:t>ProductID</a:t>
            </a:r>
            <a:r>
              <a:rPr lang="en-US" sz="1000"/>
              <a:t>,</a:t>
            </a:r>
          </a:p>
          <a:p>
            <a:r>
              <a:rPr lang="en-US" sz="1000"/>
              <a:t>    Name,</a:t>
            </a:r>
          </a:p>
          <a:p>
            <a:r>
              <a:rPr lang="en-US" sz="1000"/>
              <a:t>    </a:t>
            </a:r>
            <a:r>
              <a:rPr lang="en-US" sz="1000" err="1"/>
              <a:t>ListPrice</a:t>
            </a:r>
            <a:r>
              <a:rPr lang="en-US" sz="1000"/>
              <a:t>,</a:t>
            </a:r>
          </a:p>
          <a:p>
            <a:r>
              <a:rPr lang="en-US" sz="1000"/>
              <a:t>    ROW_NUMBER() OVER (ORDER BY </a:t>
            </a:r>
            <a:r>
              <a:rPr lang="en-US" sz="1000" err="1"/>
              <a:t>ListPrice</a:t>
            </a:r>
            <a:r>
              <a:rPr lang="en-US" sz="1000"/>
              <a:t> DESC) AS </a:t>
            </a:r>
            <a:r>
              <a:rPr lang="en-US" sz="1000" err="1"/>
              <a:t>RowNumber</a:t>
            </a:r>
            <a:endParaRPr lang="en-US" sz="1000"/>
          </a:p>
          <a:p>
            <a:r>
              <a:rPr lang="en-US" sz="1000"/>
              <a:t>FROM</a:t>
            </a:r>
          </a:p>
          <a:p>
            <a:r>
              <a:rPr lang="en-US" sz="1000"/>
              <a:t>    </a:t>
            </a:r>
            <a:r>
              <a:rPr lang="en-US" sz="1000" err="1"/>
              <a:t>Production.Product</a:t>
            </a:r>
            <a:r>
              <a:rPr lang="en-US" sz="1000"/>
              <a:t>;</a:t>
            </a:r>
          </a:p>
          <a:p>
            <a:endParaRPr lang="en-US" sz="1000"/>
          </a:p>
          <a:p>
            <a:r>
              <a:rPr lang="en-US" sz="1000"/>
              <a:t>SELECT</a:t>
            </a:r>
          </a:p>
          <a:p>
            <a:r>
              <a:rPr lang="en-US" sz="1000"/>
              <a:t>    </a:t>
            </a:r>
            <a:r>
              <a:rPr lang="en-US" sz="1000" err="1"/>
              <a:t>SalesOrderID</a:t>
            </a:r>
            <a:r>
              <a:rPr lang="en-US" sz="1000"/>
              <a:t>,</a:t>
            </a:r>
          </a:p>
          <a:p>
            <a:r>
              <a:rPr lang="en-US" sz="1000"/>
              <a:t>    </a:t>
            </a:r>
            <a:r>
              <a:rPr lang="en-US" sz="1000" err="1"/>
              <a:t>OrderDate</a:t>
            </a:r>
            <a:r>
              <a:rPr lang="en-US" sz="1000"/>
              <a:t>,</a:t>
            </a:r>
          </a:p>
          <a:p>
            <a:r>
              <a:rPr lang="en-US" sz="1000"/>
              <a:t>    </a:t>
            </a:r>
            <a:r>
              <a:rPr lang="en-US" sz="1000" err="1"/>
              <a:t>TotalDue</a:t>
            </a:r>
            <a:r>
              <a:rPr lang="en-US" sz="1000"/>
              <a:t>,</a:t>
            </a:r>
          </a:p>
          <a:p>
            <a:r>
              <a:rPr lang="en-US" sz="1000"/>
              <a:t>    SUM(</a:t>
            </a:r>
            <a:r>
              <a:rPr lang="en-US" sz="1000" err="1"/>
              <a:t>TotalDue</a:t>
            </a:r>
            <a:r>
              <a:rPr lang="en-US" sz="1000"/>
              <a:t>) OVER (ORDER BY </a:t>
            </a:r>
            <a:r>
              <a:rPr lang="en-US" sz="1000" err="1"/>
              <a:t>OrderDate</a:t>
            </a:r>
            <a:r>
              <a:rPr lang="en-US" sz="1000"/>
              <a:t>) AS </a:t>
            </a:r>
            <a:r>
              <a:rPr lang="en-US" sz="1000" err="1"/>
              <a:t>CumulativeTotal</a:t>
            </a:r>
            <a:endParaRPr lang="en-US" sz="1000"/>
          </a:p>
          <a:p>
            <a:r>
              <a:rPr lang="en-US" sz="1000"/>
              <a:t>FROM</a:t>
            </a:r>
          </a:p>
          <a:p>
            <a:r>
              <a:rPr lang="en-US" sz="1000"/>
              <a:t>    </a:t>
            </a:r>
            <a:r>
              <a:rPr lang="en-US" sz="1000" err="1"/>
              <a:t>Sales.SalesOrderHeader</a:t>
            </a:r>
            <a:r>
              <a:rPr lang="en-US" sz="1000"/>
              <a:t>;</a:t>
            </a:r>
          </a:p>
          <a:p>
            <a:endParaRPr lang="en-US" sz="1000"/>
          </a:p>
          <a:p>
            <a:r>
              <a:rPr lang="en-US" sz="1000"/>
              <a:t>SELECT</a:t>
            </a:r>
          </a:p>
          <a:p>
            <a:r>
              <a:rPr lang="en-US" sz="1000"/>
              <a:t>    </a:t>
            </a:r>
            <a:r>
              <a:rPr lang="en-US" sz="1000" err="1"/>
              <a:t>Department.Name</a:t>
            </a:r>
            <a:r>
              <a:rPr lang="en-US" sz="1000"/>
              <a:t> AS </a:t>
            </a:r>
            <a:r>
              <a:rPr lang="en-US" sz="1000" err="1"/>
              <a:t>DepartmentName</a:t>
            </a:r>
            <a:r>
              <a:rPr lang="en-US" sz="1000"/>
              <a:t>,</a:t>
            </a:r>
          </a:p>
          <a:p>
            <a:r>
              <a:rPr lang="en-US" sz="1000"/>
              <a:t>    </a:t>
            </a:r>
            <a:r>
              <a:rPr lang="en-US" sz="1000" err="1"/>
              <a:t>Employee.JobTitle</a:t>
            </a:r>
            <a:r>
              <a:rPr lang="en-US" sz="1000"/>
              <a:t>,</a:t>
            </a:r>
          </a:p>
          <a:p>
            <a:r>
              <a:rPr lang="en-US" sz="1000"/>
              <a:t>    </a:t>
            </a:r>
            <a:r>
              <a:rPr lang="en-US" sz="1000" err="1"/>
              <a:t>PayHistory.Rate</a:t>
            </a:r>
            <a:r>
              <a:rPr lang="en-US" sz="1000"/>
              <a:t>,</a:t>
            </a:r>
          </a:p>
          <a:p>
            <a:r>
              <a:rPr lang="en-US" sz="1000"/>
              <a:t>    RANK() OVER (PARTITION BY </a:t>
            </a:r>
            <a:r>
              <a:rPr lang="en-US" sz="1000" err="1"/>
              <a:t>Department.Name</a:t>
            </a:r>
            <a:r>
              <a:rPr lang="en-US" sz="1000"/>
              <a:t> ORDER BY </a:t>
            </a:r>
            <a:r>
              <a:rPr lang="en-US" sz="1000" err="1"/>
              <a:t>PayHistory.Rate</a:t>
            </a:r>
            <a:r>
              <a:rPr lang="en-US" sz="1000"/>
              <a:t> DESC) AS </a:t>
            </a:r>
            <a:r>
              <a:rPr lang="en-US" sz="1000" err="1"/>
              <a:t>RankWithinDepartment</a:t>
            </a:r>
            <a:endParaRPr lang="en-US" sz="1000"/>
          </a:p>
          <a:p>
            <a:r>
              <a:rPr lang="en-US" sz="1000"/>
              <a:t>FROM</a:t>
            </a:r>
          </a:p>
          <a:p>
            <a:r>
              <a:rPr lang="en-US" sz="1000"/>
              <a:t>    </a:t>
            </a:r>
            <a:r>
              <a:rPr lang="en-US" sz="1000" err="1"/>
              <a:t>HumanResources.Employee</a:t>
            </a:r>
            <a:endParaRPr lang="en-US" sz="1000"/>
          </a:p>
          <a:p>
            <a:r>
              <a:rPr lang="en-US" sz="1000"/>
              <a:t>INNER JOIN</a:t>
            </a:r>
          </a:p>
          <a:p>
            <a:r>
              <a:rPr lang="en-US" sz="1000"/>
              <a:t>    </a:t>
            </a:r>
            <a:r>
              <a:rPr lang="en-US" sz="1000" err="1"/>
              <a:t>HumanResources.EmployeeDepartmentHistory</a:t>
            </a:r>
            <a:r>
              <a:rPr lang="en-US" sz="1000"/>
              <a:t> ON </a:t>
            </a:r>
            <a:r>
              <a:rPr lang="en-US" sz="1000" err="1"/>
              <a:t>Employee.BusinessEntityID</a:t>
            </a:r>
            <a:r>
              <a:rPr lang="en-US" sz="1000"/>
              <a:t> = </a:t>
            </a:r>
            <a:r>
              <a:rPr lang="en-US" sz="1000" err="1"/>
              <a:t>EmployeeDepartmentHistory.BusinessEntityID</a:t>
            </a:r>
            <a:endParaRPr lang="en-US" sz="1000"/>
          </a:p>
          <a:p>
            <a:r>
              <a:rPr lang="en-US" sz="1000"/>
              <a:t>INNER JOIN</a:t>
            </a:r>
          </a:p>
          <a:p>
            <a:r>
              <a:rPr lang="en-US" sz="1000"/>
              <a:t>    </a:t>
            </a:r>
            <a:r>
              <a:rPr lang="en-US" sz="1000" err="1"/>
              <a:t>HumanResources.Department</a:t>
            </a:r>
            <a:r>
              <a:rPr lang="en-US" sz="1000"/>
              <a:t> ON </a:t>
            </a:r>
            <a:r>
              <a:rPr lang="en-US" sz="1000" err="1"/>
              <a:t>EmployeeDepartmentHistory.DepartmentID</a:t>
            </a:r>
            <a:r>
              <a:rPr lang="en-US" sz="1000"/>
              <a:t> = </a:t>
            </a:r>
            <a:r>
              <a:rPr lang="en-US" sz="1000" err="1"/>
              <a:t>Department.DepartmentID</a:t>
            </a:r>
            <a:endParaRPr lang="en-US" sz="1000"/>
          </a:p>
          <a:p>
            <a:r>
              <a:rPr lang="en-US" sz="1000"/>
              <a:t>INNER JOIN</a:t>
            </a:r>
          </a:p>
          <a:p>
            <a:r>
              <a:rPr lang="en-US" sz="1000"/>
              <a:t>    </a:t>
            </a:r>
            <a:r>
              <a:rPr lang="en-US" sz="1000" err="1"/>
              <a:t>HumanResources.EmployeePayHistory</a:t>
            </a:r>
            <a:r>
              <a:rPr lang="en-US" sz="1000"/>
              <a:t> AS </a:t>
            </a:r>
            <a:r>
              <a:rPr lang="en-US" sz="1000" err="1"/>
              <a:t>PayHistory</a:t>
            </a:r>
            <a:r>
              <a:rPr lang="en-US" sz="1000"/>
              <a:t> ON </a:t>
            </a:r>
            <a:r>
              <a:rPr lang="en-US" sz="1000" err="1"/>
              <a:t>Employee.BusinessEntityID</a:t>
            </a:r>
            <a:r>
              <a:rPr lang="en-US" sz="1000"/>
              <a:t> = </a:t>
            </a:r>
            <a:r>
              <a:rPr lang="en-US" sz="1000" err="1"/>
              <a:t>PayHistory.BusinessEntityID</a:t>
            </a:r>
            <a:endParaRPr lang="en-US" sz="1000"/>
          </a:p>
        </p:txBody>
      </p:sp>
    </p:spTree>
    <p:extLst>
      <p:ext uri="{BB962C8B-B14F-4D97-AF65-F5344CB8AC3E}">
        <p14:creationId xmlns:p14="http://schemas.microsoft.com/office/powerpoint/2010/main" val="91291265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7285A8-6EB4-44C6-9ACB-4CC45D21736D}"/>
              </a:ext>
            </a:extLst>
          </p:cNvPr>
          <p:cNvSpPr>
            <a:spLocks noGrp="1"/>
          </p:cNvSpPr>
          <p:nvPr>
            <p:ph type="ctrTitle"/>
          </p:nvPr>
        </p:nvSpPr>
        <p:spPr>
          <a:xfrm>
            <a:off x="1700212" y="-129959"/>
            <a:ext cx="8791575" cy="1186212"/>
          </a:xfrm>
        </p:spPr>
        <p:txBody>
          <a:bodyPr/>
          <a:lstStyle/>
          <a:p>
            <a:pPr algn="ctr"/>
            <a:r>
              <a:rPr lang="en-US"/>
              <a:t>Optimize query</a:t>
            </a:r>
          </a:p>
        </p:txBody>
      </p:sp>
      <p:sp>
        <p:nvSpPr>
          <p:cNvPr id="8" name="TextBox 7">
            <a:extLst>
              <a:ext uri="{FF2B5EF4-FFF2-40B4-BE49-F238E27FC236}">
                <a16:creationId xmlns:a16="http://schemas.microsoft.com/office/drawing/2014/main" id="{C5A15B18-4F4E-B5AA-7BD2-A61B0F0CB879}"/>
              </a:ext>
            </a:extLst>
          </p:cNvPr>
          <p:cNvSpPr txBox="1"/>
          <p:nvPr/>
        </p:nvSpPr>
        <p:spPr>
          <a:xfrm>
            <a:off x="3154678" y="1056253"/>
            <a:ext cx="6926581" cy="5493812"/>
          </a:xfrm>
          <a:prstGeom prst="rect">
            <a:avLst/>
          </a:prstGeom>
          <a:noFill/>
        </p:spPr>
        <p:txBody>
          <a:bodyPr wrap="square">
            <a:spAutoFit/>
          </a:bodyPr>
          <a:lstStyle/>
          <a:p>
            <a:r>
              <a:rPr lang="en-US" sz="900"/>
              <a:t>1. Create an index on huge tables (&gt;1.000.000) rows.</a:t>
            </a:r>
          </a:p>
          <a:p>
            <a:endParaRPr lang="en-US" sz="900"/>
          </a:p>
          <a:p>
            <a:r>
              <a:rPr lang="en-US" sz="900"/>
              <a:t>2. Use EXIST() instead of COUNT() to find an element in the table.</a:t>
            </a:r>
          </a:p>
          <a:p>
            <a:endParaRPr lang="en-US" sz="900"/>
          </a:p>
          <a:p>
            <a:r>
              <a:rPr lang="en-US" sz="900"/>
              <a:t>3. SELECT fields instead of using SELECT *</a:t>
            </a:r>
          </a:p>
          <a:p>
            <a:endParaRPr lang="en-US" sz="900"/>
          </a:p>
          <a:p>
            <a:r>
              <a:rPr lang="en-US" sz="900"/>
              <a:t>4. Avoid Subqueries in WHERE Clause</a:t>
            </a:r>
          </a:p>
          <a:p>
            <a:endParaRPr lang="en-US" sz="900"/>
          </a:p>
          <a:p>
            <a:r>
              <a:rPr lang="en-US" sz="900"/>
              <a:t>5. Avoid SELECT DISTINCT where possible.</a:t>
            </a:r>
          </a:p>
          <a:p>
            <a:endParaRPr lang="en-US" sz="900"/>
          </a:p>
          <a:p>
            <a:r>
              <a:rPr lang="en-US" sz="900"/>
              <a:t>6. Use the WHERE Clause instead of HAVING.</a:t>
            </a:r>
          </a:p>
          <a:p>
            <a:endParaRPr lang="en-US" sz="900"/>
          </a:p>
          <a:p>
            <a:r>
              <a:rPr lang="en-US" sz="900"/>
              <a:t>7. Create joins with INNER JOIN (not WHERE)</a:t>
            </a:r>
          </a:p>
          <a:p>
            <a:endParaRPr lang="en-US" sz="900"/>
          </a:p>
          <a:p>
            <a:r>
              <a:rPr lang="en-US" sz="900"/>
              <a:t>8. Use LIMIT to sample query results.</a:t>
            </a:r>
          </a:p>
          <a:p>
            <a:endParaRPr lang="en-US" sz="900"/>
          </a:p>
          <a:p>
            <a:r>
              <a:rPr lang="en-US" sz="900"/>
              <a:t>9. Use UNION ALL instead of UNION wherever possible.</a:t>
            </a:r>
          </a:p>
          <a:p>
            <a:endParaRPr lang="en-US" sz="900"/>
          </a:p>
          <a:p>
            <a:r>
              <a:rPr lang="en-US" sz="900"/>
              <a:t>10. Use UNION where instead of WHERE ... or ... query.</a:t>
            </a:r>
          </a:p>
          <a:p>
            <a:endParaRPr lang="en-US" sz="900"/>
          </a:p>
          <a:p>
            <a:r>
              <a:rPr lang="en-US" sz="900"/>
              <a:t>11. Run your query during off-peak hours.</a:t>
            </a:r>
          </a:p>
          <a:p>
            <a:endParaRPr lang="en-US" sz="900"/>
          </a:p>
          <a:p>
            <a:r>
              <a:rPr lang="en-US" sz="900"/>
              <a:t>12. Avoid using OR in join queries.</a:t>
            </a:r>
          </a:p>
          <a:p>
            <a:endParaRPr lang="en-US" sz="900"/>
          </a:p>
          <a:p>
            <a:r>
              <a:rPr lang="en-US" sz="900"/>
              <a:t>13. Choose GROUP BY over window functions.</a:t>
            </a:r>
          </a:p>
          <a:p>
            <a:endParaRPr lang="en-US" sz="900"/>
          </a:p>
          <a:p>
            <a:r>
              <a:rPr lang="en-US" sz="900"/>
              <a:t>14. Use derived and temporary tables.</a:t>
            </a:r>
          </a:p>
          <a:p>
            <a:endParaRPr lang="en-US" sz="900"/>
          </a:p>
          <a:p>
            <a:r>
              <a:rPr lang="en-US" sz="900"/>
              <a:t>15. Drop the index before loading bulk data.</a:t>
            </a:r>
          </a:p>
          <a:p>
            <a:endParaRPr lang="en-US" sz="900"/>
          </a:p>
          <a:p>
            <a:r>
              <a:rPr lang="en-US" sz="900"/>
              <a:t>16. Use materialized views instead of views.</a:t>
            </a:r>
          </a:p>
          <a:p>
            <a:endParaRPr lang="en-US" sz="900"/>
          </a:p>
          <a:p>
            <a:r>
              <a:rPr lang="en-US" sz="900"/>
              <a:t>17. Avoid != or &lt;&gt; (not equal) operator</a:t>
            </a:r>
          </a:p>
          <a:p>
            <a:endParaRPr lang="en-US" sz="900"/>
          </a:p>
          <a:p>
            <a:r>
              <a:rPr lang="en-US" sz="900"/>
              <a:t>18. Minimize the number of subqueries.</a:t>
            </a:r>
          </a:p>
          <a:p>
            <a:endParaRPr lang="en-US" sz="900"/>
          </a:p>
          <a:p>
            <a:r>
              <a:rPr lang="en-US" sz="900"/>
              <a:t>19. Use INNER join as little as possible when you can get the same output using LEFT/RIGHT join?</a:t>
            </a:r>
          </a:p>
          <a:p>
            <a:endParaRPr lang="en-US" sz="900"/>
          </a:p>
          <a:p>
            <a:r>
              <a:rPr lang="en-US" sz="900"/>
              <a:t>20. Frequently try to use temporary sources to retrieve the same dataset.</a:t>
            </a:r>
          </a:p>
        </p:txBody>
      </p:sp>
    </p:spTree>
    <p:extLst>
      <p:ext uri="{BB962C8B-B14F-4D97-AF65-F5344CB8AC3E}">
        <p14:creationId xmlns:p14="http://schemas.microsoft.com/office/powerpoint/2010/main" val="297195119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7285A8-6EB4-44C6-9ACB-4CC45D21736D}"/>
              </a:ext>
            </a:extLst>
          </p:cNvPr>
          <p:cNvSpPr>
            <a:spLocks noGrp="1"/>
          </p:cNvSpPr>
          <p:nvPr>
            <p:ph type="ctrTitle"/>
          </p:nvPr>
        </p:nvSpPr>
        <p:spPr>
          <a:xfrm>
            <a:off x="1700212" y="-129959"/>
            <a:ext cx="8791575" cy="1186212"/>
          </a:xfrm>
        </p:spPr>
        <p:txBody>
          <a:bodyPr/>
          <a:lstStyle/>
          <a:p>
            <a:pPr algn="ctr"/>
            <a:r>
              <a:rPr lang="en-US"/>
              <a:t>Optimize query</a:t>
            </a:r>
          </a:p>
        </p:txBody>
      </p:sp>
      <p:sp>
        <p:nvSpPr>
          <p:cNvPr id="8" name="TextBox 7">
            <a:extLst>
              <a:ext uri="{FF2B5EF4-FFF2-40B4-BE49-F238E27FC236}">
                <a16:creationId xmlns:a16="http://schemas.microsoft.com/office/drawing/2014/main" id="{C5A15B18-4F4E-B5AA-7BD2-A61B0F0CB879}"/>
              </a:ext>
            </a:extLst>
          </p:cNvPr>
          <p:cNvSpPr txBox="1"/>
          <p:nvPr/>
        </p:nvSpPr>
        <p:spPr>
          <a:xfrm>
            <a:off x="3147059" y="1155313"/>
            <a:ext cx="6096000" cy="4247317"/>
          </a:xfrm>
          <a:prstGeom prst="rect">
            <a:avLst/>
          </a:prstGeom>
          <a:noFill/>
        </p:spPr>
        <p:txBody>
          <a:bodyPr wrap="square">
            <a:spAutoFit/>
          </a:bodyPr>
          <a:lstStyle/>
          <a:p>
            <a:r>
              <a:rPr lang="en-US" sz="900"/>
              <a:t>Indexing:</a:t>
            </a:r>
          </a:p>
          <a:p>
            <a:r>
              <a:rPr lang="en-US" sz="900"/>
              <a:t>Proper indexing is one of the most effective ways to speed up query execution.</a:t>
            </a:r>
          </a:p>
          <a:p>
            <a:r>
              <a:rPr lang="en-US" sz="900"/>
              <a:t>Create indexes on columns that are frequently used in WHERE clauses, JOIN conditions, and ORDER BY clauses.</a:t>
            </a:r>
          </a:p>
          <a:p>
            <a:r>
              <a:rPr lang="en-US" sz="900"/>
              <a:t>Be mindful of the trade-off, as indexes can slow down write operations and consume more storage.</a:t>
            </a:r>
          </a:p>
          <a:p>
            <a:endParaRPr lang="en-US" sz="900"/>
          </a:p>
          <a:p>
            <a:r>
              <a:rPr lang="en-US" sz="900"/>
              <a:t>Avoid Unnecessary Columns:</a:t>
            </a:r>
          </a:p>
          <a:p>
            <a:r>
              <a:rPr lang="en-US" sz="900"/>
              <a:t>Only select the columns you need. Using SELECT * retrieves all columns, which can be inefficient, especially with tables containing a large number of columns or large data types.</a:t>
            </a:r>
          </a:p>
          <a:p>
            <a:r>
              <a:rPr lang="en-US" sz="900"/>
              <a:t>Reducing the amount of data being returned by the query can significantly improve its performance.</a:t>
            </a:r>
          </a:p>
          <a:p>
            <a:endParaRPr lang="en-US" sz="900"/>
          </a:p>
          <a:p>
            <a:r>
              <a:rPr lang="en-US" sz="900"/>
              <a:t>Optimize JOINs:</a:t>
            </a:r>
          </a:p>
          <a:p>
            <a:r>
              <a:rPr lang="en-US" sz="900"/>
              <a:t>Ensure that you are using the most efficient type of join for your query and data structure (e.g., INNER JOIN, LEFT JOIN, etc.).</a:t>
            </a:r>
          </a:p>
          <a:p>
            <a:r>
              <a:rPr lang="en-US" sz="900"/>
              <a:t>When possible, avoid joining large tables. If you must, ensure both tables are indexed appropriately on the join condition.</a:t>
            </a:r>
          </a:p>
          <a:p>
            <a:endParaRPr lang="en-US" sz="900"/>
          </a:p>
          <a:p>
            <a:r>
              <a:rPr lang="en-US" sz="900"/>
              <a:t>Use WHERE Clauses Effectively:</a:t>
            </a:r>
          </a:p>
          <a:p>
            <a:r>
              <a:rPr lang="en-US" sz="900"/>
              <a:t>Filter data as early as possible using WHERE clauses to reduce the amount of data processed by the database engine.</a:t>
            </a:r>
          </a:p>
          <a:p>
            <a:r>
              <a:rPr lang="en-US" sz="900"/>
              <a:t>Be cautious with functions or calculations in WHERE clauses, as they can prevent the use of indexes.</a:t>
            </a:r>
          </a:p>
          <a:p>
            <a:endParaRPr lang="en-US" sz="900"/>
          </a:p>
          <a:p>
            <a:r>
              <a:rPr lang="en-US" sz="900"/>
              <a:t>Query Execution Plans:</a:t>
            </a:r>
          </a:p>
          <a:p>
            <a:r>
              <a:rPr lang="en-US" sz="900"/>
              <a:t>Make use of the query execution plan feature available in most database management systems.</a:t>
            </a:r>
          </a:p>
          <a:p>
            <a:r>
              <a:rPr lang="en-US" sz="900"/>
              <a:t>Execution plans can help identify bottlenecks, such as table scans or inefficient joins.</a:t>
            </a:r>
          </a:p>
          <a:p>
            <a:r>
              <a:rPr lang="en-US" sz="900"/>
              <a:t>Adjust your query or schema based on the insights from the execution plan.</a:t>
            </a:r>
          </a:p>
          <a:p>
            <a:endParaRPr lang="en-US" sz="900"/>
          </a:p>
          <a:p>
            <a:r>
              <a:rPr lang="en-US" sz="900"/>
              <a:t>Additional Tips:</a:t>
            </a:r>
          </a:p>
          <a:p>
            <a:r>
              <a:rPr lang="en-US" sz="900"/>
              <a:t>Subquery and Temporary Table Usage: Sometimes breaking down a complex query into simpler subqueries or using temporary tables can improve performance.</a:t>
            </a:r>
          </a:p>
          <a:p>
            <a:r>
              <a:rPr lang="en-US" sz="900"/>
              <a:t>Avoiding OR Conditions in WHERE Clauses: OR conditions can make it difficult for the query optimizer to use indexes effectively. Rewriting queries using UNION or other strategies can sometimes yield better performance.</a:t>
            </a:r>
          </a:p>
          <a:p>
            <a:r>
              <a:rPr lang="en-US" sz="900"/>
              <a:t>Proper Use of Aggregates and Grouping: Aggregates (like COUNT, AVG) and GROUP BY clauses can be resource-intensive. Ensure they are used judiciously and only when necessary.</a:t>
            </a:r>
          </a:p>
        </p:txBody>
      </p:sp>
    </p:spTree>
    <p:extLst>
      <p:ext uri="{BB962C8B-B14F-4D97-AF65-F5344CB8AC3E}">
        <p14:creationId xmlns:p14="http://schemas.microsoft.com/office/powerpoint/2010/main" val="242210279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252C36"/>
      </a:dk2>
      <a:lt2>
        <a:srgbClr val="7C96A3"/>
      </a:lt2>
      <a:accent1>
        <a:srgbClr val="4FD093"/>
      </a:accent1>
      <a:accent2>
        <a:srgbClr val="54BCDF"/>
      </a:accent2>
      <a:accent3>
        <a:srgbClr val="A262D0"/>
      </a:accent3>
      <a:accent4>
        <a:srgbClr val="D7537B"/>
      </a:accent4>
      <a:accent5>
        <a:srgbClr val="E78045"/>
      </a:accent5>
      <a:accent6>
        <a:srgbClr val="84C350"/>
      </a:accent6>
      <a:hlink>
        <a:srgbClr val="22FFFF"/>
      </a:hlink>
      <a:folHlink>
        <a:srgbClr val="9BF3FD"/>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40000"/>
              </a:schemeClr>
            </a:gs>
            <a:gs pos="100000">
              <a:schemeClr val="phClr">
                <a:shade val="92000"/>
                <a:hueMod val="104000"/>
                <a:satMod val="140000"/>
                <a:lumMod val="48000"/>
              </a:schemeClr>
            </a:gs>
          </a:gsLst>
          <a:lin ang="5040000" scaled="0"/>
        </a:gradFill>
        <a:blipFill>
          <a:blip xmlns:r="http://schemas.openxmlformats.org/officeDocument/2006/relationships" r:embed="rId1">
            <a:duotone>
              <a:schemeClr val="phClr">
                <a:shade val="48000"/>
                <a:hueMod val="106000"/>
                <a:satMod val="140000"/>
                <a:lumMod val="42000"/>
              </a:schemeClr>
              <a:schemeClr val="phClr">
                <a:tint val="98000"/>
                <a:hueMod val="92000"/>
                <a:satMod val="220000"/>
                <a:lumMod val="9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142578CA-DEC9-49C3-80AF-C113973CC9A9}"/>
    </a:ext>
  </a:extLst>
</a:theme>
</file>

<file path=docProps/app.xml><?xml version="1.0" encoding="utf-8"?>
<Properties xmlns="http://schemas.openxmlformats.org/officeDocument/2006/extended-properties" xmlns:vt="http://schemas.openxmlformats.org/officeDocument/2006/docPropsVTypes">
  <Template>TM04033919[[fn=Circuit]]</Template>
  <Application>Microsoft Office PowerPoint</Application>
  <PresentationFormat>Widescreen</PresentationFormat>
  <Slides>48</Slides>
  <Notes>0</Notes>
  <HiddenSlides>0</HiddenSlides>
  <ScaleCrop>false</ScaleCrop>
  <HeadingPairs>
    <vt:vector size="4" baseType="variant">
      <vt:variant>
        <vt:lpstr>Theme</vt:lpstr>
      </vt:variant>
      <vt:variant>
        <vt:i4>1</vt:i4>
      </vt:variant>
      <vt:variant>
        <vt:lpstr>Slide Titles</vt:lpstr>
      </vt:variant>
      <vt:variant>
        <vt:i4>48</vt:i4>
      </vt:variant>
    </vt:vector>
  </HeadingPairs>
  <TitlesOfParts>
    <vt:vector size="49" baseType="lpstr">
      <vt:lpstr>Circuit</vt:lpstr>
      <vt:lpstr>SQL FOR DATA ANALYSIS </vt:lpstr>
      <vt:lpstr>SQL FOR DATA ANALYSIS </vt:lpstr>
      <vt:lpstr>SQL FOR DATA ANALYSIS </vt:lpstr>
      <vt:lpstr>SQL FOR DATA ANALYSIS </vt:lpstr>
      <vt:lpstr>SQL FOR DATA ANALYSIS </vt:lpstr>
      <vt:lpstr>SQL FOR DATA ANALYSIS </vt:lpstr>
      <vt:lpstr>SQL FOR DATA ANALYSIS </vt:lpstr>
      <vt:lpstr>SQL FOR DATA ANALYSIS </vt:lpstr>
      <vt:lpstr>SQL FOR DATA ANALYSIS </vt:lpstr>
      <vt:lpstr>SQL FOR DATA ANALYSIS </vt:lpstr>
      <vt:lpstr>SQL FOR DATA ANALYSIS </vt:lpstr>
      <vt:lpstr>SQL FOR DATA ANALYSIS </vt:lpstr>
      <vt:lpstr>SQL FOR DATA ANALYSIS </vt:lpstr>
      <vt:lpstr>SQL FOR DATA ANALYSIS </vt:lpstr>
      <vt:lpstr>SQL FOR DATA ANALYSIS </vt:lpstr>
      <vt:lpstr>SQL FOR DATA ANALYSIS </vt:lpstr>
      <vt:lpstr>SQL FOR DATA ANALYSIS </vt:lpstr>
      <vt:lpstr>SQL FOR DATA ANALYSIS </vt:lpstr>
      <vt:lpstr>SQL FOR DATA ANALYSIS </vt:lpstr>
      <vt:lpstr>SQL FOR DATA ANALYSIS </vt:lpstr>
      <vt:lpstr>SQL FOR DATA ANALYSIS </vt:lpstr>
      <vt:lpstr>SQL FOR DATA ANALYSIS </vt:lpstr>
      <vt:lpstr>SQL FOR DATA ANALYSIS </vt:lpstr>
      <vt:lpstr>SQL FOR DATA ANALYSIS </vt:lpstr>
      <vt:lpstr>SQL FOR DATA ANALYSIS </vt:lpstr>
      <vt:lpstr>SQL FOR DATA ANALYSIS </vt:lpstr>
      <vt:lpstr>SQL FOR DATA ANALYSIS </vt:lpstr>
      <vt:lpstr>SQL FOR DATA ANALYSIS </vt:lpstr>
      <vt:lpstr>SQL FOR DATA ANALYSIS </vt:lpstr>
      <vt:lpstr>SQL FOR DATA ANALYSIS </vt:lpstr>
      <vt:lpstr>SQL FOR DATA ANALYSIS </vt:lpstr>
      <vt:lpstr>SQL FOR DATA ANALYSIS </vt:lpstr>
      <vt:lpstr>SQL FOR DATA ANALYSIS </vt:lpstr>
      <vt:lpstr>SQL FOR DATA ANALYSIS </vt:lpstr>
      <vt:lpstr>SQL FOR DATA ANALYSIS </vt:lpstr>
      <vt:lpstr>SQL FOR DATA ANALYSIS </vt:lpstr>
      <vt:lpstr>SQL FOR DATA ANALYSIS </vt:lpstr>
      <vt:lpstr>SQL FOR DATA ANALYSIS </vt:lpstr>
      <vt:lpstr>SQL FOR DATA ANALYSIS </vt:lpstr>
      <vt:lpstr>SQL FOR DATA ANALYSIS </vt:lpstr>
      <vt:lpstr>SQL FOR DATA ANALYSIS </vt:lpstr>
      <vt:lpstr>SQL FOR DATA ANALYSIS </vt:lpstr>
      <vt:lpstr>SQL FOR DATA ANALYSIS </vt:lpstr>
      <vt:lpstr>SQL FOR DATA ANALYSIS </vt:lpstr>
      <vt:lpstr>SQL FOR DATA ANALYSIS </vt:lpstr>
      <vt:lpstr>Window function</vt:lpstr>
      <vt:lpstr>Optimize query</vt:lpstr>
      <vt:lpstr>Optimize query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SQL FOR DATA ANALYSIS</dc:title>
  <dc:creator>Frank Z</dc:creator>
  <cp:revision>1</cp:revision>
  <dcterms:created xsi:type="dcterms:W3CDTF">2022-01-21T22:09:03Z</dcterms:created>
  <dcterms:modified xsi:type="dcterms:W3CDTF">2023-12-02T17:35:28Z</dcterms:modified>
</cp:coreProperties>
</file>