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sldIdLst>
    <p:sldId id="279" r:id="rId2"/>
    <p:sldId id="295" r:id="rId3"/>
    <p:sldId id="280" r:id="rId4"/>
    <p:sldId id="281" r:id="rId5"/>
    <p:sldId id="282" r:id="rId6"/>
    <p:sldId id="283" r:id="rId7"/>
    <p:sldId id="274" r:id="rId8"/>
    <p:sldId id="275" r:id="rId9"/>
    <p:sldId id="284" r:id="rId10"/>
    <p:sldId id="285" r:id="rId11"/>
    <p:sldId id="286" r:id="rId12"/>
    <p:sldId id="287" r:id="rId13"/>
    <p:sldId id="288" r:id="rId14"/>
    <p:sldId id="289" r:id="rId15"/>
    <p:sldId id="290" r:id="rId16"/>
    <p:sldId id="291" r:id="rId17"/>
    <p:sldId id="271" r:id="rId18"/>
    <p:sldId id="293" r:id="rId19"/>
    <p:sldId id="276" r:id="rId20"/>
    <p:sldId id="301"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5ABD01-E678-4D8A-A94B-0DE16272781F}" v="1" dt="2023-08-03T22:54:31.4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90" autoAdjust="0"/>
    <p:restoredTop sz="94660"/>
  </p:normalViewPr>
  <p:slideViewPr>
    <p:cSldViewPr snapToGrid="0">
      <p:cViewPr varScale="1">
        <p:scale>
          <a:sx n="91" d="100"/>
          <a:sy n="91" d="100"/>
        </p:scale>
        <p:origin x="3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yu Zhu" userId="13cc7b25a6ca6aed" providerId="LiveId" clId="{985ABD01-E678-4D8A-A94B-0DE16272781F}"/>
    <pc:docChg chg="delSld">
      <pc:chgData name="Ziyu Zhu" userId="13cc7b25a6ca6aed" providerId="LiveId" clId="{985ABD01-E678-4D8A-A94B-0DE16272781F}" dt="2023-08-03T22:53:43.536" v="24" actId="47"/>
      <pc:docMkLst>
        <pc:docMk/>
      </pc:docMkLst>
      <pc:sldChg chg="del">
        <pc:chgData name="Ziyu Zhu" userId="13cc7b25a6ca6aed" providerId="LiveId" clId="{985ABD01-E678-4D8A-A94B-0DE16272781F}" dt="2023-08-03T22:52:13.400" v="7" actId="47"/>
        <pc:sldMkLst>
          <pc:docMk/>
          <pc:sldMk cId="1036006196" sldId="257"/>
        </pc:sldMkLst>
      </pc:sldChg>
      <pc:sldChg chg="del">
        <pc:chgData name="Ziyu Zhu" userId="13cc7b25a6ca6aed" providerId="LiveId" clId="{985ABD01-E678-4D8A-A94B-0DE16272781F}" dt="2023-08-03T22:52:19.459" v="9" actId="47"/>
        <pc:sldMkLst>
          <pc:docMk/>
          <pc:sldMk cId="784708073" sldId="258"/>
        </pc:sldMkLst>
      </pc:sldChg>
      <pc:sldChg chg="del">
        <pc:chgData name="Ziyu Zhu" userId="13cc7b25a6ca6aed" providerId="LiveId" clId="{985ABD01-E678-4D8A-A94B-0DE16272781F}" dt="2023-08-03T22:52:22.070" v="10" actId="47"/>
        <pc:sldMkLst>
          <pc:docMk/>
          <pc:sldMk cId="4023754142" sldId="259"/>
        </pc:sldMkLst>
      </pc:sldChg>
      <pc:sldChg chg="del">
        <pc:chgData name="Ziyu Zhu" userId="13cc7b25a6ca6aed" providerId="LiveId" clId="{985ABD01-E678-4D8A-A94B-0DE16272781F}" dt="2023-08-03T22:52:24.840" v="11" actId="47"/>
        <pc:sldMkLst>
          <pc:docMk/>
          <pc:sldMk cId="1579895329" sldId="260"/>
        </pc:sldMkLst>
      </pc:sldChg>
      <pc:sldChg chg="del">
        <pc:chgData name="Ziyu Zhu" userId="13cc7b25a6ca6aed" providerId="LiveId" clId="{985ABD01-E678-4D8A-A94B-0DE16272781F}" dt="2023-08-03T22:52:29.174" v="12" actId="47"/>
        <pc:sldMkLst>
          <pc:docMk/>
          <pc:sldMk cId="2867174257" sldId="261"/>
        </pc:sldMkLst>
      </pc:sldChg>
      <pc:sldChg chg="del">
        <pc:chgData name="Ziyu Zhu" userId="13cc7b25a6ca6aed" providerId="LiveId" clId="{985ABD01-E678-4D8A-A94B-0DE16272781F}" dt="2023-08-03T22:52:32.010" v="13" actId="47"/>
        <pc:sldMkLst>
          <pc:docMk/>
          <pc:sldMk cId="1763089397" sldId="262"/>
        </pc:sldMkLst>
      </pc:sldChg>
      <pc:sldChg chg="del">
        <pc:chgData name="Ziyu Zhu" userId="13cc7b25a6ca6aed" providerId="LiveId" clId="{985ABD01-E678-4D8A-A94B-0DE16272781F}" dt="2023-08-03T22:52:48.573" v="15" actId="47"/>
        <pc:sldMkLst>
          <pc:docMk/>
          <pc:sldMk cId="1055605777" sldId="263"/>
        </pc:sldMkLst>
      </pc:sldChg>
      <pc:sldChg chg="del">
        <pc:chgData name="Ziyu Zhu" userId="13cc7b25a6ca6aed" providerId="LiveId" clId="{985ABD01-E678-4D8A-A94B-0DE16272781F}" dt="2023-08-03T22:52:56.164" v="16" actId="47"/>
        <pc:sldMkLst>
          <pc:docMk/>
          <pc:sldMk cId="271668309" sldId="264"/>
        </pc:sldMkLst>
      </pc:sldChg>
      <pc:sldChg chg="del">
        <pc:chgData name="Ziyu Zhu" userId="13cc7b25a6ca6aed" providerId="LiveId" clId="{985ABD01-E678-4D8A-A94B-0DE16272781F}" dt="2023-08-03T22:52:58.431" v="17" actId="47"/>
        <pc:sldMkLst>
          <pc:docMk/>
          <pc:sldMk cId="2087388057" sldId="265"/>
        </pc:sldMkLst>
      </pc:sldChg>
      <pc:sldChg chg="del">
        <pc:chgData name="Ziyu Zhu" userId="13cc7b25a6ca6aed" providerId="LiveId" clId="{985ABD01-E678-4D8A-A94B-0DE16272781F}" dt="2023-08-03T22:53:06.038" v="18" actId="47"/>
        <pc:sldMkLst>
          <pc:docMk/>
          <pc:sldMk cId="2607598133" sldId="266"/>
        </pc:sldMkLst>
      </pc:sldChg>
      <pc:sldChg chg="del">
        <pc:chgData name="Ziyu Zhu" userId="13cc7b25a6ca6aed" providerId="LiveId" clId="{985ABD01-E678-4D8A-A94B-0DE16272781F}" dt="2023-08-03T22:53:12.930" v="19" actId="47"/>
        <pc:sldMkLst>
          <pc:docMk/>
          <pc:sldMk cId="504849237" sldId="267"/>
        </pc:sldMkLst>
      </pc:sldChg>
      <pc:sldChg chg="del">
        <pc:chgData name="Ziyu Zhu" userId="13cc7b25a6ca6aed" providerId="LiveId" clId="{985ABD01-E678-4D8A-A94B-0DE16272781F}" dt="2023-08-03T22:53:24.735" v="20" actId="47"/>
        <pc:sldMkLst>
          <pc:docMk/>
          <pc:sldMk cId="3282420393" sldId="268"/>
        </pc:sldMkLst>
      </pc:sldChg>
      <pc:sldChg chg="del">
        <pc:chgData name="Ziyu Zhu" userId="13cc7b25a6ca6aed" providerId="LiveId" clId="{985ABD01-E678-4D8A-A94B-0DE16272781F}" dt="2023-08-03T22:53:28.507" v="21" actId="47"/>
        <pc:sldMkLst>
          <pc:docMk/>
          <pc:sldMk cId="1882543185" sldId="269"/>
        </pc:sldMkLst>
      </pc:sldChg>
      <pc:sldChg chg="del">
        <pc:chgData name="Ziyu Zhu" userId="13cc7b25a6ca6aed" providerId="LiveId" clId="{985ABD01-E678-4D8A-A94B-0DE16272781F}" dt="2023-08-03T22:53:32.272" v="22" actId="47"/>
        <pc:sldMkLst>
          <pc:docMk/>
          <pc:sldMk cId="606995073" sldId="270"/>
        </pc:sldMkLst>
      </pc:sldChg>
      <pc:sldChg chg="del">
        <pc:chgData name="Ziyu Zhu" userId="13cc7b25a6ca6aed" providerId="LiveId" clId="{985ABD01-E678-4D8A-A94B-0DE16272781F}" dt="2023-08-03T22:53:43.536" v="24" actId="47"/>
        <pc:sldMkLst>
          <pc:docMk/>
          <pc:sldMk cId="2659688644" sldId="272"/>
        </pc:sldMkLst>
      </pc:sldChg>
      <pc:sldChg chg="del">
        <pc:chgData name="Ziyu Zhu" userId="13cc7b25a6ca6aed" providerId="LiveId" clId="{985ABD01-E678-4D8A-A94B-0DE16272781F}" dt="2023-08-03T22:52:38.652" v="14" actId="47"/>
        <pc:sldMkLst>
          <pc:docMk/>
          <pc:sldMk cId="2991532079" sldId="273"/>
        </pc:sldMkLst>
      </pc:sldChg>
      <pc:sldChg chg="del">
        <pc:chgData name="Ziyu Zhu" userId="13cc7b25a6ca6aed" providerId="LiveId" clId="{985ABD01-E678-4D8A-A94B-0DE16272781F}" dt="2023-08-03T22:52:07.440" v="2" actId="47"/>
        <pc:sldMkLst>
          <pc:docMk/>
          <pc:sldMk cId="4054399122" sldId="277"/>
        </pc:sldMkLst>
      </pc:sldChg>
      <pc:sldChg chg="del">
        <pc:chgData name="Ziyu Zhu" userId="13cc7b25a6ca6aed" providerId="LiveId" clId="{985ABD01-E678-4D8A-A94B-0DE16272781F}" dt="2023-08-03T22:52:08.851" v="3" actId="47"/>
        <pc:sldMkLst>
          <pc:docMk/>
          <pc:sldMk cId="3658714501" sldId="278"/>
        </pc:sldMkLst>
      </pc:sldChg>
      <pc:sldChg chg="del">
        <pc:chgData name="Ziyu Zhu" userId="13cc7b25a6ca6aed" providerId="LiveId" clId="{985ABD01-E678-4D8A-A94B-0DE16272781F}" dt="2023-08-03T22:53:39.048" v="23" actId="47"/>
        <pc:sldMkLst>
          <pc:docMk/>
          <pc:sldMk cId="2779570788" sldId="292"/>
        </pc:sldMkLst>
      </pc:sldChg>
      <pc:sldChg chg="del">
        <pc:chgData name="Ziyu Zhu" userId="13cc7b25a6ca6aed" providerId="LiveId" clId="{985ABD01-E678-4D8A-A94B-0DE16272781F}" dt="2023-08-03T22:52:14.481" v="8" actId="47"/>
        <pc:sldMkLst>
          <pc:docMk/>
          <pc:sldMk cId="652195926" sldId="294"/>
        </pc:sldMkLst>
      </pc:sldChg>
      <pc:sldChg chg="del">
        <pc:chgData name="Ziyu Zhu" userId="13cc7b25a6ca6aed" providerId="LiveId" clId="{985ABD01-E678-4D8A-A94B-0DE16272781F}" dt="2023-08-03T22:52:06.444" v="0" actId="47"/>
        <pc:sldMkLst>
          <pc:docMk/>
          <pc:sldMk cId="953776225" sldId="296"/>
        </pc:sldMkLst>
      </pc:sldChg>
      <pc:sldChg chg="del">
        <pc:chgData name="Ziyu Zhu" userId="13cc7b25a6ca6aed" providerId="LiveId" clId="{985ABD01-E678-4D8A-A94B-0DE16272781F}" dt="2023-08-03T22:52:09.378" v="4" actId="47"/>
        <pc:sldMkLst>
          <pc:docMk/>
          <pc:sldMk cId="599182363" sldId="297"/>
        </pc:sldMkLst>
      </pc:sldChg>
      <pc:sldChg chg="del">
        <pc:chgData name="Ziyu Zhu" userId="13cc7b25a6ca6aed" providerId="LiveId" clId="{985ABD01-E678-4D8A-A94B-0DE16272781F}" dt="2023-08-03T22:52:09.869" v="5" actId="47"/>
        <pc:sldMkLst>
          <pc:docMk/>
          <pc:sldMk cId="1202028424" sldId="298"/>
        </pc:sldMkLst>
      </pc:sldChg>
      <pc:sldChg chg="del">
        <pc:chgData name="Ziyu Zhu" userId="13cc7b25a6ca6aed" providerId="LiveId" clId="{985ABD01-E678-4D8A-A94B-0DE16272781F}" dt="2023-08-03T22:52:10.472" v="6" actId="47"/>
        <pc:sldMkLst>
          <pc:docMk/>
          <pc:sldMk cId="2468579911" sldId="299"/>
        </pc:sldMkLst>
      </pc:sldChg>
      <pc:sldChg chg="del">
        <pc:chgData name="Ziyu Zhu" userId="13cc7b25a6ca6aed" providerId="LiveId" clId="{985ABD01-E678-4D8A-A94B-0DE16272781F}" dt="2023-08-03T22:52:07.011" v="1" actId="47"/>
        <pc:sldMkLst>
          <pc:docMk/>
          <pc:sldMk cId="2383301169" sldId="30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7D732-470E-55A5-3843-FE80F5C645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8D0BAD-4481-5701-2FCE-73FC6A3BD0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4B2B789-BA2B-988A-8AF6-6AE0F341FCD7}"/>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5" name="Footer Placeholder 4">
            <a:extLst>
              <a:ext uri="{FF2B5EF4-FFF2-40B4-BE49-F238E27FC236}">
                <a16:creationId xmlns:a16="http://schemas.microsoft.com/office/drawing/2014/main" id="{2B9BCA27-0B04-F4DC-8D8B-014F9996FF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DBF29-4806-C5E0-5E17-0A4F70F84A46}"/>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21624606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C154F-8A5C-E695-F0E7-052710B297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CE6EA6-79BF-293E-EA67-8943EFDE38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3C0ED0-5D0D-DC93-79B8-DA03672A0151}"/>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5" name="Footer Placeholder 4">
            <a:extLst>
              <a:ext uri="{FF2B5EF4-FFF2-40B4-BE49-F238E27FC236}">
                <a16:creationId xmlns:a16="http://schemas.microsoft.com/office/drawing/2014/main" id="{1C6874F8-081D-0305-3C75-F3FB22F240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49C1CF-3049-2638-B946-CE600C2A6EA4}"/>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904171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B8F6E-FAA7-E24A-204A-52C5E85B2C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D87599-71A3-6E04-ADDB-3FC099E6C5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63C152-871F-8F33-C23F-06D6C9F3D318}"/>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5" name="Footer Placeholder 4">
            <a:extLst>
              <a:ext uri="{FF2B5EF4-FFF2-40B4-BE49-F238E27FC236}">
                <a16:creationId xmlns:a16="http://schemas.microsoft.com/office/drawing/2014/main" id="{27F1B48B-1CE2-0073-FA0A-25F4DB8A7A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F24D-F46A-D2EB-0BB3-4A7963513188}"/>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887438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050D-BB55-AA5E-4FE3-D02162C1A9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343C0D-5D21-C39A-CB2A-929339CB78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7907FB7-9065-C5C0-47A3-72B24B3287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F2023B-0D59-50F4-8D99-BA92240E6360}"/>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6" name="Footer Placeholder 5">
            <a:extLst>
              <a:ext uri="{FF2B5EF4-FFF2-40B4-BE49-F238E27FC236}">
                <a16:creationId xmlns:a16="http://schemas.microsoft.com/office/drawing/2014/main" id="{C88B722C-C1C1-52BB-7402-E1020BE5EB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507B1B-C11E-9AB5-0F7E-AE2ED0A98DFA}"/>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499413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3EFCE-54DC-0A7D-5D0F-27B02EB43CB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790C446-692F-E9AD-B553-551193D15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F4A302-EB05-EF4E-2223-76EFA596D7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5B0708-6848-72BA-F8DE-9914A74879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EBEA0B-E5C6-0AEF-FA70-79485982763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65F4CB9-903D-3856-E232-304FD1659C0C}"/>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8" name="Footer Placeholder 7">
            <a:extLst>
              <a:ext uri="{FF2B5EF4-FFF2-40B4-BE49-F238E27FC236}">
                <a16:creationId xmlns:a16="http://schemas.microsoft.com/office/drawing/2014/main" id="{0861AD82-AD02-3F0A-58FD-24124F37DD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2DA6F96-A17C-C535-A05C-C57E5292A512}"/>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911092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51355-51BF-619F-B6CE-62E031FF190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3914F4-7F4F-91B5-0597-80C59BAC7060}"/>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4" name="Footer Placeholder 3">
            <a:extLst>
              <a:ext uri="{FF2B5EF4-FFF2-40B4-BE49-F238E27FC236}">
                <a16:creationId xmlns:a16="http://schemas.microsoft.com/office/drawing/2014/main" id="{5240D03A-5AB7-54CC-7A5E-1390DC80F8F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FEF68E-9C35-4632-C2E9-8620FD76C6F7}"/>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1752483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3B5BAE-3FE0-FB18-6CD1-D4D0C28529E5}"/>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3" name="Footer Placeholder 2">
            <a:extLst>
              <a:ext uri="{FF2B5EF4-FFF2-40B4-BE49-F238E27FC236}">
                <a16:creationId xmlns:a16="http://schemas.microsoft.com/office/drawing/2014/main" id="{A3DA1A04-7115-6BCD-D924-4DBF679E62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9A52AE-70E4-E5DA-A2C0-05F5ABD4A3C8}"/>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3170302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A782C-0218-3ACC-0F05-8D6EC958B8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63BF86-404E-47D7-001B-6B9CBCA001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73FA04-C0FC-EC0C-72F2-999D891E4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BB3323-27B2-1F86-0142-61FC45F53A95}"/>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6" name="Footer Placeholder 5">
            <a:extLst>
              <a:ext uri="{FF2B5EF4-FFF2-40B4-BE49-F238E27FC236}">
                <a16:creationId xmlns:a16="http://schemas.microsoft.com/office/drawing/2014/main" id="{5DA039E4-8838-63E7-91B9-4ED189296D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438C7A-5AE4-2929-4958-76D4A62B5ED7}"/>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78762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022B-59BF-F7D5-6A5F-28BE5CF50B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F248FC-BAA3-895D-201A-A10EF2213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FB5F049-5A3B-9EEC-EBF3-66834D920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7AD495-5127-60D2-E4E1-3ED31A692C84}"/>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6" name="Footer Placeholder 5">
            <a:extLst>
              <a:ext uri="{FF2B5EF4-FFF2-40B4-BE49-F238E27FC236}">
                <a16:creationId xmlns:a16="http://schemas.microsoft.com/office/drawing/2014/main" id="{19DD4297-B9F5-46A9-E433-B3A5F28B8C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539B20-089D-3F75-2AAC-3C097BC8253A}"/>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87753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EA5CE-A64F-A83A-3AE3-475ED5DFC1A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C9F92F-A157-E765-0E85-2297EAAFDD5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717E68-E949-72E4-F29A-335B450ABF13}"/>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5" name="Footer Placeholder 4">
            <a:extLst>
              <a:ext uri="{FF2B5EF4-FFF2-40B4-BE49-F238E27FC236}">
                <a16:creationId xmlns:a16="http://schemas.microsoft.com/office/drawing/2014/main" id="{180FCB73-333E-EEB9-8CF4-D703435F86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93E5B2-14D6-0BEF-31F4-D86080443E36}"/>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4139297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60CD1B-6C82-8978-D486-B373D28D49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77D015-73CE-A6EC-E13A-6A16879F23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26C0E3-BD07-E781-DCDE-F64220BCB621}"/>
              </a:ext>
            </a:extLst>
          </p:cNvPr>
          <p:cNvSpPr>
            <a:spLocks noGrp="1"/>
          </p:cNvSpPr>
          <p:nvPr>
            <p:ph type="dt" sz="half" idx="10"/>
          </p:nvPr>
        </p:nvSpPr>
        <p:spPr/>
        <p:txBody>
          <a:bodyPr/>
          <a:lstStyle/>
          <a:p>
            <a:fld id="{48A87A34-81AB-432B-8DAE-1953F412C126}" type="datetimeFigureOut">
              <a:rPr lang="en-US" smtClean="0"/>
              <a:t>7/30/2023</a:t>
            </a:fld>
            <a:endParaRPr lang="en-US"/>
          </a:p>
        </p:txBody>
      </p:sp>
      <p:sp>
        <p:nvSpPr>
          <p:cNvPr id="5" name="Footer Placeholder 4">
            <a:extLst>
              <a:ext uri="{FF2B5EF4-FFF2-40B4-BE49-F238E27FC236}">
                <a16:creationId xmlns:a16="http://schemas.microsoft.com/office/drawing/2014/main" id="{6FD51D9C-7E88-A7BA-9B91-E8D21F6F68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05EB9-FC19-DE35-1746-EA0EE1006CE1}"/>
              </a:ext>
            </a:extLst>
          </p:cNvPr>
          <p:cNvSpPr>
            <a:spLocks noGrp="1"/>
          </p:cNvSpPr>
          <p:nvPr>
            <p:ph type="sldNum" sz="quarter" idx="12"/>
          </p:nvPr>
        </p:nvSpPr>
        <p:spPr/>
        <p:txBody>
          <a:bodyPr/>
          <a:lstStyle/>
          <a:p>
            <a:fld id="{6D22F896-40B5-4ADD-8801-0D06FADFA095}" type="slidenum">
              <a:rPr lang="en-US" smtClean="0"/>
              <a:t>‹#›</a:t>
            </a:fld>
            <a:endParaRPr lang="en-US"/>
          </a:p>
        </p:txBody>
      </p:sp>
    </p:spTree>
    <p:extLst>
      <p:ext uri="{BB962C8B-B14F-4D97-AF65-F5344CB8AC3E}">
        <p14:creationId xmlns:p14="http://schemas.microsoft.com/office/powerpoint/2010/main" val="67406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09FF35-3D7F-4395-BA39-A856E139DC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DACE7A-1D21-4AF0-17B5-FE592768AE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148C2D-1AC4-ED51-10E8-54976C7812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A87A34-81AB-432B-8DAE-1953F412C126}" type="datetimeFigureOut">
              <a:rPr lang="en-US" smtClean="0"/>
              <a:pPr/>
              <a:t>7/30/2023</a:t>
            </a:fld>
            <a:endParaRPr lang="en-US"/>
          </a:p>
        </p:txBody>
      </p:sp>
      <p:sp>
        <p:nvSpPr>
          <p:cNvPr id="5" name="Footer Placeholder 4">
            <a:extLst>
              <a:ext uri="{FF2B5EF4-FFF2-40B4-BE49-F238E27FC236}">
                <a16:creationId xmlns:a16="http://schemas.microsoft.com/office/drawing/2014/main" id="{263589BE-22BD-A00A-B56A-0DA847D6167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F3FC94A-4E0C-3559-4F1E-78BA56FACC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22F896-40B5-4ADD-8801-0D06FADFA095}" type="slidenum">
              <a:rPr lang="en-US" smtClean="0"/>
              <a:pPr/>
              <a:t>‹#›</a:t>
            </a:fld>
            <a:endParaRPr lang="en-US"/>
          </a:p>
        </p:txBody>
      </p:sp>
    </p:spTree>
    <p:extLst>
      <p:ext uri="{BB962C8B-B14F-4D97-AF65-F5344CB8AC3E}">
        <p14:creationId xmlns:p14="http://schemas.microsoft.com/office/powerpoint/2010/main" val="3362437212"/>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SELECT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211976" y="3136199"/>
            <a:ext cx="9379132"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t>Question 1: SELECT </a:t>
            </a:r>
            <a:r>
              <a:rPr lang="en-US" sz="1400" dirty="0" err="1"/>
              <a:t>NationalIDNumber</a:t>
            </a:r>
            <a:r>
              <a:rPr lang="en-US" sz="1400" dirty="0"/>
              <a:t> FROM </a:t>
            </a:r>
            <a:r>
              <a:rPr lang="en-US" sz="1400" dirty="0" err="1"/>
              <a:t>HumanResources.Employee</a:t>
            </a:r>
            <a:r>
              <a:rPr lang="en-US" sz="1400" dirty="0"/>
              <a:t> </a:t>
            </a:r>
          </a:p>
          <a:p>
            <a:pPr marL="285750" indent="-285750">
              <a:buFont typeface="Arial" panose="020B0604020202020204" pitchFamily="34" charset="0"/>
              <a:buChar char="•"/>
            </a:pPr>
            <a:r>
              <a:rPr lang="en-US" sz="1400" dirty="0"/>
              <a:t>Question 2: SELECT </a:t>
            </a:r>
            <a:r>
              <a:rPr lang="en-US" sz="1400" dirty="0" err="1"/>
              <a:t>NationalIDNumber</a:t>
            </a:r>
            <a:r>
              <a:rPr lang="en-US" sz="1400" dirty="0"/>
              <a:t>, </a:t>
            </a:r>
            <a:r>
              <a:rPr lang="en-US" sz="1400" dirty="0" err="1"/>
              <a:t>JobTitle</a:t>
            </a:r>
            <a:r>
              <a:rPr lang="en-US" sz="1400" dirty="0"/>
              <a:t> FROM </a:t>
            </a:r>
            <a:r>
              <a:rPr lang="en-US" sz="1400" dirty="0" err="1"/>
              <a:t>HumanResources.Employee</a:t>
            </a:r>
            <a:r>
              <a:rPr lang="en-US" sz="1400" dirty="0"/>
              <a:t> </a:t>
            </a:r>
          </a:p>
          <a:p>
            <a:pPr marL="285750" indent="-285750">
              <a:buFont typeface="Arial" panose="020B0604020202020204" pitchFamily="34" charset="0"/>
              <a:buChar char="•"/>
            </a:pPr>
            <a:r>
              <a:rPr lang="en-US" sz="1400" dirty="0"/>
              <a:t>Question 3: SELECT TOP 10 PERCENT </a:t>
            </a:r>
            <a:r>
              <a:rPr lang="en-US" sz="1400" dirty="0" err="1"/>
              <a:t>NationalIDNumber</a:t>
            </a:r>
            <a:r>
              <a:rPr lang="en-US" sz="1400" dirty="0"/>
              <a:t>, </a:t>
            </a:r>
            <a:r>
              <a:rPr lang="en-US" sz="1400" dirty="0" err="1"/>
              <a:t>JobTitle</a:t>
            </a:r>
            <a:r>
              <a:rPr lang="en-US" sz="1400" dirty="0"/>
              <a:t>, </a:t>
            </a:r>
            <a:r>
              <a:rPr lang="en-US" sz="1400" dirty="0" err="1"/>
              <a:t>BirthDate</a:t>
            </a:r>
            <a:r>
              <a:rPr lang="en-US" sz="1400" dirty="0"/>
              <a:t> FROM </a:t>
            </a:r>
            <a:r>
              <a:rPr lang="en-US" sz="1400" dirty="0" err="1"/>
              <a:t>HumanResources.Employee</a:t>
            </a:r>
            <a:r>
              <a:rPr lang="en-US" sz="1400" dirty="0"/>
              <a:t> </a:t>
            </a:r>
          </a:p>
          <a:p>
            <a:pPr marL="285750" indent="-285750">
              <a:buFont typeface="Arial" panose="020B0604020202020204" pitchFamily="34" charset="0"/>
              <a:buChar char="•"/>
            </a:pPr>
            <a:r>
              <a:rPr lang="en-US" sz="1400" dirty="0"/>
              <a:t>Question 4: SELECT TOP 100 </a:t>
            </a:r>
            <a:r>
              <a:rPr lang="en-US" sz="1400" dirty="0" err="1"/>
              <a:t>NationalIDNumber</a:t>
            </a:r>
            <a:r>
              <a:rPr lang="en-US" sz="1400" dirty="0"/>
              <a:t> AS SSN, </a:t>
            </a:r>
            <a:r>
              <a:rPr lang="en-US" sz="1400" dirty="0" err="1"/>
              <a:t>JobTitle</a:t>
            </a:r>
            <a:r>
              <a:rPr lang="en-US" sz="1400" dirty="0"/>
              <a:t> AS [Job Title], </a:t>
            </a:r>
            <a:r>
              <a:rPr lang="en-US" sz="1400" dirty="0" err="1"/>
              <a:t>BirthDate</a:t>
            </a:r>
            <a:r>
              <a:rPr lang="en-US" sz="1400" dirty="0"/>
              <a:t> FROM </a:t>
            </a:r>
            <a:r>
              <a:rPr lang="en-US" sz="1400" dirty="0" err="1"/>
              <a:t>HumanResources.Employee</a:t>
            </a:r>
            <a:r>
              <a:rPr lang="en-US" sz="1400" dirty="0"/>
              <a:t> </a:t>
            </a:r>
          </a:p>
          <a:p>
            <a:pPr marL="285750" indent="-285750">
              <a:buFont typeface="Arial" panose="020B0604020202020204" pitchFamily="34" charset="0"/>
              <a:buChar char="•"/>
            </a:pPr>
            <a:r>
              <a:rPr lang="en-US" sz="1400" dirty="0"/>
              <a:t>Question 5: SELECT * FROM </a:t>
            </a:r>
            <a:r>
              <a:rPr lang="en-US" sz="1400" dirty="0" err="1"/>
              <a:t>Sales.SalesOrderHeader</a:t>
            </a:r>
            <a:endParaRPr lang="en-US" sz="1400" dirty="0"/>
          </a:p>
          <a:p>
            <a:pPr marL="285750" indent="-285750">
              <a:buFont typeface="Arial" panose="020B0604020202020204" pitchFamily="34" charset="0"/>
              <a:buChar char="•"/>
            </a:pPr>
            <a:r>
              <a:rPr lang="en-US" sz="1400" dirty="0"/>
              <a:t>Question 6: SELECT TOP 50 PERCENT * FROM </a:t>
            </a:r>
            <a:r>
              <a:rPr lang="en-US" sz="1400" dirty="0" err="1"/>
              <a:t>Sales.Customer</a:t>
            </a:r>
            <a:r>
              <a:rPr lang="en-US" sz="1400" dirty="0"/>
              <a:t> </a:t>
            </a:r>
          </a:p>
          <a:p>
            <a:pPr marL="285750" indent="-285750">
              <a:buFont typeface="Arial" panose="020B0604020202020204" pitchFamily="34" charset="0"/>
              <a:buChar char="•"/>
            </a:pPr>
            <a:r>
              <a:rPr lang="en-US" sz="1400" dirty="0"/>
              <a:t>Question 7: SELECT Name AS [Product's Name] FROM </a:t>
            </a:r>
            <a:r>
              <a:rPr lang="en-US" sz="1400" dirty="0" err="1"/>
              <a:t>Production.vProductAndDescription</a:t>
            </a:r>
            <a:r>
              <a:rPr lang="en-US" sz="1400" dirty="0"/>
              <a:t> </a:t>
            </a:r>
          </a:p>
          <a:p>
            <a:pPr marL="285750" indent="-285750">
              <a:buFont typeface="Arial" panose="020B0604020202020204" pitchFamily="34" charset="0"/>
              <a:buChar char="•"/>
            </a:pPr>
            <a:r>
              <a:rPr lang="en-US" sz="1400" dirty="0"/>
              <a:t>Question 8: SELECT TOP 400 * FROM </a:t>
            </a:r>
            <a:r>
              <a:rPr lang="en-US" sz="1400" dirty="0" err="1"/>
              <a:t>HumanResources.Department</a:t>
            </a:r>
            <a:r>
              <a:rPr lang="en-US" sz="1400" dirty="0"/>
              <a:t> </a:t>
            </a:r>
          </a:p>
          <a:p>
            <a:pPr marL="285750" indent="-285750">
              <a:buFont typeface="Arial" panose="020B0604020202020204" pitchFamily="34" charset="0"/>
              <a:buChar char="•"/>
            </a:pPr>
            <a:r>
              <a:rPr lang="en-US" sz="1400" dirty="0"/>
              <a:t>Question 9: SELECT * FROM </a:t>
            </a:r>
            <a:r>
              <a:rPr lang="en-US" sz="1400" dirty="0" err="1"/>
              <a:t>Production.BillOfMaterials</a:t>
            </a:r>
            <a:r>
              <a:rPr lang="en-US" sz="1400" dirty="0"/>
              <a:t> </a:t>
            </a:r>
          </a:p>
          <a:p>
            <a:pPr marL="285750" indent="-285750">
              <a:buFont typeface="Arial" panose="020B0604020202020204" pitchFamily="34" charset="0"/>
              <a:buChar char="•"/>
            </a:pPr>
            <a:r>
              <a:rPr lang="en-US" sz="1400" dirty="0"/>
              <a:t>Question 10: SELECT TOP 1500 * FROM </a:t>
            </a:r>
            <a:r>
              <a:rPr lang="en-US" sz="1400" dirty="0" err="1"/>
              <a:t>Sales.vPersonDemographics</a:t>
            </a:r>
            <a:endParaRPr lang="en-US" sz="1400" dirty="0"/>
          </a:p>
        </p:txBody>
      </p:sp>
    </p:spTree>
    <p:extLst>
      <p:ext uri="{BB962C8B-B14F-4D97-AF65-F5344CB8AC3E}">
        <p14:creationId xmlns:p14="http://schemas.microsoft.com/office/powerpoint/2010/main" val="1179588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SELECT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211976" y="3136199"/>
            <a:ext cx="9379132" cy="1169551"/>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a:t>
            </a:r>
          </a:p>
          <a:p>
            <a:pPr marL="285750" indent="-285750">
              <a:buFont typeface="Arial" panose="020B0604020202020204" pitchFamily="34" charset="0"/>
              <a:buChar char="•"/>
            </a:pPr>
            <a:r>
              <a:rPr lang="en-US" sz="1400"/>
              <a:t>Question 2: SELECT 7*4 </a:t>
            </a:r>
          </a:p>
          <a:p>
            <a:pPr marL="285750" indent="-285750">
              <a:buFont typeface="Arial" panose="020B0604020202020204" pitchFamily="34" charset="0"/>
              <a:buChar char="•"/>
            </a:pPr>
            <a:r>
              <a:rPr lang="en-US" sz="1400"/>
              <a:t>Question 3: SELECT (7-4)*8 </a:t>
            </a:r>
          </a:p>
          <a:p>
            <a:pPr marL="285750" indent="-285750">
              <a:buFont typeface="Arial" panose="020B0604020202020204" pitchFamily="34" charset="0"/>
              <a:buChar char="•"/>
            </a:pPr>
            <a:r>
              <a:rPr lang="en-US" sz="1400"/>
              <a:t>Question 4: SELECT ‘BDA''s SQL Training </a:t>
            </a:r>
            <a:r>
              <a:rPr lang="en-US" sz="1400" err="1"/>
              <a:t>Class’</a:t>
            </a:r>
            <a:r>
              <a:rPr lang="en-US" sz="1400"/>
              <a:t> </a:t>
            </a:r>
          </a:p>
          <a:p>
            <a:pPr marL="285750" indent="-285750">
              <a:buFont typeface="Arial" panose="020B0604020202020204" pitchFamily="34" charset="0"/>
              <a:buChar char="•"/>
            </a:pPr>
            <a:r>
              <a:rPr lang="en-US" sz="1400"/>
              <a:t>Question 5: SELECT 'Day 1 of Training', 5*3</a:t>
            </a:r>
          </a:p>
        </p:txBody>
      </p:sp>
    </p:spTree>
    <p:extLst>
      <p:ext uri="{BB962C8B-B14F-4D97-AF65-F5344CB8AC3E}">
        <p14:creationId xmlns:p14="http://schemas.microsoft.com/office/powerpoint/2010/main" val="1271124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2100806" y="-120162"/>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974092" y="916631"/>
            <a:ext cx="8791575" cy="564939"/>
          </a:xfrm>
        </p:spPr>
        <p:txBody>
          <a:bodyPr>
            <a:normAutofit/>
          </a:bodyPr>
          <a:lstStyle/>
          <a:p>
            <a:pPr algn="ctr"/>
            <a:r>
              <a:rPr lang="en-US">
                <a:solidFill>
                  <a:srgbClr val="FFC000"/>
                </a:solidFill>
              </a:rPr>
              <a:t>where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1067156" y="1791789"/>
            <a:ext cx="10858874" cy="3970318"/>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FROM </a:t>
            </a:r>
            <a:r>
              <a:rPr lang="en-US" sz="1400" err="1"/>
              <a:t>Person.Person</a:t>
            </a:r>
            <a:r>
              <a:rPr lang="en-US" sz="1400"/>
              <a:t> WHERE FirstName = 'Mark'</a:t>
            </a:r>
          </a:p>
          <a:p>
            <a:pPr marL="285750" indent="-285750">
              <a:buFont typeface="Arial" panose="020B0604020202020204" pitchFamily="34" charset="0"/>
              <a:buChar char="•"/>
            </a:pPr>
            <a:r>
              <a:rPr lang="en-US" sz="1400"/>
              <a:t>Question 2: SELECT TOP 100 * FROM </a:t>
            </a:r>
            <a:r>
              <a:rPr lang="en-US" sz="1400" err="1"/>
              <a:t>Production.Product</a:t>
            </a:r>
            <a:r>
              <a:rPr lang="en-US" sz="1400"/>
              <a:t> WHERE </a:t>
            </a:r>
            <a:r>
              <a:rPr lang="en-US" sz="1400" err="1"/>
              <a:t>ListPrice</a:t>
            </a:r>
            <a:r>
              <a:rPr lang="en-US" sz="1400"/>
              <a:t> &lt;&gt; 0.00 </a:t>
            </a:r>
          </a:p>
          <a:p>
            <a:pPr marL="285750" indent="-285750">
              <a:buFont typeface="Arial" panose="020B0604020202020204" pitchFamily="34" charset="0"/>
              <a:buChar char="•"/>
            </a:pPr>
            <a:r>
              <a:rPr lang="en-US" sz="1400"/>
              <a:t>Question 3: SELECT * FROM </a:t>
            </a:r>
            <a:r>
              <a:rPr lang="en-US" sz="1400" err="1"/>
              <a:t>HumanResources.vEmployee</a:t>
            </a:r>
            <a:r>
              <a:rPr lang="en-US" sz="1400"/>
              <a:t> WHERE </a:t>
            </a:r>
            <a:r>
              <a:rPr lang="en-US" sz="1400" err="1"/>
              <a:t>LastName</a:t>
            </a:r>
            <a:r>
              <a:rPr lang="en-US" sz="1400"/>
              <a:t> &lt; 'D’ </a:t>
            </a:r>
          </a:p>
          <a:p>
            <a:pPr marL="285750" indent="-285750">
              <a:buFont typeface="Arial" panose="020B0604020202020204" pitchFamily="34" charset="0"/>
              <a:buChar char="•"/>
            </a:pPr>
            <a:r>
              <a:rPr lang="en-US" sz="1400"/>
              <a:t>Question 4: SELECT * FROM </a:t>
            </a:r>
            <a:r>
              <a:rPr lang="en-US" sz="1400" err="1"/>
              <a:t>Person.StateProvince</a:t>
            </a:r>
            <a:r>
              <a:rPr lang="en-US" sz="1400"/>
              <a:t> WHERE </a:t>
            </a:r>
            <a:r>
              <a:rPr lang="en-US" sz="1400" err="1"/>
              <a:t>CountryRegionCode</a:t>
            </a:r>
            <a:r>
              <a:rPr lang="en-US" sz="1400"/>
              <a:t> = 'CA’ </a:t>
            </a:r>
          </a:p>
          <a:p>
            <a:pPr marL="285750" indent="-285750">
              <a:buFont typeface="Arial" panose="020B0604020202020204" pitchFamily="34" charset="0"/>
              <a:buChar char="•"/>
            </a:pPr>
            <a:r>
              <a:rPr lang="en-US" sz="1400"/>
              <a:t>Question 5: SELECT FirstName AS "Customer First Name", </a:t>
            </a:r>
            <a:r>
              <a:rPr lang="en-US" sz="1400" err="1"/>
              <a:t>LastName</a:t>
            </a:r>
            <a:r>
              <a:rPr lang="en-US" sz="1400"/>
              <a:t> AS "Customer Last Name" FROM </a:t>
            </a:r>
            <a:r>
              <a:rPr lang="en-US" sz="1400" err="1"/>
              <a:t>Sales.vIndividualCustomer</a:t>
            </a:r>
            <a:r>
              <a:rPr lang="en-US" sz="1400"/>
              <a:t> WHERE </a:t>
            </a:r>
            <a:r>
              <a:rPr lang="en-US" sz="1400" err="1"/>
              <a:t>LastName</a:t>
            </a:r>
            <a:r>
              <a:rPr lang="en-US" sz="1400"/>
              <a:t> = 'Smith’</a:t>
            </a:r>
          </a:p>
          <a:p>
            <a:pPr marL="285750" indent="-285750">
              <a:buFont typeface="Arial" panose="020B0604020202020204" pitchFamily="34" charset="0"/>
              <a:buChar char="•"/>
            </a:pPr>
            <a:r>
              <a:rPr lang="en-US" sz="1400"/>
              <a:t>Question 6: SELECT * FROM </a:t>
            </a:r>
            <a:r>
              <a:rPr lang="en-US" sz="1400" err="1"/>
              <a:t>Sales.vIndividualCustomer</a:t>
            </a:r>
            <a:r>
              <a:rPr lang="en-US" sz="1400"/>
              <a:t> WHERE </a:t>
            </a:r>
            <a:r>
              <a:rPr lang="en-US" sz="1400" err="1"/>
              <a:t>CountryRegionName</a:t>
            </a:r>
            <a:r>
              <a:rPr lang="en-US" sz="1400"/>
              <a:t> = 'Australia' OR (</a:t>
            </a:r>
            <a:r>
              <a:rPr lang="en-US" sz="1400" err="1"/>
              <a:t>PhoneNumberType</a:t>
            </a:r>
            <a:r>
              <a:rPr lang="en-US" sz="1400"/>
              <a:t> = 'Cell' AND </a:t>
            </a:r>
            <a:r>
              <a:rPr lang="en-US" sz="1400" err="1"/>
              <a:t>EmailPromotion</a:t>
            </a:r>
            <a:r>
              <a:rPr lang="en-US" sz="1400"/>
              <a:t> = 0) </a:t>
            </a:r>
          </a:p>
          <a:p>
            <a:pPr marL="285750" indent="-285750">
              <a:buFont typeface="Arial" panose="020B0604020202020204" pitchFamily="34" charset="0"/>
              <a:buChar char="•"/>
            </a:pPr>
            <a:r>
              <a:rPr lang="en-US" sz="1400"/>
              <a:t>Question 7: SELECT * FROM </a:t>
            </a:r>
            <a:r>
              <a:rPr lang="en-US" sz="1400" err="1"/>
              <a:t>HumanResources.vEmployeeDepartment</a:t>
            </a:r>
            <a:r>
              <a:rPr lang="en-US" sz="1400"/>
              <a:t> WHERE Department IN ('Executive', 'Tool Design', 'Engineering') SELECT * FROM </a:t>
            </a:r>
            <a:r>
              <a:rPr lang="en-US" sz="1400" err="1"/>
              <a:t>HumanResources.vEmployeeDepartment</a:t>
            </a:r>
            <a:r>
              <a:rPr lang="en-US" sz="1400"/>
              <a:t> WHERE Department = 'Executive' OR Department = 'Tool Design' OR Department = 'Engineering’ </a:t>
            </a:r>
          </a:p>
          <a:p>
            <a:pPr marL="285750" indent="-285750">
              <a:buFont typeface="Arial" panose="020B0604020202020204" pitchFamily="34" charset="0"/>
              <a:buChar char="•"/>
            </a:pPr>
            <a:r>
              <a:rPr lang="en-US" sz="1400"/>
              <a:t>Question 8: SELECT * FROM </a:t>
            </a:r>
            <a:r>
              <a:rPr lang="en-US" sz="1400" err="1"/>
              <a:t>HumanResources.vEmployeeDepartment</a:t>
            </a:r>
            <a:r>
              <a:rPr lang="en-US" sz="1400"/>
              <a:t> WHERE StartDate BETWEEN '7/1/2000' AND '6/30/2002' SELECT * FROM </a:t>
            </a:r>
            <a:r>
              <a:rPr lang="en-US" sz="1400" err="1"/>
              <a:t>HumanResources.vEmployeeDepartment</a:t>
            </a:r>
            <a:r>
              <a:rPr lang="en-US" sz="1400"/>
              <a:t> WHERE StartDate &gt;= '7/1/2000' AND StartDate &lt;= '6/30/2002’ </a:t>
            </a:r>
          </a:p>
          <a:p>
            <a:pPr marL="285750" indent="-285750">
              <a:buFont typeface="Arial" panose="020B0604020202020204" pitchFamily="34" charset="0"/>
              <a:buChar char="•"/>
            </a:pPr>
            <a:r>
              <a:rPr lang="en-US" sz="1400"/>
              <a:t>Question 9: SELECT * FROM </a:t>
            </a:r>
            <a:r>
              <a:rPr lang="en-US" sz="1400" err="1"/>
              <a:t>Sales.vIndividualCustomer</a:t>
            </a:r>
            <a:r>
              <a:rPr lang="en-US" sz="1400"/>
              <a:t> WHERE </a:t>
            </a:r>
            <a:r>
              <a:rPr lang="en-US" sz="1400" err="1"/>
              <a:t>LastName</a:t>
            </a:r>
            <a:r>
              <a:rPr lang="en-US" sz="1400"/>
              <a:t> LIKE 'R%’ </a:t>
            </a:r>
          </a:p>
          <a:p>
            <a:pPr marL="285750" indent="-285750">
              <a:buFont typeface="Arial" panose="020B0604020202020204" pitchFamily="34" charset="0"/>
              <a:buChar char="•"/>
            </a:pPr>
            <a:r>
              <a:rPr lang="en-US" sz="1400"/>
              <a:t>Question 10: SELECT * FROM </a:t>
            </a:r>
            <a:r>
              <a:rPr lang="en-US" sz="1400" err="1"/>
              <a:t>Sales.vIndividualCustomer</a:t>
            </a:r>
            <a:r>
              <a:rPr lang="en-US" sz="1400"/>
              <a:t> WHERE </a:t>
            </a:r>
            <a:r>
              <a:rPr lang="en-US" sz="1400" err="1"/>
              <a:t>LastName</a:t>
            </a:r>
            <a:r>
              <a:rPr lang="en-US" sz="1400"/>
              <a:t> LIKE '%r’ </a:t>
            </a:r>
          </a:p>
          <a:p>
            <a:pPr marL="285750" indent="-285750">
              <a:buFont typeface="Arial" panose="020B0604020202020204" pitchFamily="34" charset="0"/>
              <a:buChar char="•"/>
            </a:pPr>
            <a:r>
              <a:rPr lang="en-US" sz="1400"/>
              <a:t>Question 11: SELECT * FROM </a:t>
            </a:r>
            <a:r>
              <a:rPr lang="en-US" sz="1400" err="1"/>
              <a:t>Sales.vIndividualCustomer</a:t>
            </a:r>
            <a:r>
              <a:rPr lang="en-US" sz="1400"/>
              <a:t> WHERE </a:t>
            </a:r>
            <a:r>
              <a:rPr lang="en-US" sz="1400" err="1"/>
              <a:t>LastName</a:t>
            </a:r>
            <a:r>
              <a:rPr lang="en-US" sz="1400"/>
              <a:t> IN ('Lopez', 'Martin', 'Wood') AND FirstName LIKE '[C-L]%’ </a:t>
            </a:r>
          </a:p>
          <a:p>
            <a:pPr marL="285750" indent="-285750">
              <a:buFont typeface="Arial" panose="020B0604020202020204" pitchFamily="34" charset="0"/>
              <a:buChar char="•"/>
            </a:pPr>
            <a:r>
              <a:rPr lang="en-US" sz="1400"/>
              <a:t>Question 12: SELECT * FROM </a:t>
            </a:r>
            <a:r>
              <a:rPr lang="en-US" sz="1400" err="1"/>
              <a:t>Sales.SalesOrderHeader</a:t>
            </a:r>
            <a:r>
              <a:rPr lang="en-US" sz="1400"/>
              <a:t> WHERE </a:t>
            </a:r>
            <a:r>
              <a:rPr lang="en-US" sz="1400" err="1"/>
              <a:t>SalesPersonID</a:t>
            </a:r>
            <a:r>
              <a:rPr lang="en-US" sz="1400"/>
              <a:t> IS NOT NULL </a:t>
            </a:r>
          </a:p>
          <a:p>
            <a:pPr marL="285750" indent="-285750">
              <a:buFont typeface="Arial" panose="020B0604020202020204" pitchFamily="34" charset="0"/>
              <a:buChar char="•"/>
            </a:pPr>
            <a:r>
              <a:rPr lang="en-US" sz="1400"/>
              <a:t>Question 13: SELECT </a:t>
            </a:r>
            <a:r>
              <a:rPr lang="en-US" sz="1400" err="1"/>
              <a:t>SalesPersonID</a:t>
            </a:r>
            <a:r>
              <a:rPr lang="en-US" sz="1400"/>
              <a:t>, </a:t>
            </a:r>
            <a:r>
              <a:rPr lang="en-US" sz="1400" err="1"/>
              <a:t>TotalDue</a:t>
            </a:r>
            <a:r>
              <a:rPr lang="en-US" sz="1400"/>
              <a:t> FROM </a:t>
            </a:r>
            <a:r>
              <a:rPr lang="en-US" sz="1400" err="1"/>
              <a:t>Sales.SalesOrderHeader</a:t>
            </a:r>
            <a:r>
              <a:rPr lang="en-US" sz="1400"/>
              <a:t> WHERE </a:t>
            </a:r>
            <a:r>
              <a:rPr lang="en-US" sz="1400" err="1"/>
              <a:t>SalesPersonID</a:t>
            </a:r>
            <a:r>
              <a:rPr lang="en-US" sz="1400"/>
              <a:t> IS NOT NULL AND </a:t>
            </a:r>
            <a:r>
              <a:rPr lang="en-US" sz="1400" err="1"/>
              <a:t>TotalDue</a:t>
            </a:r>
            <a:r>
              <a:rPr lang="en-US" sz="1400"/>
              <a:t> &gt; 7000</a:t>
            </a:r>
          </a:p>
          <a:p>
            <a:pPr marL="285750" indent="-285750">
              <a:buFont typeface="Arial" panose="020B0604020202020204" pitchFamily="34" charset="0"/>
              <a:buChar char="•"/>
            </a:pPr>
            <a:endParaRPr lang="en-US" sz="1400"/>
          </a:p>
        </p:txBody>
      </p:sp>
    </p:spTree>
    <p:extLst>
      <p:ext uri="{BB962C8B-B14F-4D97-AF65-F5344CB8AC3E}">
        <p14:creationId xmlns:p14="http://schemas.microsoft.com/office/powerpoint/2010/main" val="4120292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SORT</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1826046" y="3429000"/>
            <a:ext cx="9686518" cy="2031325"/>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a:t>
            </a:r>
            <a:r>
              <a:rPr lang="en-US" sz="1400" err="1"/>
              <a:t>JobTitle</a:t>
            </a:r>
            <a:r>
              <a:rPr lang="en-US" sz="1400"/>
              <a:t> FROM </a:t>
            </a:r>
            <a:r>
              <a:rPr lang="en-US" sz="1400" err="1"/>
              <a:t>HumanResources.vEmployeeDepartment</a:t>
            </a:r>
            <a:r>
              <a:rPr lang="en-US" sz="1400"/>
              <a:t> ORDER BY FirstName ASC </a:t>
            </a:r>
          </a:p>
          <a:p>
            <a:pPr marL="285750" indent="-285750">
              <a:buFont typeface="Arial" panose="020B0604020202020204" pitchFamily="34" charset="0"/>
              <a:buChar char="•"/>
            </a:pPr>
            <a:r>
              <a:rPr lang="en-US" sz="1400"/>
              <a:t>Question 2: SELECT FirstName, </a:t>
            </a:r>
            <a:r>
              <a:rPr lang="en-US" sz="1400" err="1"/>
              <a:t>LastName</a:t>
            </a:r>
            <a:r>
              <a:rPr lang="en-US" sz="1400"/>
              <a:t>, </a:t>
            </a:r>
            <a:r>
              <a:rPr lang="en-US" sz="1400" err="1"/>
              <a:t>JobTitle</a:t>
            </a:r>
            <a:r>
              <a:rPr lang="en-US" sz="1400"/>
              <a:t> FROM </a:t>
            </a:r>
            <a:r>
              <a:rPr lang="en-US" sz="1400" err="1"/>
              <a:t>HumanResources.vEmployeeDepartment</a:t>
            </a:r>
            <a:r>
              <a:rPr lang="en-US" sz="1400"/>
              <a:t> ORDER BY FirstName, </a:t>
            </a:r>
            <a:r>
              <a:rPr lang="en-US" sz="1400" err="1"/>
              <a:t>LastName</a:t>
            </a:r>
            <a:r>
              <a:rPr lang="en-US" sz="1400"/>
              <a:t> DESC </a:t>
            </a:r>
          </a:p>
          <a:p>
            <a:pPr marL="285750" indent="-285750">
              <a:buFont typeface="Arial" panose="020B0604020202020204" pitchFamily="34" charset="0"/>
              <a:buChar char="•"/>
            </a:pPr>
            <a:r>
              <a:rPr lang="en-US" sz="1400"/>
              <a:t>Question 3: SELECT FirstName, </a:t>
            </a:r>
            <a:r>
              <a:rPr lang="en-US" sz="1400" err="1"/>
              <a:t>LastName</a:t>
            </a:r>
            <a:r>
              <a:rPr lang="en-US" sz="1400"/>
              <a:t>, </a:t>
            </a:r>
            <a:r>
              <a:rPr lang="en-US" sz="1400" err="1"/>
              <a:t>CountryRegionName</a:t>
            </a:r>
            <a:r>
              <a:rPr lang="en-US" sz="1400"/>
              <a:t> FROM </a:t>
            </a:r>
            <a:r>
              <a:rPr lang="en-US" sz="1400" err="1"/>
              <a:t>Sales.vIndividualCustomer</a:t>
            </a:r>
            <a:r>
              <a:rPr lang="en-US" sz="1400"/>
              <a:t> ORDER BY 3 </a:t>
            </a:r>
          </a:p>
          <a:p>
            <a:pPr marL="285750" indent="-285750">
              <a:buFont typeface="Arial" panose="020B0604020202020204" pitchFamily="34" charset="0"/>
              <a:buChar char="•"/>
            </a:pPr>
            <a:r>
              <a:rPr lang="en-US" sz="1400"/>
              <a:t>Question 4: SELECT FirstName, </a:t>
            </a:r>
            <a:r>
              <a:rPr lang="en-US" sz="1400" err="1"/>
              <a:t>LastName</a:t>
            </a:r>
            <a:r>
              <a:rPr lang="en-US" sz="1400"/>
              <a:t>, </a:t>
            </a:r>
            <a:r>
              <a:rPr lang="en-US" sz="1400" err="1"/>
              <a:t>CountryRegionName</a:t>
            </a:r>
            <a:r>
              <a:rPr lang="en-US" sz="1400"/>
              <a:t> FROM </a:t>
            </a:r>
            <a:r>
              <a:rPr lang="en-US" sz="1400" err="1"/>
              <a:t>Sales.vIndividualCustomer</a:t>
            </a:r>
            <a:r>
              <a:rPr lang="en-US" sz="1400"/>
              <a:t> WHERE </a:t>
            </a:r>
            <a:r>
              <a:rPr lang="en-US" sz="1400" err="1"/>
              <a:t>CountryRegionName</a:t>
            </a:r>
            <a:r>
              <a:rPr lang="en-US" sz="1400"/>
              <a:t> IN ('United States', 'France') ORDER BY </a:t>
            </a:r>
            <a:r>
              <a:rPr lang="en-US" sz="1400" err="1"/>
              <a:t>CountryRegionName</a:t>
            </a:r>
            <a:r>
              <a:rPr lang="en-US" sz="1400"/>
              <a:t> </a:t>
            </a:r>
          </a:p>
          <a:p>
            <a:pPr marL="285750" indent="-285750">
              <a:buFont typeface="Arial" panose="020B0604020202020204" pitchFamily="34" charset="0"/>
              <a:buChar char="•"/>
            </a:pPr>
            <a:r>
              <a:rPr lang="en-US" sz="1400"/>
              <a:t>Question 5: SELECT Name, </a:t>
            </a:r>
            <a:r>
              <a:rPr lang="en-US" sz="1400" err="1"/>
              <a:t>AnnualSales</a:t>
            </a:r>
            <a:r>
              <a:rPr lang="en-US" sz="1400"/>
              <a:t>, </a:t>
            </a:r>
            <a:r>
              <a:rPr lang="en-US" sz="1400" err="1"/>
              <a:t>YearOpened</a:t>
            </a:r>
            <a:r>
              <a:rPr lang="en-US" sz="1400"/>
              <a:t>, </a:t>
            </a:r>
            <a:r>
              <a:rPr lang="en-US" sz="1400" err="1"/>
              <a:t>SquareFeet</a:t>
            </a:r>
            <a:r>
              <a:rPr lang="en-US" sz="1400"/>
              <a:t> AS [Store Size], </a:t>
            </a:r>
            <a:r>
              <a:rPr lang="en-US" sz="1400" err="1"/>
              <a:t>NumberEmployees</a:t>
            </a:r>
            <a:r>
              <a:rPr lang="en-US" sz="1400"/>
              <a:t> AS [Total Employees] FROM </a:t>
            </a:r>
            <a:r>
              <a:rPr lang="en-US" sz="1400" err="1"/>
              <a:t>Sales.vStoreWithDemographics</a:t>
            </a:r>
            <a:r>
              <a:rPr lang="en-US" sz="1400"/>
              <a:t> WHERE </a:t>
            </a:r>
            <a:r>
              <a:rPr lang="en-US" sz="1400" err="1"/>
              <a:t>AnnualSales</a:t>
            </a:r>
            <a:r>
              <a:rPr lang="en-US" sz="1400"/>
              <a:t> &gt; 1000000 AND </a:t>
            </a:r>
            <a:r>
              <a:rPr lang="en-US" sz="1400" err="1"/>
              <a:t>NumberEmployees</a:t>
            </a:r>
            <a:r>
              <a:rPr lang="en-US" sz="1400"/>
              <a:t> &gt;= 45 ORDER BY [Store Size] DESC, [Total Employees] DESC</a:t>
            </a:r>
          </a:p>
        </p:txBody>
      </p:sp>
    </p:spTree>
    <p:extLst>
      <p:ext uri="{BB962C8B-B14F-4D97-AF65-F5344CB8AC3E}">
        <p14:creationId xmlns:p14="http://schemas.microsoft.com/office/powerpoint/2010/main" val="13322190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INNER JOIN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545096" y="3343832"/>
            <a:ext cx="8523497" cy="1384995"/>
          </a:xfrm>
          <a:prstGeom prst="rect">
            <a:avLst/>
          </a:prstGeom>
          <a:noFill/>
        </p:spPr>
        <p:txBody>
          <a:bodyPr wrap="square" rtlCol="0">
            <a:spAutoFit/>
          </a:bodyPr>
          <a:lstStyle/>
          <a:p>
            <a:pPr marL="285750" indent="-285750">
              <a:buFont typeface="Arial" panose="020B0604020202020204" pitchFamily="34" charset="0"/>
              <a:buChar char="•"/>
            </a:pPr>
            <a:r>
              <a:rPr lang="en-US" sz="1200"/>
              <a:t>Question 1: SELECT </a:t>
            </a:r>
            <a:r>
              <a:rPr lang="en-US" sz="1200" err="1"/>
              <a:t>P.FirstName</a:t>
            </a:r>
            <a:r>
              <a:rPr lang="en-US" sz="1200"/>
              <a:t>, </a:t>
            </a:r>
            <a:r>
              <a:rPr lang="en-US" sz="1200" err="1"/>
              <a:t>P.LastName</a:t>
            </a:r>
            <a:r>
              <a:rPr lang="en-US" sz="1200"/>
              <a:t>, </a:t>
            </a:r>
            <a:r>
              <a:rPr lang="en-US" sz="1200" err="1"/>
              <a:t>PP.PasswordHash</a:t>
            </a:r>
            <a:r>
              <a:rPr lang="en-US" sz="1200"/>
              <a:t> FROM </a:t>
            </a:r>
            <a:r>
              <a:rPr lang="en-US" sz="1200" err="1"/>
              <a:t>Person.Person</a:t>
            </a:r>
            <a:r>
              <a:rPr lang="en-US" sz="1200"/>
              <a:t> P INNER JOIN Person.[Password] PP ON </a:t>
            </a:r>
            <a:r>
              <a:rPr lang="en-US" sz="1200" err="1"/>
              <a:t>PP.BusinessEntityID</a:t>
            </a:r>
            <a:r>
              <a:rPr lang="en-US" sz="1200"/>
              <a:t> = </a:t>
            </a:r>
            <a:r>
              <a:rPr lang="en-US" sz="1200" err="1"/>
              <a:t>P.BusinessEntityID</a:t>
            </a:r>
            <a:r>
              <a:rPr lang="en-US" sz="1200"/>
              <a:t> </a:t>
            </a:r>
          </a:p>
          <a:p>
            <a:pPr marL="285750" indent="-285750">
              <a:buFont typeface="Arial" panose="020B0604020202020204" pitchFamily="34" charset="0"/>
              <a:buChar char="•"/>
            </a:pPr>
            <a:r>
              <a:rPr lang="en-US" sz="1200"/>
              <a:t>Question 2: SELECT </a:t>
            </a:r>
            <a:r>
              <a:rPr lang="en-US" sz="1200" err="1"/>
              <a:t>E.BusinessEntityID</a:t>
            </a:r>
            <a:r>
              <a:rPr lang="en-US" sz="1200"/>
              <a:t>, </a:t>
            </a:r>
            <a:r>
              <a:rPr lang="en-US" sz="1200" err="1"/>
              <a:t>E.NationalIDNumber</a:t>
            </a:r>
            <a:r>
              <a:rPr lang="en-US" sz="1200"/>
              <a:t>, </a:t>
            </a:r>
            <a:r>
              <a:rPr lang="en-US" sz="1200" err="1"/>
              <a:t>E.JobTitle</a:t>
            </a:r>
            <a:r>
              <a:rPr lang="en-US" sz="1200"/>
              <a:t>, </a:t>
            </a:r>
            <a:r>
              <a:rPr lang="en-US" sz="1200" err="1"/>
              <a:t>EDH.DepartmentID</a:t>
            </a:r>
            <a:r>
              <a:rPr lang="en-US" sz="1200"/>
              <a:t>, </a:t>
            </a:r>
            <a:r>
              <a:rPr lang="en-US" sz="1200" err="1"/>
              <a:t>EDH.StartDate</a:t>
            </a:r>
            <a:r>
              <a:rPr lang="en-US" sz="1200"/>
              <a:t>, </a:t>
            </a:r>
            <a:r>
              <a:rPr lang="en-US" sz="1200" err="1"/>
              <a:t>EDH.EndDate</a:t>
            </a:r>
            <a:r>
              <a:rPr lang="en-US" sz="1200"/>
              <a:t> FROM </a:t>
            </a:r>
            <a:r>
              <a:rPr lang="en-US" sz="1200" err="1"/>
              <a:t>HumanResources.Employee</a:t>
            </a:r>
            <a:r>
              <a:rPr lang="en-US" sz="1200"/>
              <a:t> E INNER JOIN </a:t>
            </a:r>
            <a:r>
              <a:rPr lang="en-US" sz="1200" err="1"/>
              <a:t>HumanResources.EmployeeDepartmentHistory</a:t>
            </a:r>
            <a:r>
              <a:rPr lang="en-US" sz="1200"/>
              <a:t> EDH ON </a:t>
            </a:r>
            <a:r>
              <a:rPr lang="en-US" sz="1200" err="1"/>
              <a:t>E.BusinessEntityID</a:t>
            </a:r>
            <a:r>
              <a:rPr lang="en-US" sz="1200"/>
              <a:t> = </a:t>
            </a:r>
            <a:r>
              <a:rPr lang="en-US" sz="1200" err="1"/>
              <a:t>EDH.BusinessEntityID</a:t>
            </a:r>
            <a:r>
              <a:rPr lang="en-US" sz="1200"/>
              <a:t> </a:t>
            </a:r>
          </a:p>
          <a:p>
            <a:pPr marL="285750" indent="-285750">
              <a:buFont typeface="Arial" panose="020B0604020202020204" pitchFamily="34" charset="0"/>
              <a:buChar char="•"/>
            </a:pPr>
            <a:r>
              <a:rPr lang="en-US" sz="1200"/>
              <a:t>Question 3: SELECT </a:t>
            </a:r>
            <a:r>
              <a:rPr lang="en-US" sz="1200" err="1"/>
              <a:t>P.FirstName</a:t>
            </a:r>
            <a:r>
              <a:rPr lang="en-US" sz="1200"/>
              <a:t>, </a:t>
            </a:r>
            <a:r>
              <a:rPr lang="en-US" sz="1200" err="1"/>
              <a:t>P.LastName</a:t>
            </a:r>
            <a:r>
              <a:rPr lang="en-US" sz="1200"/>
              <a:t>, </a:t>
            </a:r>
            <a:r>
              <a:rPr lang="en-US" sz="1200" err="1"/>
              <a:t>PP.PasswordHash</a:t>
            </a:r>
            <a:r>
              <a:rPr lang="en-US" sz="1200"/>
              <a:t>, </a:t>
            </a:r>
            <a:r>
              <a:rPr lang="en-US" sz="1200" err="1"/>
              <a:t>E.EmailAddress</a:t>
            </a:r>
            <a:r>
              <a:rPr lang="en-US" sz="1200"/>
              <a:t> FROM </a:t>
            </a:r>
            <a:r>
              <a:rPr lang="en-US" sz="1200" err="1"/>
              <a:t>Person.Person</a:t>
            </a:r>
            <a:r>
              <a:rPr lang="en-US" sz="1200"/>
              <a:t> P INNER JOIN Person.[Password] PP ON </a:t>
            </a:r>
            <a:r>
              <a:rPr lang="en-US" sz="1200" err="1"/>
              <a:t>PP.BusinessEntityID</a:t>
            </a:r>
            <a:r>
              <a:rPr lang="en-US" sz="1200"/>
              <a:t> = </a:t>
            </a:r>
            <a:r>
              <a:rPr lang="en-US" sz="1200" err="1"/>
              <a:t>P.BusinessEntityID</a:t>
            </a:r>
            <a:r>
              <a:rPr lang="en-US" sz="1200"/>
              <a:t> INNER JOIN </a:t>
            </a:r>
            <a:r>
              <a:rPr lang="en-US" sz="1200" err="1"/>
              <a:t>Person.EmailAddress</a:t>
            </a:r>
            <a:r>
              <a:rPr lang="en-US" sz="1200"/>
              <a:t> E ON </a:t>
            </a:r>
            <a:r>
              <a:rPr lang="en-US" sz="1200" err="1"/>
              <a:t>E.BusinessEntityID</a:t>
            </a:r>
            <a:r>
              <a:rPr lang="en-US" sz="1200"/>
              <a:t> = </a:t>
            </a:r>
            <a:r>
              <a:rPr lang="en-US" sz="1200" err="1"/>
              <a:t>P.BusinessEntityID</a:t>
            </a:r>
            <a:r>
              <a:rPr lang="en-US" sz="1200"/>
              <a:t> </a:t>
            </a:r>
          </a:p>
        </p:txBody>
      </p:sp>
    </p:spTree>
    <p:extLst>
      <p:ext uri="{BB962C8B-B14F-4D97-AF65-F5344CB8AC3E}">
        <p14:creationId xmlns:p14="http://schemas.microsoft.com/office/powerpoint/2010/main" val="1266899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RIGHT &amp; LEFT JOIN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80823" y="2999065"/>
            <a:ext cx="6659462" cy="2893100"/>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a:t>
            </a:r>
            <a:r>
              <a:rPr lang="en-US" sz="1400" err="1"/>
              <a:t>SP.BusinessEntityID</a:t>
            </a:r>
            <a:r>
              <a:rPr lang="en-US" sz="1400"/>
              <a:t>, </a:t>
            </a:r>
            <a:r>
              <a:rPr lang="en-US" sz="1400" err="1"/>
              <a:t>SP.SalesYTD</a:t>
            </a:r>
            <a:r>
              <a:rPr lang="en-US" sz="1400"/>
              <a:t>, </a:t>
            </a:r>
            <a:r>
              <a:rPr lang="en-US" sz="1400" err="1"/>
              <a:t>ST.Name</a:t>
            </a:r>
            <a:r>
              <a:rPr lang="en-US" sz="1400"/>
              <a:t> AS [Territory Name] FROM </a:t>
            </a:r>
            <a:r>
              <a:rPr lang="en-US" sz="1400" err="1"/>
              <a:t>Sales.SalesPerson</a:t>
            </a:r>
            <a:r>
              <a:rPr lang="en-US" sz="1400"/>
              <a:t> SP LEFT OUTER JOIN </a:t>
            </a:r>
            <a:r>
              <a:rPr lang="en-US" sz="1400" err="1"/>
              <a:t>Sales.SalesTerritory</a:t>
            </a:r>
            <a:r>
              <a:rPr lang="en-US" sz="1400"/>
              <a:t> ST ON </a:t>
            </a:r>
            <a:r>
              <a:rPr lang="en-US" sz="1400" err="1"/>
              <a:t>ST.TerritoryID</a:t>
            </a:r>
            <a:r>
              <a:rPr lang="en-US" sz="1400"/>
              <a:t> = </a:t>
            </a:r>
            <a:r>
              <a:rPr lang="en-US" sz="1400" err="1"/>
              <a:t>SP.TerritoryID</a:t>
            </a:r>
            <a:r>
              <a:rPr lang="en-US" sz="1400"/>
              <a:t> </a:t>
            </a:r>
          </a:p>
          <a:p>
            <a:pPr marL="285750" indent="-285750">
              <a:buFont typeface="Arial" panose="020B0604020202020204" pitchFamily="34" charset="0"/>
              <a:buChar char="•"/>
            </a:pPr>
            <a:r>
              <a:rPr lang="en-US" sz="1400"/>
              <a:t>Question 2: SELECT </a:t>
            </a:r>
            <a:r>
              <a:rPr lang="en-US" sz="1400" err="1"/>
              <a:t>P.FirstName</a:t>
            </a:r>
            <a:r>
              <a:rPr lang="en-US" sz="1400"/>
              <a:t>, </a:t>
            </a:r>
            <a:r>
              <a:rPr lang="en-US" sz="1400" err="1"/>
              <a:t>P.LastName</a:t>
            </a:r>
            <a:r>
              <a:rPr lang="en-US" sz="1400"/>
              <a:t>, </a:t>
            </a:r>
            <a:r>
              <a:rPr lang="en-US" sz="1400" err="1"/>
              <a:t>SP.BusinessEntityID</a:t>
            </a:r>
            <a:r>
              <a:rPr lang="en-US" sz="1400"/>
              <a:t>, </a:t>
            </a:r>
            <a:r>
              <a:rPr lang="en-US" sz="1400" err="1"/>
              <a:t>SP.SalesYTD</a:t>
            </a:r>
            <a:r>
              <a:rPr lang="en-US" sz="1400"/>
              <a:t>, </a:t>
            </a:r>
            <a:r>
              <a:rPr lang="en-US" sz="1400" err="1"/>
              <a:t>ST.Name</a:t>
            </a:r>
            <a:r>
              <a:rPr lang="en-US" sz="1400"/>
              <a:t> AS [Territory Name] FROM </a:t>
            </a:r>
            <a:r>
              <a:rPr lang="en-US" sz="1400" err="1"/>
              <a:t>Sales.SalesPerson</a:t>
            </a:r>
            <a:r>
              <a:rPr lang="en-US" sz="1400"/>
              <a:t> SP LEFT OUTER JOIN </a:t>
            </a:r>
            <a:r>
              <a:rPr lang="en-US" sz="1400" err="1"/>
              <a:t>Sales.SalesTerritory</a:t>
            </a:r>
            <a:r>
              <a:rPr lang="en-US" sz="1400"/>
              <a:t> ST ON </a:t>
            </a:r>
            <a:r>
              <a:rPr lang="en-US" sz="1400" err="1"/>
              <a:t>ST.TerritoryID</a:t>
            </a:r>
            <a:r>
              <a:rPr lang="en-US" sz="1400"/>
              <a:t> = </a:t>
            </a:r>
            <a:r>
              <a:rPr lang="en-US" sz="1400" err="1"/>
              <a:t>SP.TerritoryID</a:t>
            </a:r>
            <a:r>
              <a:rPr lang="en-US" sz="1400"/>
              <a:t> INNER JOIN </a:t>
            </a:r>
            <a:r>
              <a:rPr lang="en-US" sz="1400" err="1"/>
              <a:t>Person.Person</a:t>
            </a:r>
            <a:r>
              <a:rPr lang="en-US" sz="1400"/>
              <a:t> P ON </a:t>
            </a:r>
            <a:r>
              <a:rPr lang="en-US" sz="1400" err="1"/>
              <a:t>P.BusinessEntityID</a:t>
            </a:r>
            <a:r>
              <a:rPr lang="en-US" sz="1400"/>
              <a:t> = </a:t>
            </a:r>
            <a:r>
              <a:rPr lang="en-US" sz="1400" err="1"/>
              <a:t>SP.BusinessEntityID</a:t>
            </a:r>
            <a:r>
              <a:rPr lang="en-US" sz="1400"/>
              <a:t> WHERE </a:t>
            </a:r>
            <a:r>
              <a:rPr lang="en-US" sz="1400" err="1"/>
              <a:t>ST.Name</a:t>
            </a:r>
            <a:r>
              <a:rPr lang="en-US" sz="1400"/>
              <a:t> IN ('Northeast', 'Central’) </a:t>
            </a:r>
          </a:p>
          <a:p>
            <a:pPr marL="285750" indent="-285750">
              <a:buFont typeface="Arial" panose="020B0604020202020204" pitchFamily="34" charset="0"/>
              <a:buChar char="•"/>
            </a:pPr>
            <a:r>
              <a:rPr lang="en-US" sz="1400"/>
              <a:t>Question 3: SELECT </a:t>
            </a:r>
            <a:r>
              <a:rPr lang="en-US" sz="1400" err="1"/>
              <a:t>P.Name</a:t>
            </a:r>
            <a:r>
              <a:rPr lang="en-US" sz="1400"/>
              <a:t>, </a:t>
            </a:r>
            <a:r>
              <a:rPr lang="en-US" sz="1400" err="1"/>
              <a:t>P.ListPrice</a:t>
            </a:r>
            <a:r>
              <a:rPr lang="en-US" sz="1400"/>
              <a:t>, </a:t>
            </a:r>
            <a:r>
              <a:rPr lang="en-US" sz="1400" err="1"/>
              <a:t>SC.Name</a:t>
            </a:r>
            <a:r>
              <a:rPr lang="en-US" sz="1400"/>
              <a:t> AS </a:t>
            </a:r>
            <a:r>
              <a:rPr lang="en-US" sz="1400" err="1"/>
              <a:t>ProductSubcategoryName</a:t>
            </a:r>
            <a:r>
              <a:rPr lang="en-US" sz="1400"/>
              <a:t>, </a:t>
            </a:r>
            <a:r>
              <a:rPr lang="en-US" sz="1400" err="1"/>
              <a:t>C.Name</a:t>
            </a:r>
            <a:r>
              <a:rPr lang="en-US" sz="1400"/>
              <a:t> AS </a:t>
            </a:r>
            <a:r>
              <a:rPr lang="en-US" sz="1400" err="1"/>
              <a:t>ProductCategoryName</a:t>
            </a:r>
            <a:r>
              <a:rPr lang="en-US" sz="1400"/>
              <a:t> FROM </a:t>
            </a:r>
            <a:r>
              <a:rPr lang="en-US" sz="1400" err="1"/>
              <a:t>Production.Product</a:t>
            </a:r>
            <a:r>
              <a:rPr lang="en-US" sz="1400"/>
              <a:t> P LEFT OUTER JOIN </a:t>
            </a:r>
            <a:r>
              <a:rPr lang="en-US" sz="1400" err="1"/>
              <a:t>Production.ProductSubcategory</a:t>
            </a:r>
            <a:r>
              <a:rPr lang="en-US" sz="1400"/>
              <a:t> SC ON </a:t>
            </a:r>
            <a:r>
              <a:rPr lang="en-US" sz="1400" err="1"/>
              <a:t>SC.ProductSubcategoryID</a:t>
            </a:r>
            <a:r>
              <a:rPr lang="en-US" sz="1400"/>
              <a:t> = </a:t>
            </a:r>
            <a:r>
              <a:rPr lang="en-US" sz="1400" err="1"/>
              <a:t>P.ProductSubcategoryID</a:t>
            </a:r>
            <a:r>
              <a:rPr lang="en-US" sz="1400"/>
              <a:t> LEFT OUTER JOIN </a:t>
            </a:r>
            <a:r>
              <a:rPr lang="en-US" sz="1400" err="1"/>
              <a:t>Production.ProductCategory</a:t>
            </a:r>
            <a:r>
              <a:rPr lang="en-US" sz="1400"/>
              <a:t> C ON </a:t>
            </a:r>
            <a:r>
              <a:rPr lang="en-US" sz="1400" err="1"/>
              <a:t>C.ProductCategoryID</a:t>
            </a:r>
            <a:r>
              <a:rPr lang="en-US" sz="1400"/>
              <a:t> = </a:t>
            </a:r>
            <a:r>
              <a:rPr lang="en-US" sz="1400" err="1"/>
              <a:t>SC.ProductCategoryID</a:t>
            </a:r>
            <a:r>
              <a:rPr lang="en-US" sz="1400"/>
              <a:t> ORDER BY </a:t>
            </a:r>
            <a:r>
              <a:rPr lang="en-US" sz="1400" err="1"/>
              <a:t>ProductCategoryName</a:t>
            </a:r>
            <a:r>
              <a:rPr lang="en-US" sz="1400"/>
              <a:t> DESC, </a:t>
            </a:r>
            <a:r>
              <a:rPr lang="en-US" sz="1400" err="1"/>
              <a:t>ProductSubcategoryName</a:t>
            </a:r>
            <a:r>
              <a:rPr lang="en-US" sz="1400"/>
              <a:t> ASC</a:t>
            </a:r>
          </a:p>
        </p:txBody>
      </p:sp>
    </p:spTree>
    <p:extLst>
      <p:ext uri="{BB962C8B-B14F-4D97-AF65-F5344CB8AC3E}">
        <p14:creationId xmlns:p14="http://schemas.microsoft.com/office/powerpoint/2010/main" val="1812934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17657" y="2007360"/>
            <a:ext cx="8791575" cy="564939"/>
          </a:xfrm>
        </p:spPr>
        <p:txBody>
          <a:bodyPr>
            <a:normAutofit/>
          </a:bodyPr>
          <a:lstStyle/>
          <a:p>
            <a:pPr algn="ctr"/>
            <a:r>
              <a:rPr lang="en-US">
                <a:solidFill>
                  <a:srgbClr val="FFC000"/>
                </a:solidFill>
              </a:rPr>
              <a:t>Union vs union all </a:t>
            </a:r>
            <a:r>
              <a:rPr lang="en-US">
                <a:solidFill>
                  <a:schemeClr val="tx1"/>
                </a:solidFill>
              </a:rPr>
              <a:t>Statement Practice</a:t>
            </a:r>
          </a:p>
        </p:txBody>
      </p:sp>
      <p:sp>
        <p:nvSpPr>
          <p:cNvPr id="5" name="TextBox 4">
            <a:extLst>
              <a:ext uri="{FF2B5EF4-FFF2-40B4-BE49-F238E27FC236}">
                <a16:creationId xmlns:a16="http://schemas.microsoft.com/office/drawing/2014/main" id="{7A92F0A9-2664-4229-9EDC-453B667BB6D4}"/>
              </a:ext>
            </a:extLst>
          </p:cNvPr>
          <p:cNvSpPr txBox="1"/>
          <p:nvPr/>
        </p:nvSpPr>
        <p:spPr>
          <a:xfrm>
            <a:off x="2812409" y="2807192"/>
            <a:ext cx="8051334" cy="2492990"/>
          </a:xfrm>
          <a:prstGeom prst="rect">
            <a:avLst/>
          </a:prstGeom>
          <a:noFill/>
        </p:spPr>
        <p:txBody>
          <a:bodyPr wrap="square">
            <a:spAutoFit/>
          </a:bodyPr>
          <a:lstStyle/>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a:t>
            </a:r>
            <a:r>
              <a:rPr lang="en-US" sz="1200" err="1">
                <a:latin typeface="Consolas" panose="020B0609020204030204" pitchFamily="49" charset="0"/>
              </a:rPr>
              <a:t>CountryRegionCurrency</a:t>
            </a:r>
            <a:r>
              <a:rPr lang="en-US" sz="1200">
                <a:latin typeface="Consolas" panose="020B0609020204030204" pitchFamily="49" charset="0"/>
              </a:rPr>
              <a:t>]</a:t>
            </a:r>
          </a:p>
          <a:p>
            <a:r>
              <a:rPr lang="en-US" sz="1200">
                <a:latin typeface="Consolas" panose="020B0609020204030204" pitchFamily="49" charset="0"/>
              </a:rPr>
              <a:t>UNION</a:t>
            </a:r>
          </a:p>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[Sales].[Currency]</a:t>
            </a:r>
          </a:p>
          <a:p>
            <a:r>
              <a:rPr lang="en-US" sz="1200">
                <a:latin typeface="Consolas" panose="020B0609020204030204" pitchFamily="49" charset="0"/>
              </a:rPr>
              <a:t>ORDER BY </a:t>
            </a:r>
            <a:r>
              <a:rPr lang="en-US" sz="1200" err="1">
                <a:latin typeface="Consolas" panose="020B0609020204030204" pitchFamily="49" charset="0"/>
              </a:rPr>
              <a:t>CurrencyCode</a:t>
            </a:r>
            <a:endParaRPr lang="en-US" sz="1200">
              <a:latin typeface="Consolas" panose="020B0609020204030204" pitchFamily="49" charset="0"/>
            </a:endParaRPr>
          </a:p>
          <a:p>
            <a:endParaRPr lang="en-US" sz="1200">
              <a:latin typeface="Consolas" panose="020B0609020204030204" pitchFamily="49" charset="0"/>
            </a:endParaRPr>
          </a:p>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a:t>
            </a:r>
            <a:r>
              <a:rPr lang="en-US" sz="1200" err="1">
                <a:latin typeface="Consolas" panose="020B0609020204030204" pitchFamily="49" charset="0"/>
              </a:rPr>
              <a:t>CountryRegionCurrency</a:t>
            </a:r>
            <a:r>
              <a:rPr lang="en-US" sz="1200">
                <a:latin typeface="Consolas" panose="020B0609020204030204" pitchFamily="49" charset="0"/>
              </a:rPr>
              <a:t>]</a:t>
            </a:r>
          </a:p>
          <a:p>
            <a:r>
              <a:rPr lang="en-US" sz="1200">
                <a:latin typeface="Consolas" panose="020B0609020204030204" pitchFamily="49" charset="0"/>
              </a:rPr>
              <a:t>UNION ALL</a:t>
            </a:r>
          </a:p>
          <a:p>
            <a:r>
              <a:rPr lang="en-US" sz="1200">
                <a:latin typeface="Consolas" panose="020B0609020204030204" pitchFamily="49" charset="0"/>
              </a:rPr>
              <a:t>SELECT </a:t>
            </a:r>
            <a:r>
              <a:rPr lang="en-US" sz="1200" err="1">
                <a:latin typeface="Consolas" panose="020B0609020204030204" pitchFamily="49" charset="0"/>
              </a:rPr>
              <a:t>CurrencyCode</a:t>
            </a:r>
            <a:endParaRPr lang="en-US" sz="1200">
              <a:latin typeface="Consolas" panose="020B0609020204030204" pitchFamily="49" charset="0"/>
            </a:endParaRPr>
          </a:p>
          <a:p>
            <a:r>
              <a:rPr lang="en-US" sz="1200">
                <a:latin typeface="Consolas" panose="020B0609020204030204" pitchFamily="49" charset="0"/>
              </a:rPr>
              <a:t>FROM [Sales].[Currency]</a:t>
            </a:r>
          </a:p>
          <a:p>
            <a:r>
              <a:rPr lang="en-US" sz="1200">
                <a:latin typeface="Consolas" panose="020B0609020204030204" pitchFamily="49" charset="0"/>
              </a:rPr>
              <a:t>ORDER BY </a:t>
            </a:r>
            <a:r>
              <a:rPr lang="en-US" sz="1200" err="1">
                <a:latin typeface="Consolas" panose="020B0609020204030204" pitchFamily="49" charset="0"/>
              </a:rPr>
              <a:t>CurrencyCode</a:t>
            </a:r>
            <a:endParaRPr lang="en-US" sz="800"/>
          </a:p>
        </p:txBody>
      </p:sp>
    </p:spTree>
    <p:extLst>
      <p:ext uri="{BB962C8B-B14F-4D97-AF65-F5344CB8AC3E}">
        <p14:creationId xmlns:p14="http://schemas.microsoft.com/office/powerpoint/2010/main" val="529616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17657" y="2007360"/>
            <a:ext cx="8791575" cy="564939"/>
          </a:xfrm>
        </p:spPr>
        <p:txBody>
          <a:bodyPr>
            <a:normAutofit/>
          </a:bodyPr>
          <a:lstStyle/>
          <a:p>
            <a:pPr algn="ctr"/>
            <a:r>
              <a:rPr lang="en-US">
                <a:solidFill>
                  <a:srgbClr val="FFC000"/>
                </a:solidFill>
              </a:rPr>
              <a:t>intercept vs except </a:t>
            </a:r>
            <a:r>
              <a:rPr lang="en-US">
                <a:solidFill>
                  <a:schemeClr val="tx1"/>
                </a:solidFill>
              </a:rPr>
              <a:t>Statement Practice</a:t>
            </a:r>
          </a:p>
        </p:txBody>
      </p:sp>
      <p:sp>
        <p:nvSpPr>
          <p:cNvPr id="5" name="TextBox 4">
            <a:extLst>
              <a:ext uri="{FF2B5EF4-FFF2-40B4-BE49-F238E27FC236}">
                <a16:creationId xmlns:a16="http://schemas.microsoft.com/office/drawing/2014/main" id="{7A92F0A9-2664-4229-9EDC-453B667BB6D4}"/>
              </a:ext>
            </a:extLst>
          </p:cNvPr>
          <p:cNvSpPr txBox="1"/>
          <p:nvPr/>
        </p:nvSpPr>
        <p:spPr>
          <a:xfrm>
            <a:off x="2812409" y="2807192"/>
            <a:ext cx="8051334" cy="3170099"/>
          </a:xfrm>
          <a:prstGeom prst="rect">
            <a:avLst/>
          </a:prstGeom>
          <a:noFill/>
        </p:spPr>
        <p:txBody>
          <a:bodyPr wrap="square">
            <a:spAutoFit/>
          </a:bodyPr>
          <a:lstStyle/>
          <a:p>
            <a:r>
              <a:rPr lang="en-US" sz="2000">
                <a:latin typeface="Aldhabi" panose="01000000000000000000" pitchFamily="2" charset="-78"/>
                <a:cs typeface="Aldhabi" panose="01000000000000000000" pitchFamily="2" charset="-78"/>
              </a:rPr>
              <a:t>SELECT </a:t>
            </a:r>
            <a:r>
              <a:rPr lang="en-US" sz="2000" err="1">
                <a:latin typeface="Aldhabi" panose="01000000000000000000" pitchFamily="2" charset="-78"/>
                <a:cs typeface="Aldhabi" panose="01000000000000000000" pitchFamily="2" charset="-78"/>
              </a:rPr>
              <a:t>ProductID</a:t>
            </a:r>
            <a:r>
              <a:rPr lang="en-US" sz="2000">
                <a:latin typeface="Aldhabi" panose="01000000000000000000" pitchFamily="2" charset="-78"/>
                <a:cs typeface="Aldhabi" panose="01000000000000000000" pitchFamily="2" charset="-78"/>
              </a:rPr>
              <a:t>   </a:t>
            </a:r>
          </a:p>
          <a:p>
            <a:r>
              <a:rPr lang="en-US" sz="2000">
                <a:latin typeface="Aldhabi" panose="01000000000000000000" pitchFamily="2" charset="-78"/>
                <a:cs typeface="Aldhabi" panose="01000000000000000000" pitchFamily="2" charset="-78"/>
              </a:rPr>
              <a:t>FROM </a:t>
            </a:r>
            <a:r>
              <a:rPr lang="en-US" sz="2000" err="1">
                <a:latin typeface="Aldhabi" panose="01000000000000000000" pitchFamily="2" charset="-78"/>
                <a:cs typeface="Aldhabi" panose="01000000000000000000" pitchFamily="2" charset="-78"/>
              </a:rPr>
              <a:t>Production.Product</a:t>
            </a:r>
            <a:r>
              <a:rPr lang="en-US" sz="2000">
                <a:latin typeface="Aldhabi" panose="01000000000000000000" pitchFamily="2" charset="-78"/>
                <a:cs typeface="Aldhabi" panose="01000000000000000000" pitchFamily="2" charset="-78"/>
              </a:rPr>
              <a:t>  </a:t>
            </a:r>
          </a:p>
          <a:p>
            <a:r>
              <a:rPr lang="en-US" sz="2000">
                <a:latin typeface="Aldhabi" panose="01000000000000000000" pitchFamily="2" charset="-78"/>
                <a:cs typeface="Aldhabi" panose="01000000000000000000" pitchFamily="2" charset="-78"/>
              </a:rPr>
              <a:t>INTERSECT  </a:t>
            </a:r>
          </a:p>
          <a:p>
            <a:r>
              <a:rPr lang="en-US" sz="2000">
                <a:latin typeface="Aldhabi" panose="01000000000000000000" pitchFamily="2" charset="-78"/>
                <a:cs typeface="Aldhabi" panose="01000000000000000000" pitchFamily="2" charset="-78"/>
              </a:rPr>
              <a:t>SELECT </a:t>
            </a:r>
            <a:r>
              <a:rPr lang="en-US" sz="2000" err="1">
                <a:latin typeface="Aldhabi" panose="01000000000000000000" pitchFamily="2" charset="-78"/>
                <a:cs typeface="Aldhabi" panose="01000000000000000000" pitchFamily="2" charset="-78"/>
              </a:rPr>
              <a:t>ProductID</a:t>
            </a:r>
            <a:r>
              <a:rPr lang="en-US" sz="2000">
                <a:latin typeface="Aldhabi" panose="01000000000000000000" pitchFamily="2" charset="-78"/>
                <a:cs typeface="Aldhabi" panose="01000000000000000000" pitchFamily="2" charset="-78"/>
              </a:rPr>
              <a:t>   </a:t>
            </a:r>
          </a:p>
          <a:p>
            <a:r>
              <a:rPr lang="en-US" sz="2000">
                <a:latin typeface="Aldhabi" panose="01000000000000000000" pitchFamily="2" charset="-78"/>
                <a:cs typeface="Aldhabi" panose="01000000000000000000" pitchFamily="2" charset="-78"/>
              </a:rPr>
              <a:t>FROM </a:t>
            </a:r>
            <a:r>
              <a:rPr lang="en-US" sz="2000" err="1">
                <a:latin typeface="Aldhabi" panose="01000000000000000000" pitchFamily="2" charset="-78"/>
                <a:cs typeface="Aldhabi" panose="01000000000000000000" pitchFamily="2" charset="-78"/>
              </a:rPr>
              <a:t>Production.WorkOrder</a:t>
            </a:r>
            <a:r>
              <a:rPr lang="en-US" sz="2000">
                <a:latin typeface="Aldhabi" panose="01000000000000000000" pitchFamily="2" charset="-78"/>
                <a:cs typeface="Aldhabi" panose="01000000000000000000" pitchFamily="2" charset="-78"/>
              </a:rPr>
              <a:t> ;</a:t>
            </a:r>
          </a:p>
          <a:p>
            <a:endParaRPr lang="en-US" sz="2000">
              <a:latin typeface="Aldhabi" panose="01000000000000000000" pitchFamily="2" charset="-78"/>
              <a:cs typeface="Aldhabi" panose="01000000000000000000" pitchFamily="2" charset="-78"/>
            </a:endParaRPr>
          </a:p>
          <a:p>
            <a:r>
              <a:rPr lang="en-US" sz="2000" b="0" i="0">
                <a:effectLst/>
                <a:latin typeface="Aldhabi" panose="01000000000000000000" pitchFamily="2" charset="-78"/>
                <a:cs typeface="Aldhabi" panose="01000000000000000000" pitchFamily="2" charset="-78"/>
              </a:rPr>
              <a:t>SELECT </a:t>
            </a:r>
            <a:r>
              <a:rPr lang="en-US" sz="2000" b="0" i="0" err="1">
                <a:effectLst/>
                <a:latin typeface="Aldhabi" panose="01000000000000000000" pitchFamily="2" charset="-78"/>
                <a:cs typeface="Aldhabi" panose="01000000000000000000" pitchFamily="2" charset="-78"/>
              </a:rPr>
              <a:t>ProductID</a:t>
            </a:r>
            <a:r>
              <a:rPr lang="en-US" sz="2000" b="0" i="0">
                <a:effectLst/>
                <a:latin typeface="Aldhabi" panose="01000000000000000000" pitchFamily="2" charset="-78"/>
                <a:cs typeface="Aldhabi" panose="01000000000000000000" pitchFamily="2" charset="-78"/>
              </a:rPr>
              <a:t> FROM </a:t>
            </a:r>
            <a:r>
              <a:rPr lang="en-US" sz="2000" b="0" i="0" err="1">
                <a:effectLst/>
                <a:latin typeface="Aldhabi" panose="01000000000000000000" pitchFamily="2" charset="-78"/>
                <a:cs typeface="Aldhabi" panose="01000000000000000000" pitchFamily="2" charset="-78"/>
              </a:rPr>
              <a:t>Production.Product</a:t>
            </a:r>
            <a:r>
              <a:rPr lang="en-US" sz="2000" b="0" i="0">
                <a:effectLst/>
                <a:latin typeface="Aldhabi" panose="01000000000000000000" pitchFamily="2" charset="-78"/>
                <a:cs typeface="Aldhabi" panose="01000000000000000000" pitchFamily="2" charset="-78"/>
              </a:rPr>
              <a:t> </a:t>
            </a:r>
          </a:p>
          <a:p>
            <a:r>
              <a:rPr lang="en-US" sz="2000" b="0" i="0">
                <a:effectLst/>
                <a:latin typeface="Aldhabi" panose="01000000000000000000" pitchFamily="2" charset="-78"/>
                <a:cs typeface="Aldhabi" panose="01000000000000000000" pitchFamily="2" charset="-78"/>
              </a:rPr>
              <a:t>EXCEPT </a:t>
            </a:r>
          </a:p>
          <a:p>
            <a:r>
              <a:rPr lang="en-US" sz="2000" b="0" i="0">
                <a:effectLst/>
                <a:latin typeface="Aldhabi" panose="01000000000000000000" pitchFamily="2" charset="-78"/>
                <a:cs typeface="Aldhabi" panose="01000000000000000000" pitchFamily="2" charset="-78"/>
              </a:rPr>
              <a:t>SELECT </a:t>
            </a:r>
          </a:p>
          <a:p>
            <a:r>
              <a:rPr lang="en-US" sz="2000" b="0" i="0" err="1">
                <a:effectLst/>
                <a:latin typeface="Aldhabi" panose="01000000000000000000" pitchFamily="2" charset="-78"/>
                <a:cs typeface="Aldhabi" panose="01000000000000000000" pitchFamily="2" charset="-78"/>
              </a:rPr>
              <a:t>ProductID</a:t>
            </a:r>
            <a:r>
              <a:rPr lang="en-US" sz="2000" b="0" i="0">
                <a:effectLst/>
                <a:latin typeface="Aldhabi" panose="01000000000000000000" pitchFamily="2" charset="-78"/>
                <a:cs typeface="Aldhabi" panose="01000000000000000000" pitchFamily="2" charset="-78"/>
              </a:rPr>
              <a:t> FROM </a:t>
            </a:r>
            <a:r>
              <a:rPr lang="en-US" sz="2000" b="0" i="0" err="1">
                <a:effectLst/>
                <a:latin typeface="Aldhabi" panose="01000000000000000000" pitchFamily="2" charset="-78"/>
                <a:cs typeface="Aldhabi" panose="01000000000000000000" pitchFamily="2" charset="-78"/>
              </a:rPr>
              <a:t>Production.WorkOrder</a:t>
            </a:r>
            <a:r>
              <a:rPr lang="en-US" sz="2000" b="0" i="0">
                <a:effectLst/>
                <a:latin typeface="Aldhabi" panose="01000000000000000000" pitchFamily="2" charset="-78"/>
                <a:cs typeface="Aldhabi" panose="01000000000000000000" pitchFamily="2" charset="-78"/>
              </a:rPr>
              <a:t> ;</a:t>
            </a:r>
            <a:endParaRPr lang="en-US" sz="2000">
              <a:latin typeface="Aldhabi" panose="01000000000000000000" pitchFamily="2" charset="-78"/>
              <a:cs typeface="Aldhabi" panose="01000000000000000000" pitchFamily="2" charset="-78"/>
            </a:endParaRPr>
          </a:p>
        </p:txBody>
      </p:sp>
    </p:spTree>
    <p:extLst>
      <p:ext uri="{BB962C8B-B14F-4D97-AF65-F5344CB8AC3E}">
        <p14:creationId xmlns:p14="http://schemas.microsoft.com/office/powerpoint/2010/main" val="3483347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aggregation</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215657" y="3042608"/>
            <a:ext cx="7020190" cy="1600438"/>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COUNT(*) FROM </a:t>
            </a:r>
            <a:r>
              <a:rPr lang="en-US" sz="1400" err="1"/>
              <a:t>Person.Person</a:t>
            </a:r>
            <a:r>
              <a:rPr lang="en-US" sz="1400"/>
              <a:t> </a:t>
            </a:r>
          </a:p>
          <a:p>
            <a:pPr marL="285750" indent="-285750">
              <a:buFont typeface="Arial" panose="020B0604020202020204" pitchFamily="34" charset="0"/>
              <a:buChar char="•"/>
            </a:pPr>
            <a:r>
              <a:rPr lang="en-US" sz="1400"/>
              <a:t>Question 2: SELECT COUNT(</a:t>
            </a:r>
            <a:r>
              <a:rPr lang="en-US" sz="1400" err="1"/>
              <a:t>MiddleName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3: SELECT AVG(</a:t>
            </a:r>
            <a:r>
              <a:rPr lang="en-US" sz="1400" err="1"/>
              <a:t>StandardCost</a:t>
            </a:r>
            <a:r>
              <a:rPr lang="en-US" sz="1400"/>
              <a:t>) FROM </a:t>
            </a:r>
            <a:r>
              <a:rPr lang="en-US" sz="1400" err="1"/>
              <a:t>Production.Product</a:t>
            </a:r>
            <a:r>
              <a:rPr lang="en-US" sz="1400"/>
              <a:t> WHERE </a:t>
            </a:r>
            <a:r>
              <a:rPr lang="en-US" sz="1400" err="1"/>
              <a:t>StandardCost</a:t>
            </a:r>
            <a:r>
              <a:rPr lang="en-US" sz="1400"/>
              <a:t> &gt; 0 </a:t>
            </a:r>
          </a:p>
          <a:p>
            <a:pPr marL="285750" indent="-285750">
              <a:buFont typeface="Arial" panose="020B0604020202020204" pitchFamily="34" charset="0"/>
              <a:buChar char="•"/>
            </a:pPr>
            <a:r>
              <a:rPr lang="en-US" sz="1400"/>
              <a:t>Question 4: SELECT AVG(Freight) FROM </a:t>
            </a:r>
            <a:r>
              <a:rPr lang="en-US" sz="1400" err="1"/>
              <a:t>Sales.SalesOrderHeader</a:t>
            </a:r>
            <a:r>
              <a:rPr lang="en-US" sz="1400"/>
              <a:t> WHERE </a:t>
            </a:r>
            <a:r>
              <a:rPr lang="en-US" sz="1400" err="1"/>
              <a:t>TerritoryID</a:t>
            </a:r>
            <a:r>
              <a:rPr lang="en-US" sz="1400"/>
              <a:t> = 4 </a:t>
            </a:r>
          </a:p>
          <a:p>
            <a:pPr marL="285750" indent="-285750">
              <a:buFont typeface="Arial" panose="020B0604020202020204" pitchFamily="34" charset="0"/>
              <a:buChar char="•"/>
            </a:pPr>
            <a:r>
              <a:rPr lang="en-US" sz="1400"/>
              <a:t>Question 5: SELECT MAX(</a:t>
            </a:r>
            <a:r>
              <a:rPr lang="en-US" sz="1400" err="1"/>
              <a:t>ListPrice</a:t>
            </a:r>
            <a:r>
              <a:rPr lang="en-US" sz="1400"/>
              <a:t>) FROM </a:t>
            </a:r>
            <a:r>
              <a:rPr lang="en-US" sz="1400" err="1"/>
              <a:t>Production.Product</a:t>
            </a:r>
            <a:r>
              <a:rPr lang="en-US" sz="1400"/>
              <a:t> </a:t>
            </a:r>
          </a:p>
          <a:p>
            <a:pPr marL="285750" indent="-285750">
              <a:buFont typeface="Arial" panose="020B0604020202020204" pitchFamily="34" charset="0"/>
              <a:buChar char="•"/>
            </a:pPr>
            <a:r>
              <a:rPr lang="en-US" sz="1400"/>
              <a:t>Question 6: SELECT SUM(</a:t>
            </a:r>
            <a:r>
              <a:rPr lang="en-US" sz="1400" err="1"/>
              <a:t>P.ListPrice</a:t>
            </a:r>
            <a:r>
              <a:rPr lang="en-US" sz="1400"/>
              <a:t>*</a:t>
            </a:r>
            <a:r>
              <a:rPr lang="en-US" sz="1400" err="1"/>
              <a:t>I.Quantity</a:t>
            </a:r>
            <a:r>
              <a:rPr lang="en-US" sz="1400"/>
              <a:t>) FROM </a:t>
            </a:r>
            <a:r>
              <a:rPr lang="en-US" sz="1400" err="1"/>
              <a:t>Production.Product</a:t>
            </a:r>
            <a:r>
              <a:rPr lang="en-US" sz="1400"/>
              <a:t> P INNER JOIN </a:t>
            </a:r>
            <a:r>
              <a:rPr lang="en-US" sz="1400" err="1"/>
              <a:t>Production.ProductInventory</a:t>
            </a:r>
            <a:r>
              <a:rPr lang="en-US" sz="1400"/>
              <a:t> I ON </a:t>
            </a:r>
            <a:r>
              <a:rPr lang="en-US" sz="1400" err="1"/>
              <a:t>I.ProductID</a:t>
            </a:r>
            <a:r>
              <a:rPr lang="en-US" sz="1400"/>
              <a:t> = </a:t>
            </a:r>
            <a:r>
              <a:rPr lang="en-US" sz="1400" err="1"/>
              <a:t>P.ProductID</a:t>
            </a:r>
            <a:r>
              <a:rPr lang="en-US" sz="1400"/>
              <a:t> WHERE </a:t>
            </a:r>
            <a:r>
              <a:rPr lang="en-US" sz="1400" err="1"/>
              <a:t>P.ListPrice</a:t>
            </a:r>
            <a:r>
              <a:rPr lang="en-US" sz="1400"/>
              <a:t> &gt; 0</a:t>
            </a:r>
          </a:p>
        </p:txBody>
      </p:sp>
    </p:spTree>
    <p:extLst>
      <p:ext uri="{BB962C8B-B14F-4D97-AF65-F5344CB8AC3E}">
        <p14:creationId xmlns:p14="http://schemas.microsoft.com/office/powerpoint/2010/main" val="23626056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26046" y="2292586"/>
            <a:ext cx="8791575" cy="564939"/>
          </a:xfrm>
        </p:spPr>
        <p:txBody>
          <a:bodyPr>
            <a:normAutofit/>
          </a:bodyPr>
          <a:lstStyle/>
          <a:p>
            <a:pPr algn="ctr"/>
            <a:r>
              <a:rPr lang="en-US">
                <a:solidFill>
                  <a:srgbClr val="FFC000"/>
                </a:solidFill>
              </a:rPr>
              <a:t>Group by</a:t>
            </a:r>
            <a:r>
              <a:rPr lang="en-US">
                <a:solidFill>
                  <a:schemeClr val="tx1"/>
                </a:solidFill>
              </a:rPr>
              <a:t> 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80823" y="2999065"/>
            <a:ext cx="7020190" cy="2246769"/>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a:t>
            </a:r>
            <a:r>
              <a:rPr lang="en-US" sz="1400" err="1"/>
              <a:t>PersonType</a:t>
            </a:r>
            <a:r>
              <a:rPr lang="en-US" sz="1400"/>
              <a:t>, COUNT(*) AS </a:t>
            </a:r>
            <a:r>
              <a:rPr lang="en-US" sz="1400" err="1"/>
              <a:t>PersonCount</a:t>
            </a:r>
            <a:r>
              <a:rPr lang="en-US" sz="1400"/>
              <a:t> FROM </a:t>
            </a:r>
            <a:r>
              <a:rPr lang="en-US" sz="1400" err="1"/>
              <a:t>Person.Person</a:t>
            </a:r>
            <a:r>
              <a:rPr lang="en-US" sz="1400"/>
              <a:t> GROUP BY </a:t>
            </a:r>
            <a:r>
              <a:rPr lang="en-US" sz="1400" err="1"/>
              <a:t>PersonType</a:t>
            </a:r>
            <a:r>
              <a:rPr lang="en-US" sz="1400"/>
              <a:t> </a:t>
            </a:r>
          </a:p>
          <a:p>
            <a:pPr marL="285750" indent="-285750">
              <a:buFont typeface="Arial" panose="020B0604020202020204" pitchFamily="34" charset="0"/>
              <a:buChar char="•"/>
            </a:pPr>
            <a:r>
              <a:rPr lang="en-US" sz="1400"/>
              <a:t>Question 2: SELECT Color, COUNT(*) AS </a:t>
            </a:r>
            <a:r>
              <a:rPr lang="en-US" sz="1400" err="1"/>
              <a:t>ProductCount</a:t>
            </a:r>
            <a:r>
              <a:rPr lang="en-US" sz="1400"/>
              <a:t> FROM </a:t>
            </a:r>
            <a:r>
              <a:rPr lang="en-US" sz="1400" err="1"/>
              <a:t>Production.Product</a:t>
            </a:r>
            <a:r>
              <a:rPr lang="en-US" sz="1400"/>
              <a:t> WHERE Color IN ('Red', 'Black') GROUP BY Color </a:t>
            </a:r>
          </a:p>
          <a:p>
            <a:pPr marL="285750" indent="-285750">
              <a:buFont typeface="Arial" panose="020B0604020202020204" pitchFamily="34" charset="0"/>
              <a:buChar char="•"/>
            </a:pPr>
            <a:r>
              <a:rPr lang="en-US" sz="1400"/>
              <a:t>Question 3: SELECT </a:t>
            </a:r>
            <a:r>
              <a:rPr lang="en-US" sz="1400" err="1"/>
              <a:t>TerritoryID</a:t>
            </a:r>
            <a:r>
              <a:rPr lang="en-US" sz="1400"/>
              <a:t>, COUNT(*) AS </a:t>
            </a:r>
            <a:r>
              <a:rPr lang="en-US" sz="1400" err="1"/>
              <a:t>SalesCount</a:t>
            </a:r>
            <a:r>
              <a:rPr lang="en-US" sz="1400"/>
              <a:t> FROM </a:t>
            </a:r>
            <a:r>
              <a:rPr lang="en-US" sz="1400" err="1"/>
              <a:t>Sales.SalesOrderHeader</a:t>
            </a:r>
            <a:r>
              <a:rPr lang="en-US" sz="1400"/>
              <a:t> WHERE </a:t>
            </a:r>
            <a:r>
              <a:rPr lang="en-US" sz="1400" err="1"/>
              <a:t>OrderDate</a:t>
            </a:r>
            <a:r>
              <a:rPr lang="en-US" sz="1400"/>
              <a:t> BETWEEN '7/1/2005' AND '12/31/2006' GROUP BY </a:t>
            </a:r>
            <a:r>
              <a:rPr lang="en-US" sz="1400" err="1"/>
              <a:t>TerritoryID</a:t>
            </a:r>
            <a:r>
              <a:rPr lang="en-US" sz="1400"/>
              <a:t> </a:t>
            </a:r>
          </a:p>
          <a:p>
            <a:pPr marL="285750" indent="-285750">
              <a:buFont typeface="Arial" panose="020B0604020202020204" pitchFamily="34" charset="0"/>
              <a:buChar char="•"/>
            </a:pPr>
            <a:r>
              <a:rPr lang="en-US" sz="1400"/>
              <a:t>Question 4: SELECT </a:t>
            </a:r>
            <a:r>
              <a:rPr lang="en-US" sz="1400" err="1"/>
              <a:t>ST.Name</a:t>
            </a:r>
            <a:r>
              <a:rPr lang="en-US" sz="1400"/>
              <a:t> AS </a:t>
            </a:r>
            <a:r>
              <a:rPr lang="en-US" sz="1400" err="1"/>
              <a:t>TerritoryName</a:t>
            </a:r>
            <a:r>
              <a:rPr lang="en-US" sz="1400"/>
              <a:t>, COUNT(*) AS </a:t>
            </a:r>
            <a:r>
              <a:rPr lang="en-US" sz="1400" err="1"/>
              <a:t>SalesCount</a:t>
            </a:r>
            <a:r>
              <a:rPr lang="en-US" sz="1400"/>
              <a:t> FROM </a:t>
            </a:r>
            <a:r>
              <a:rPr lang="en-US" sz="1400" err="1"/>
              <a:t>Sales.SalesOrderHeader</a:t>
            </a:r>
            <a:r>
              <a:rPr lang="en-US" sz="1400"/>
              <a:t> SOH LEFT OUTER JOIN </a:t>
            </a:r>
            <a:r>
              <a:rPr lang="en-US" sz="1400" err="1"/>
              <a:t>Sales.SalesTerritory</a:t>
            </a:r>
            <a:r>
              <a:rPr lang="en-US" sz="1400"/>
              <a:t> ST ON </a:t>
            </a:r>
            <a:r>
              <a:rPr lang="en-US" sz="1400" err="1"/>
              <a:t>ST.TerritoryID</a:t>
            </a:r>
            <a:r>
              <a:rPr lang="en-US" sz="1400"/>
              <a:t> = </a:t>
            </a:r>
            <a:r>
              <a:rPr lang="en-US" sz="1400" err="1"/>
              <a:t>SOH.TerritoryID</a:t>
            </a:r>
            <a:r>
              <a:rPr lang="en-US" sz="1400"/>
              <a:t> WHERE </a:t>
            </a:r>
            <a:r>
              <a:rPr lang="en-US" sz="1400" err="1"/>
              <a:t>OrderDate</a:t>
            </a:r>
            <a:r>
              <a:rPr lang="en-US" sz="1400"/>
              <a:t> BETWEEN '7/1/2005' AND '12/31/2006' GROUP BY </a:t>
            </a:r>
            <a:r>
              <a:rPr lang="en-US" sz="1400" err="1"/>
              <a:t>ST.Name</a:t>
            </a:r>
            <a:r>
              <a:rPr lang="en-US" sz="1400"/>
              <a:t> </a:t>
            </a:r>
          </a:p>
        </p:txBody>
      </p:sp>
    </p:spTree>
    <p:extLst>
      <p:ext uri="{BB962C8B-B14F-4D97-AF65-F5344CB8AC3E}">
        <p14:creationId xmlns:p14="http://schemas.microsoft.com/office/powerpoint/2010/main" val="490773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Having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879218" y="3081098"/>
            <a:ext cx="8589970" cy="2677656"/>
          </a:xfrm>
          <a:prstGeom prst="rect">
            <a:avLst/>
          </a:prstGeom>
          <a:noFill/>
        </p:spPr>
        <p:txBody>
          <a:bodyPr wrap="square" rtlCol="0">
            <a:spAutoFit/>
          </a:bodyPr>
          <a:lstStyle/>
          <a:p>
            <a:pPr marL="285750" indent="-285750">
              <a:buFont typeface="Arial" panose="020B0604020202020204" pitchFamily="34" charset="0"/>
              <a:buChar char="•"/>
            </a:pPr>
            <a:r>
              <a:rPr lang="en-US" sz="1200"/>
              <a:t>Question 1: SELECT </a:t>
            </a:r>
            <a:r>
              <a:rPr lang="en-US" sz="1200" err="1"/>
              <a:t>TerritoryID</a:t>
            </a:r>
            <a:r>
              <a:rPr lang="en-US" sz="1200"/>
              <a:t>, SUM(</a:t>
            </a:r>
            <a:r>
              <a:rPr lang="en-US" sz="1200" err="1"/>
              <a:t>TotalDue</a:t>
            </a:r>
            <a:r>
              <a:rPr lang="en-US" sz="1200"/>
              <a:t>) AS </a:t>
            </a:r>
            <a:r>
              <a:rPr lang="en-US" sz="1200" err="1"/>
              <a:t>TotalSales</a:t>
            </a:r>
            <a:r>
              <a:rPr lang="en-US" sz="1200"/>
              <a:t> FROM </a:t>
            </a:r>
            <a:r>
              <a:rPr lang="en-US" sz="1200" err="1"/>
              <a:t>Sales.SalesOrderHeader</a:t>
            </a:r>
            <a:r>
              <a:rPr lang="en-US" sz="1200"/>
              <a:t> GROUP BY </a:t>
            </a:r>
            <a:r>
              <a:rPr lang="en-US" sz="1200" err="1"/>
              <a:t>TerritoryID</a:t>
            </a:r>
            <a:r>
              <a:rPr lang="en-US" sz="1200"/>
              <a:t> HAVING SUM(</a:t>
            </a:r>
            <a:r>
              <a:rPr lang="en-US" sz="1200" err="1"/>
              <a:t>TotalDue</a:t>
            </a:r>
            <a:r>
              <a:rPr lang="en-US" sz="1200"/>
              <a:t>) &gt; 10000000 </a:t>
            </a:r>
          </a:p>
          <a:p>
            <a:pPr marL="285750" indent="-285750">
              <a:buFont typeface="Arial" panose="020B0604020202020204" pitchFamily="34" charset="0"/>
              <a:buChar char="•"/>
            </a:pPr>
            <a:r>
              <a:rPr lang="en-US" sz="1200"/>
              <a:t>Question 2: SELECT </a:t>
            </a:r>
            <a:r>
              <a:rPr lang="en-US" sz="1200" err="1"/>
              <a:t>ST.Name</a:t>
            </a:r>
            <a:r>
              <a:rPr lang="en-US" sz="1200"/>
              <a:t> AS </a:t>
            </a:r>
            <a:r>
              <a:rPr lang="en-US" sz="1200" err="1"/>
              <a:t>TerritoryName</a:t>
            </a:r>
            <a:r>
              <a:rPr lang="en-US" sz="1200"/>
              <a:t>, SUM(</a:t>
            </a:r>
            <a:r>
              <a:rPr lang="en-US" sz="1200" err="1"/>
              <a:t>TotalDue</a:t>
            </a:r>
            <a:r>
              <a:rPr lang="en-US" sz="1200"/>
              <a:t>) AS </a:t>
            </a:r>
            <a:r>
              <a:rPr lang="en-US" sz="1200" err="1"/>
              <a:t>TotalSales</a:t>
            </a:r>
            <a:r>
              <a:rPr lang="en-US" sz="1200"/>
              <a:t> FROM </a:t>
            </a:r>
            <a:r>
              <a:rPr lang="en-US" sz="1200" err="1"/>
              <a:t>Sales.SalesOrderHeader</a:t>
            </a:r>
            <a:r>
              <a:rPr lang="en-US" sz="1200"/>
              <a:t> SOH LEFT OUTER JOIN </a:t>
            </a:r>
            <a:r>
              <a:rPr lang="en-US" sz="1200" err="1"/>
              <a:t>Sales.SalesTerritory</a:t>
            </a:r>
            <a:r>
              <a:rPr lang="en-US" sz="1200"/>
              <a:t> ST ON </a:t>
            </a:r>
            <a:r>
              <a:rPr lang="en-US" sz="1200" err="1"/>
              <a:t>ST.TerritoryID</a:t>
            </a:r>
            <a:r>
              <a:rPr lang="en-US" sz="1200"/>
              <a:t> = </a:t>
            </a:r>
            <a:r>
              <a:rPr lang="en-US" sz="1200" err="1"/>
              <a:t>SOH.TerritoryID</a:t>
            </a:r>
            <a:r>
              <a:rPr lang="en-US" sz="1200"/>
              <a:t> GROUP BY </a:t>
            </a:r>
            <a:r>
              <a:rPr lang="en-US" sz="1200" err="1"/>
              <a:t>ST.Name</a:t>
            </a:r>
            <a:r>
              <a:rPr lang="en-US" sz="1200"/>
              <a:t> HAVING SUM(</a:t>
            </a:r>
            <a:r>
              <a:rPr lang="en-US" sz="1200" err="1"/>
              <a:t>TotalDue</a:t>
            </a:r>
            <a:r>
              <a:rPr lang="en-US" sz="1200"/>
              <a:t>) &gt; 10000000 </a:t>
            </a:r>
          </a:p>
          <a:p>
            <a:pPr marL="285750" indent="-285750">
              <a:buFont typeface="Arial" panose="020B0604020202020204" pitchFamily="34" charset="0"/>
              <a:buChar char="•"/>
            </a:pPr>
            <a:r>
              <a:rPr lang="en-US" sz="1200"/>
              <a:t>Question 3: SELECT Color, COUNT(*) AS </a:t>
            </a:r>
            <a:r>
              <a:rPr lang="en-US" sz="1200" err="1"/>
              <a:t>ProductCount</a:t>
            </a:r>
            <a:r>
              <a:rPr lang="en-US" sz="1200"/>
              <a:t> FROM </a:t>
            </a:r>
            <a:r>
              <a:rPr lang="en-US" sz="1200" err="1"/>
              <a:t>Production.Product</a:t>
            </a:r>
            <a:r>
              <a:rPr lang="en-US" sz="1200"/>
              <a:t> WHERE Color IS NOT NULL GROUP BY Color HAVING COUNT(*) &gt;= 20 </a:t>
            </a:r>
          </a:p>
          <a:p>
            <a:pPr marL="285750" indent="-285750">
              <a:buFont typeface="Arial" panose="020B0604020202020204" pitchFamily="34" charset="0"/>
              <a:buChar char="•"/>
            </a:pPr>
            <a:r>
              <a:rPr lang="en-US" sz="1200"/>
              <a:t>Question 4: SELECT </a:t>
            </a:r>
            <a:r>
              <a:rPr lang="en-US" sz="1200" err="1"/>
              <a:t>P.Name</a:t>
            </a:r>
            <a:r>
              <a:rPr lang="en-US" sz="1200"/>
              <a:t> AS [Product Name], SUM(</a:t>
            </a:r>
            <a:r>
              <a:rPr lang="en-US" sz="1200" err="1"/>
              <a:t>SOD.OrderQty</a:t>
            </a:r>
            <a:r>
              <a:rPr lang="en-US" sz="1200"/>
              <a:t>) AS </a:t>
            </a:r>
            <a:r>
              <a:rPr lang="en-US" sz="1200" err="1"/>
              <a:t>ProductOrderCount</a:t>
            </a:r>
            <a:r>
              <a:rPr lang="en-US" sz="1200"/>
              <a:t> FROM </a:t>
            </a:r>
            <a:r>
              <a:rPr lang="en-US" sz="1200" err="1"/>
              <a:t>Sales.SalesOrderHeader</a:t>
            </a:r>
            <a:r>
              <a:rPr lang="en-US" sz="1200"/>
              <a:t> SOH INNER JOIN </a:t>
            </a:r>
            <a:r>
              <a:rPr lang="en-US" sz="1200" err="1"/>
              <a:t>Sales.SalesOrderDetail</a:t>
            </a:r>
            <a:r>
              <a:rPr lang="en-US" sz="1200"/>
              <a:t> SOD ON </a:t>
            </a:r>
            <a:r>
              <a:rPr lang="en-US" sz="1200" err="1"/>
              <a:t>SOD.SalesOrderID</a:t>
            </a:r>
            <a:r>
              <a:rPr lang="en-US" sz="1200"/>
              <a:t> = </a:t>
            </a:r>
            <a:r>
              <a:rPr lang="en-US" sz="1200" err="1"/>
              <a:t>SOH.SalesOrderID</a:t>
            </a:r>
            <a:r>
              <a:rPr lang="en-US" sz="1200"/>
              <a:t> INNER JOIN </a:t>
            </a:r>
            <a:r>
              <a:rPr lang="en-US" sz="1200" err="1"/>
              <a:t>Production.Product</a:t>
            </a:r>
            <a:r>
              <a:rPr lang="en-US" sz="1200"/>
              <a:t> P ON </a:t>
            </a:r>
            <a:r>
              <a:rPr lang="en-US" sz="1200" err="1"/>
              <a:t>P.ProductID</a:t>
            </a:r>
            <a:r>
              <a:rPr lang="en-US" sz="1200"/>
              <a:t> = </a:t>
            </a:r>
            <a:r>
              <a:rPr lang="en-US" sz="1200" err="1"/>
              <a:t>SOD.ProductID</a:t>
            </a:r>
            <a:r>
              <a:rPr lang="en-US" sz="1200"/>
              <a:t> WHERE </a:t>
            </a:r>
            <a:r>
              <a:rPr lang="en-US" sz="1200" err="1"/>
              <a:t>SOH.OrderDate</a:t>
            </a:r>
            <a:r>
              <a:rPr lang="en-US" sz="1200"/>
              <a:t> BETWEEN '1/1/2006' AND '12/31/2006' GROUP BY </a:t>
            </a:r>
            <a:r>
              <a:rPr lang="en-US" sz="1200" err="1"/>
              <a:t>P.Name</a:t>
            </a:r>
            <a:r>
              <a:rPr lang="en-US" sz="1200"/>
              <a:t> HAVING SUM(</a:t>
            </a:r>
            <a:r>
              <a:rPr lang="en-US" sz="1200" err="1"/>
              <a:t>SOD.OrderQty</a:t>
            </a:r>
            <a:r>
              <a:rPr lang="en-US" sz="1200"/>
              <a:t>) &gt;= 200 </a:t>
            </a:r>
          </a:p>
          <a:p>
            <a:pPr marL="285750" indent="-285750">
              <a:buFont typeface="Arial" panose="020B0604020202020204" pitchFamily="34" charset="0"/>
              <a:buChar char="•"/>
            </a:pPr>
            <a:r>
              <a:rPr lang="en-US" sz="1200"/>
              <a:t>Question 5: SELECT </a:t>
            </a:r>
            <a:r>
              <a:rPr lang="en-US" sz="1200" err="1"/>
              <a:t>P.FirstName</a:t>
            </a:r>
            <a:r>
              <a:rPr lang="en-US" sz="1200"/>
              <a:t>, </a:t>
            </a:r>
            <a:r>
              <a:rPr lang="en-US" sz="1200" err="1"/>
              <a:t>P.LastName</a:t>
            </a:r>
            <a:r>
              <a:rPr lang="en-US" sz="1200"/>
              <a:t>, COUNT(*) AS </a:t>
            </a:r>
            <a:r>
              <a:rPr lang="en-US" sz="1200" err="1"/>
              <a:t>OrdersPlaced</a:t>
            </a:r>
            <a:r>
              <a:rPr lang="en-US" sz="1200"/>
              <a:t> FROM </a:t>
            </a:r>
            <a:r>
              <a:rPr lang="en-US" sz="1200" err="1"/>
              <a:t>Sales.SalesOrderHeader</a:t>
            </a:r>
            <a:r>
              <a:rPr lang="en-US" sz="1200"/>
              <a:t> SOH INNER JOIN </a:t>
            </a:r>
            <a:r>
              <a:rPr lang="en-US" sz="1200" err="1"/>
              <a:t>Sales.Customer</a:t>
            </a:r>
            <a:r>
              <a:rPr lang="en-US" sz="1200"/>
              <a:t> C ON </a:t>
            </a:r>
            <a:r>
              <a:rPr lang="en-US" sz="1200" err="1"/>
              <a:t>C.CustomerID</a:t>
            </a:r>
            <a:r>
              <a:rPr lang="en-US" sz="1200"/>
              <a:t> = </a:t>
            </a:r>
            <a:r>
              <a:rPr lang="en-US" sz="1200" err="1"/>
              <a:t>SOH.CustomerID</a:t>
            </a:r>
            <a:r>
              <a:rPr lang="en-US" sz="1200"/>
              <a:t> INNER JOIN </a:t>
            </a:r>
            <a:r>
              <a:rPr lang="en-US" sz="1200" err="1"/>
              <a:t>Person.Person</a:t>
            </a:r>
            <a:r>
              <a:rPr lang="en-US" sz="1200"/>
              <a:t> P ON </a:t>
            </a:r>
            <a:r>
              <a:rPr lang="en-US" sz="1200" err="1"/>
              <a:t>P.BusinessEntityID</a:t>
            </a:r>
            <a:r>
              <a:rPr lang="en-US" sz="1200"/>
              <a:t> = </a:t>
            </a:r>
            <a:r>
              <a:rPr lang="en-US" sz="1200" err="1"/>
              <a:t>C.PersonID</a:t>
            </a:r>
            <a:r>
              <a:rPr lang="en-US" sz="1200"/>
              <a:t> WHERE </a:t>
            </a:r>
            <a:r>
              <a:rPr lang="en-US" sz="1200" err="1"/>
              <a:t>OrderDate</a:t>
            </a:r>
            <a:r>
              <a:rPr lang="en-US" sz="1200"/>
              <a:t> BETWEEN '7/1/2005' AND '12/31/2006' GROUP BY </a:t>
            </a:r>
            <a:r>
              <a:rPr lang="en-US" sz="1200" err="1"/>
              <a:t>P.FirstName</a:t>
            </a:r>
            <a:r>
              <a:rPr lang="en-US" sz="1200"/>
              <a:t>, </a:t>
            </a:r>
            <a:r>
              <a:rPr lang="en-US" sz="1200" err="1"/>
              <a:t>P.LastName</a:t>
            </a:r>
            <a:r>
              <a:rPr lang="en-US" sz="1200"/>
              <a:t> HAVING COUNT(*) &gt;= 6 ORDER BY </a:t>
            </a:r>
            <a:r>
              <a:rPr lang="en-US" sz="1200" err="1"/>
              <a:t>OrdersPlaced</a:t>
            </a:r>
            <a:r>
              <a:rPr lang="en-US" sz="1200"/>
              <a:t> DESC</a:t>
            </a:r>
          </a:p>
        </p:txBody>
      </p:sp>
    </p:spTree>
    <p:extLst>
      <p:ext uri="{BB962C8B-B14F-4D97-AF65-F5344CB8AC3E}">
        <p14:creationId xmlns:p14="http://schemas.microsoft.com/office/powerpoint/2010/main" val="29855130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String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096933" y="2596393"/>
            <a:ext cx="7020190" cy="1600438"/>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LEFT('This is a basic string', 8) </a:t>
            </a:r>
          </a:p>
          <a:p>
            <a:pPr marL="285750" indent="-285750">
              <a:buFont typeface="Arial" panose="020B0604020202020204" pitchFamily="34" charset="0"/>
              <a:buChar char="•"/>
            </a:pPr>
            <a:r>
              <a:rPr lang="en-US" sz="1400"/>
              <a:t>Question 2: SELECT RIGHT('This is another string', 6) </a:t>
            </a:r>
          </a:p>
          <a:p>
            <a:pPr marL="285750" indent="-285750">
              <a:buFont typeface="Arial" panose="020B0604020202020204" pitchFamily="34" charset="0"/>
              <a:buChar char="•"/>
            </a:pPr>
            <a:r>
              <a:rPr lang="en-US" sz="1400"/>
              <a:t>Question 3: SELECT CHARINDEX('e', Name) FROM </a:t>
            </a:r>
            <a:r>
              <a:rPr lang="en-US" sz="1400" err="1"/>
              <a:t>Production.Product</a:t>
            </a:r>
            <a:r>
              <a:rPr lang="en-US" sz="1400"/>
              <a:t> </a:t>
            </a:r>
          </a:p>
          <a:p>
            <a:pPr marL="285750" indent="-285750">
              <a:buFont typeface="Arial" panose="020B0604020202020204" pitchFamily="34" charset="0"/>
              <a:buChar char="•"/>
            </a:pPr>
            <a:r>
              <a:rPr lang="en-US" sz="1400"/>
              <a:t>Question 4: SELECT SUBSTRING(Name, 3, 4) FROM </a:t>
            </a:r>
            <a:r>
              <a:rPr lang="en-US" sz="1400" err="1"/>
              <a:t>Sales.SalesTerritory</a:t>
            </a:r>
            <a:r>
              <a:rPr lang="en-US" sz="1400"/>
              <a:t> </a:t>
            </a:r>
          </a:p>
          <a:p>
            <a:pPr marL="285750" indent="-285750">
              <a:buFont typeface="Arial" panose="020B0604020202020204" pitchFamily="34" charset="0"/>
              <a:buChar char="•"/>
            </a:pPr>
            <a:r>
              <a:rPr lang="en-US" sz="1400"/>
              <a:t>Question 5: SELECT LEFT(RIGHT('This is a slightly longer string', 8), 4) </a:t>
            </a:r>
          </a:p>
          <a:p>
            <a:pPr marL="285750" indent="-285750">
              <a:buFont typeface="Arial" panose="020B0604020202020204" pitchFamily="34" charset="0"/>
              <a:buChar char="•"/>
            </a:pPr>
            <a:r>
              <a:rPr lang="en-US" sz="1400"/>
              <a:t>Question 6: SELECT LEFT(FirstName, CHARINDEX('e', FirstName, 0)) FROM </a:t>
            </a:r>
            <a:r>
              <a:rPr lang="en-US" sz="1400" err="1"/>
              <a:t>Person.Person</a:t>
            </a:r>
            <a:r>
              <a:rPr lang="en-US" sz="1400"/>
              <a:t> WHERE LEFT(FirstName, CHARINDEX('e', FirstName, 0)) &lt;&gt; ''</a:t>
            </a:r>
          </a:p>
        </p:txBody>
      </p:sp>
    </p:spTree>
    <p:extLst>
      <p:ext uri="{BB962C8B-B14F-4D97-AF65-F5344CB8AC3E}">
        <p14:creationId xmlns:p14="http://schemas.microsoft.com/office/powerpoint/2010/main" val="1306508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Date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096933" y="2596393"/>
            <a:ext cx="7020190" cy="1384995"/>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DATEPART(MONTH, '6/12/2011') SELECT MONTH('6/12/2011') Question 2: SELECT DATEPART(YEAR, '11/20/1992') SELECT YEAR('11/20/1992’) </a:t>
            </a:r>
          </a:p>
          <a:p>
            <a:pPr marL="285750" indent="-285750">
              <a:buFont typeface="Arial" panose="020B0604020202020204" pitchFamily="34" charset="0"/>
              <a:buChar char="•"/>
            </a:pPr>
            <a:r>
              <a:rPr lang="en-US" sz="1400"/>
              <a:t>Question 3: SELECT DATEADD(DAY, -74, GETDATE()) </a:t>
            </a:r>
          </a:p>
          <a:p>
            <a:pPr marL="285750" indent="-285750">
              <a:buFont typeface="Arial" panose="020B0604020202020204" pitchFamily="34" charset="0"/>
              <a:buChar char="•"/>
            </a:pPr>
            <a:r>
              <a:rPr lang="en-US" sz="1400"/>
              <a:t>Question 4: SELECT GETDATE() SELECT GETUTCDATE() SELECT SYSDATETIME() </a:t>
            </a:r>
          </a:p>
          <a:p>
            <a:pPr marL="285750" indent="-285750">
              <a:buFont typeface="Arial" panose="020B0604020202020204" pitchFamily="34" charset="0"/>
              <a:buChar char="•"/>
            </a:pPr>
            <a:r>
              <a:rPr lang="en-US" sz="1400"/>
              <a:t>Question 5: SELECT DATEDIFF(DAY, '4/17/1996', '9/4/2001’) </a:t>
            </a:r>
          </a:p>
          <a:p>
            <a:pPr marL="285750" indent="-285750">
              <a:buFont typeface="Arial" panose="020B0604020202020204" pitchFamily="34" charset="0"/>
              <a:buChar char="•"/>
            </a:pPr>
            <a:r>
              <a:rPr lang="en-US" sz="1400"/>
              <a:t>Question 6: SELECT DATEDIFF(MONTH, '12/25/1993', DATEADD(DAY, -2719, GETDATE()))</a:t>
            </a:r>
          </a:p>
        </p:txBody>
      </p:sp>
    </p:spTree>
    <p:extLst>
      <p:ext uri="{BB962C8B-B14F-4D97-AF65-F5344CB8AC3E}">
        <p14:creationId xmlns:p14="http://schemas.microsoft.com/office/powerpoint/2010/main" val="2429518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null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1384995"/>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COALESCE(Title, 'No Title Listed') AS Title FROM </a:t>
            </a:r>
            <a:r>
              <a:rPr lang="en-US" sz="1400" err="1"/>
              <a:t>Person.Person</a:t>
            </a:r>
            <a:r>
              <a:rPr lang="en-US" sz="1400"/>
              <a:t> </a:t>
            </a:r>
          </a:p>
          <a:p>
            <a:pPr marL="285750" indent="-285750">
              <a:buFont typeface="Arial" panose="020B0604020202020204" pitchFamily="34" charset="0"/>
              <a:buChar char="•"/>
            </a:pPr>
            <a:r>
              <a:rPr lang="en-US" sz="1400"/>
              <a:t>Question 2: SELECT COALESCE(</a:t>
            </a:r>
            <a:r>
              <a:rPr lang="en-US" sz="1400" err="1"/>
              <a:t>MiddleName</a:t>
            </a:r>
            <a:r>
              <a:rPr lang="en-US" sz="1400"/>
              <a:t>, 'No Middle Name Listed') AS </a:t>
            </a:r>
            <a:r>
              <a:rPr lang="en-US" sz="1400" err="1"/>
              <a:t>MiddleName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3: SELECT COALESCE(FirstName + ' ' + </a:t>
            </a:r>
            <a:r>
              <a:rPr lang="en-US" sz="1400" err="1"/>
              <a:t>MiddleName</a:t>
            </a:r>
            <a:r>
              <a:rPr lang="en-US" sz="1400"/>
              <a:t> + ' ' + </a:t>
            </a:r>
            <a:r>
              <a:rPr lang="en-US" sz="1400" err="1"/>
              <a:t>LastName</a:t>
            </a:r>
            <a:r>
              <a:rPr lang="en-US" sz="1400"/>
              <a:t>, FirstName + ' ' + </a:t>
            </a:r>
            <a:r>
              <a:rPr lang="en-US" sz="1400" err="1"/>
              <a:t>LastName</a:t>
            </a:r>
            <a:r>
              <a:rPr lang="en-US" sz="1400"/>
              <a:t>) AS </a:t>
            </a:r>
            <a:r>
              <a:rPr lang="en-US" sz="1400" err="1"/>
              <a:t>FullName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4: SELECT NULLIF(</a:t>
            </a:r>
            <a:r>
              <a:rPr lang="en-US" sz="1400" err="1"/>
              <a:t>MakeFlag</a:t>
            </a:r>
            <a:r>
              <a:rPr lang="en-US" sz="1400"/>
              <a:t>, </a:t>
            </a:r>
            <a:r>
              <a:rPr lang="en-US" sz="1400" err="1"/>
              <a:t>FinishedGoodsFlag</a:t>
            </a:r>
            <a:r>
              <a:rPr lang="en-US" sz="1400"/>
              <a:t>) FROM </a:t>
            </a:r>
            <a:r>
              <a:rPr lang="en-US" sz="1400" err="1"/>
              <a:t>Production.Product</a:t>
            </a:r>
            <a:endParaRPr lang="en-US" sz="1400"/>
          </a:p>
        </p:txBody>
      </p:sp>
    </p:spTree>
    <p:extLst>
      <p:ext uri="{BB962C8B-B14F-4D97-AF65-F5344CB8AC3E}">
        <p14:creationId xmlns:p14="http://schemas.microsoft.com/office/powerpoint/2010/main" val="2177107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cast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7020190" cy="2246769"/>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CAST(FirstName AS VARCHAR) FROM </a:t>
            </a:r>
            <a:r>
              <a:rPr lang="en-US" sz="1400" err="1"/>
              <a:t>Person.Person</a:t>
            </a:r>
            <a:r>
              <a:rPr lang="en-US" sz="1400"/>
              <a:t> </a:t>
            </a:r>
          </a:p>
          <a:p>
            <a:pPr marL="285750" indent="-285750">
              <a:buFont typeface="Arial" panose="020B0604020202020204" pitchFamily="34" charset="0"/>
              <a:buChar char="•"/>
            </a:pPr>
            <a:r>
              <a:rPr lang="en-US" sz="1400"/>
              <a:t>Question 2: SELECT 11/4, CAST(11 AS FLOAT)/CAST(4 AS FLOAT), 11.0/4.0 </a:t>
            </a:r>
          </a:p>
          <a:p>
            <a:pPr marL="285750" indent="-285750">
              <a:buFont typeface="Arial" panose="020B0604020202020204" pitchFamily="34" charset="0"/>
              <a:buChar char="•"/>
            </a:pPr>
            <a:r>
              <a:rPr lang="en-US" sz="1400"/>
              <a:t>Question 3: SELECT CAST(FirstName AS VARCHAR(3)) FROM </a:t>
            </a:r>
            <a:r>
              <a:rPr lang="en-US" sz="1400" err="1"/>
              <a:t>Person.Person</a:t>
            </a:r>
            <a:r>
              <a:rPr lang="en-US" sz="1400"/>
              <a:t> </a:t>
            </a:r>
          </a:p>
          <a:p>
            <a:pPr marL="285750" indent="-285750">
              <a:buFont typeface="Arial" panose="020B0604020202020204" pitchFamily="34" charset="0"/>
              <a:buChar char="•"/>
            </a:pPr>
            <a:r>
              <a:rPr lang="en-US" sz="1400"/>
              <a:t>Question 4: SELECT CAST(Size AS INT) FROM </a:t>
            </a:r>
            <a:r>
              <a:rPr lang="en-US" sz="1400" err="1"/>
              <a:t>Production.Product</a:t>
            </a:r>
            <a:r>
              <a:rPr lang="en-US" sz="1400"/>
              <a:t> An error is returned stating “conversion failed when converting the </a:t>
            </a:r>
            <a:r>
              <a:rPr lang="en-US" sz="1400" err="1"/>
              <a:t>nvarchar</a:t>
            </a:r>
            <a:r>
              <a:rPr lang="en-US" sz="1400"/>
              <a:t> value ‘M’ to data type int.”. This is because there are some values of the Size column that contain sizes like “S”, “M”, “L”, etc. These values are not numeric and cannot be converted to an integer as there is certainly no integer equivalent for the value of the letter “S” or “M”. </a:t>
            </a:r>
          </a:p>
          <a:p>
            <a:pPr marL="285750" indent="-285750">
              <a:buFont typeface="Arial" panose="020B0604020202020204" pitchFamily="34" charset="0"/>
              <a:buChar char="•"/>
            </a:pPr>
            <a:r>
              <a:rPr lang="en-US" sz="1400"/>
              <a:t>Question 5: SELECT CAST(Size AS INT) FROM </a:t>
            </a:r>
            <a:r>
              <a:rPr lang="en-US" sz="1400" err="1"/>
              <a:t>Production.Product</a:t>
            </a:r>
            <a:r>
              <a:rPr lang="en-US" sz="1400"/>
              <a:t> WHERE ISNUMERIC(Size) = 1</a:t>
            </a:r>
          </a:p>
        </p:txBody>
      </p:sp>
    </p:spTree>
    <p:extLst>
      <p:ext uri="{BB962C8B-B14F-4D97-AF65-F5344CB8AC3E}">
        <p14:creationId xmlns:p14="http://schemas.microsoft.com/office/powerpoint/2010/main" val="774898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derived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6" y="3007667"/>
            <a:ext cx="8094940" cy="1938992"/>
          </a:xfrm>
          <a:prstGeom prst="rect">
            <a:avLst/>
          </a:prstGeom>
          <a:noFill/>
        </p:spPr>
        <p:txBody>
          <a:bodyPr wrap="square" rtlCol="0">
            <a:spAutoFit/>
          </a:bodyPr>
          <a:lstStyle/>
          <a:p>
            <a:pPr marL="285750" indent="-285750">
              <a:buFont typeface="Arial" panose="020B0604020202020204" pitchFamily="34" charset="0"/>
              <a:buChar char="•"/>
            </a:pPr>
            <a:r>
              <a:rPr lang="en-US" sz="1200"/>
              <a:t>Question 1: The query will not execute because a required condition of a table expression is that each column must have a name specified. The “YEAR(</a:t>
            </a:r>
            <a:r>
              <a:rPr lang="en-US" sz="1200" err="1"/>
              <a:t>HireDate</a:t>
            </a:r>
            <a:r>
              <a:rPr lang="en-US" sz="1200"/>
              <a:t>)” column does not have an alias specified, therefore the table expression cannot be evaluated and the query will fail. </a:t>
            </a:r>
          </a:p>
          <a:p>
            <a:pPr marL="285750" indent="-285750">
              <a:buFont typeface="Arial" panose="020B0604020202020204" pitchFamily="34" charset="0"/>
              <a:buChar char="•"/>
            </a:pPr>
            <a:r>
              <a:rPr lang="en-US" sz="1200"/>
              <a:t>Question 2: This query will execute without an issue. ORDER BY clauses are not allowed in table expressions unless the TOP operator is used within the expression. Since the TOP operator is included in this table expression the ORDER BY clause is allowed.</a:t>
            </a:r>
          </a:p>
          <a:p>
            <a:pPr marL="285750" indent="-285750">
              <a:buFont typeface="Arial" panose="020B0604020202020204" pitchFamily="34" charset="0"/>
              <a:buChar char="•"/>
            </a:pPr>
            <a:r>
              <a:rPr lang="en-US" sz="1200"/>
              <a:t>Question 3: SELECT * FROM ( SELECT *, YEAR(</a:t>
            </a:r>
            <a:r>
              <a:rPr lang="en-US" sz="1200" err="1"/>
              <a:t>HireDate</a:t>
            </a:r>
            <a:r>
              <a:rPr lang="en-US" sz="1200"/>
              <a:t>) AS </a:t>
            </a:r>
            <a:r>
              <a:rPr lang="en-US" sz="1200" err="1"/>
              <a:t>HireYear</a:t>
            </a:r>
            <a:r>
              <a:rPr lang="en-US" sz="1200"/>
              <a:t>, YEAR(</a:t>
            </a:r>
            <a:r>
              <a:rPr lang="en-US" sz="1200" err="1"/>
              <a:t>BirthDate</a:t>
            </a:r>
            <a:r>
              <a:rPr lang="en-US" sz="1200"/>
              <a:t>) AS </a:t>
            </a:r>
            <a:r>
              <a:rPr lang="en-US" sz="1200" err="1"/>
              <a:t>BirthYear</a:t>
            </a:r>
            <a:r>
              <a:rPr lang="en-US" sz="1200"/>
              <a:t> FROM </a:t>
            </a:r>
            <a:r>
              <a:rPr lang="en-US" sz="1200" err="1"/>
              <a:t>HumanResources.Employee</a:t>
            </a:r>
            <a:r>
              <a:rPr lang="en-US" sz="1200"/>
              <a:t> ) AS Emp WHERE </a:t>
            </a:r>
            <a:r>
              <a:rPr lang="en-US" sz="1200" err="1"/>
              <a:t>HireYear</a:t>
            </a:r>
            <a:r>
              <a:rPr lang="en-US" sz="1200"/>
              <a:t> &gt;= 2006 AND </a:t>
            </a:r>
            <a:r>
              <a:rPr lang="en-US" sz="1200" err="1"/>
              <a:t>BirthYear</a:t>
            </a:r>
            <a:r>
              <a:rPr lang="en-US" sz="1200"/>
              <a:t> &lt;= 1968 </a:t>
            </a:r>
          </a:p>
          <a:p>
            <a:pPr marL="285750" indent="-285750">
              <a:buFont typeface="Arial" panose="020B0604020202020204" pitchFamily="34" charset="0"/>
              <a:buChar char="•"/>
            </a:pPr>
            <a:r>
              <a:rPr lang="en-US" sz="1200"/>
              <a:t>Question 4: SELECT </a:t>
            </a:r>
            <a:r>
              <a:rPr lang="en-US" sz="1200" err="1"/>
              <a:t>OrderYear</a:t>
            </a:r>
            <a:r>
              <a:rPr lang="en-US" sz="1200"/>
              <a:t>, SUM(</a:t>
            </a:r>
            <a:r>
              <a:rPr lang="en-US" sz="1200" err="1"/>
              <a:t>TotalDue</a:t>
            </a:r>
            <a:r>
              <a:rPr lang="en-US" sz="1200"/>
              <a:t>) AS </a:t>
            </a:r>
            <a:r>
              <a:rPr lang="en-US" sz="1200" err="1"/>
              <a:t>TotalSales</a:t>
            </a:r>
            <a:r>
              <a:rPr lang="en-US" sz="1200"/>
              <a:t> FROM ( SELECT *, YEAR(</a:t>
            </a:r>
            <a:r>
              <a:rPr lang="en-US" sz="1200" err="1"/>
              <a:t>OrderDate</a:t>
            </a:r>
            <a:r>
              <a:rPr lang="en-US" sz="1200"/>
              <a:t>) AS </a:t>
            </a:r>
            <a:r>
              <a:rPr lang="en-US" sz="1200" err="1"/>
              <a:t>OrderYear</a:t>
            </a:r>
            <a:r>
              <a:rPr lang="en-US" sz="1200"/>
              <a:t> FROM </a:t>
            </a:r>
            <a:r>
              <a:rPr lang="en-US" sz="1200" err="1"/>
              <a:t>Sales.SalesOrderHeader</a:t>
            </a:r>
            <a:r>
              <a:rPr lang="en-US" sz="1200"/>
              <a:t> ) AS </a:t>
            </a:r>
            <a:r>
              <a:rPr lang="en-US" sz="1200" err="1"/>
              <a:t>SalesOrders</a:t>
            </a:r>
            <a:r>
              <a:rPr lang="en-US" sz="1200"/>
              <a:t> WHERE </a:t>
            </a:r>
            <a:r>
              <a:rPr lang="en-US" sz="1200" err="1"/>
              <a:t>OrderYear</a:t>
            </a:r>
            <a:r>
              <a:rPr lang="en-US" sz="1200"/>
              <a:t> IN (</a:t>
            </a:r>
          </a:p>
        </p:txBody>
      </p:sp>
    </p:spTree>
    <p:extLst>
      <p:ext uri="{BB962C8B-B14F-4D97-AF65-F5344CB8AC3E}">
        <p14:creationId xmlns:p14="http://schemas.microsoft.com/office/powerpoint/2010/main" val="8856648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with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903985" y="3007667"/>
            <a:ext cx="8600037" cy="2893100"/>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This query will fail at runtime because the first column of the CTE does not contain a name. Since every column in a table expression must have a name specified, the lack of a column alias will cause the query to return an error. </a:t>
            </a:r>
          </a:p>
          <a:p>
            <a:pPr marL="285750" indent="-285750">
              <a:buFont typeface="Arial" panose="020B0604020202020204" pitchFamily="34" charset="0"/>
              <a:buChar char="•"/>
            </a:pPr>
            <a:r>
              <a:rPr lang="en-US" sz="1400"/>
              <a:t>Question 2: WITH Hires AS ( SELECT YEAR(</a:t>
            </a:r>
            <a:r>
              <a:rPr lang="en-US" sz="1400" err="1"/>
              <a:t>HireDate</a:t>
            </a:r>
            <a:r>
              <a:rPr lang="en-US" sz="1400"/>
              <a:t>) AS </a:t>
            </a:r>
            <a:r>
              <a:rPr lang="en-US" sz="1400" err="1"/>
              <a:t>HireYear</a:t>
            </a:r>
            <a:r>
              <a:rPr lang="en-US" sz="1400"/>
              <a:t>, </a:t>
            </a:r>
            <a:r>
              <a:rPr lang="en-US" sz="1400" err="1"/>
              <a:t>BusinessEntityID</a:t>
            </a:r>
            <a:r>
              <a:rPr lang="en-US" sz="1400"/>
              <a:t> FROM </a:t>
            </a:r>
            <a:r>
              <a:rPr lang="en-US" sz="1400" err="1"/>
              <a:t>HumanResources.Employee</a:t>
            </a:r>
            <a:r>
              <a:rPr lang="en-US" sz="1400"/>
              <a:t> ), </a:t>
            </a:r>
            <a:r>
              <a:rPr lang="en-US" sz="1400" err="1"/>
              <a:t>HireByYear</a:t>
            </a:r>
            <a:r>
              <a:rPr lang="en-US" sz="1400"/>
              <a:t> AS ( SELECT </a:t>
            </a:r>
            <a:r>
              <a:rPr lang="en-US" sz="1400" err="1"/>
              <a:t>HireYear</a:t>
            </a:r>
            <a:r>
              <a:rPr lang="en-US" sz="1400"/>
              <a:t>, COUNT(*) AS </a:t>
            </a:r>
            <a:r>
              <a:rPr lang="en-US" sz="1400" err="1"/>
              <a:t>HireCount</a:t>
            </a:r>
            <a:r>
              <a:rPr lang="en-US" sz="1400"/>
              <a:t> FROM Hires GROUP BY </a:t>
            </a:r>
            <a:r>
              <a:rPr lang="en-US" sz="1400" err="1"/>
              <a:t>HireYear</a:t>
            </a:r>
            <a:r>
              <a:rPr lang="en-US" sz="1400"/>
              <a:t> ) SELECT H1.HireYear, H1.HireCount AS </a:t>
            </a:r>
            <a:r>
              <a:rPr lang="en-US" sz="1400" err="1"/>
              <a:t>CurrentYearHireCount</a:t>
            </a:r>
            <a:r>
              <a:rPr lang="en-US" sz="1400"/>
              <a:t>, H2.HireCount AS </a:t>
            </a:r>
            <a:r>
              <a:rPr lang="en-US" sz="1400" err="1"/>
              <a:t>PriorYearHireCount</a:t>
            </a:r>
            <a:r>
              <a:rPr lang="en-US" sz="1400"/>
              <a:t> FROM </a:t>
            </a:r>
            <a:r>
              <a:rPr lang="en-US" sz="1400" err="1"/>
              <a:t>HireByYear</a:t>
            </a:r>
            <a:r>
              <a:rPr lang="en-US" sz="1400"/>
              <a:t> H1 LEFT OUTER JOIN </a:t>
            </a:r>
            <a:r>
              <a:rPr lang="en-US" sz="1400" err="1"/>
              <a:t>HireByYear</a:t>
            </a:r>
            <a:r>
              <a:rPr lang="en-US" sz="1400"/>
              <a:t> H2 ON H1.HireYear = H2.HireYear + 1 </a:t>
            </a:r>
          </a:p>
          <a:p>
            <a:pPr marL="285750" indent="-285750">
              <a:buFont typeface="Arial" panose="020B0604020202020204" pitchFamily="34" charset="0"/>
              <a:buChar char="•"/>
            </a:pPr>
            <a:r>
              <a:rPr lang="en-US" sz="1400"/>
              <a:t>Question 3: WITH Products AS ( SELECT YEAR(</a:t>
            </a:r>
            <a:r>
              <a:rPr lang="en-US" sz="1400" err="1"/>
              <a:t>SellStartDate</a:t>
            </a:r>
            <a:r>
              <a:rPr lang="en-US" sz="1400"/>
              <a:t>) AS </a:t>
            </a:r>
            <a:r>
              <a:rPr lang="en-US" sz="1400" err="1"/>
              <a:t>ProductSellStartYear</a:t>
            </a:r>
            <a:r>
              <a:rPr lang="en-US" sz="1400"/>
              <a:t>, </a:t>
            </a:r>
            <a:r>
              <a:rPr lang="en-US" sz="1400" err="1"/>
              <a:t>ProductID</a:t>
            </a:r>
            <a:r>
              <a:rPr lang="en-US" sz="1400"/>
              <a:t> FROM </a:t>
            </a:r>
            <a:r>
              <a:rPr lang="en-US" sz="1400" err="1"/>
              <a:t>Production.Product</a:t>
            </a:r>
            <a:r>
              <a:rPr lang="en-US" sz="1400"/>
              <a:t> ) SELECT </a:t>
            </a:r>
            <a:r>
              <a:rPr lang="en-US" sz="1400" err="1"/>
              <a:t>ProductSellStartYear</a:t>
            </a:r>
            <a:r>
              <a:rPr lang="en-US" sz="1400"/>
              <a:t>, COUNT(*) AS </a:t>
            </a:r>
            <a:r>
              <a:rPr lang="en-US" sz="1400" err="1"/>
              <a:t>ProductCount</a:t>
            </a:r>
            <a:r>
              <a:rPr lang="en-US" sz="1400"/>
              <a:t> FROM Products GROUP BY </a:t>
            </a:r>
            <a:r>
              <a:rPr lang="en-US" sz="1400" err="1"/>
              <a:t>ProductSellStartYear</a:t>
            </a:r>
            <a:r>
              <a:rPr lang="en-US" sz="1400"/>
              <a:t> </a:t>
            </a:r>
          </a:p>
          <a:p>
            <a:pPr marL="285750" indent="-285750">
              <a:buFont typeface="Arial" panose="020B0604020202020204" pitchFamily="34" charset="0"/>
              <a:buChar char="•"/>
            </a:pPr>
            <a:r>
              <a:rPr lang="en-US" sz="1400"/>
              <a:t>Question 4: WITH </a:t>
            </a:r>
            <a:r>
              <a:rPr lang="en-US" sz="1400" err="1"/>
              <a:t>SalesMonth</a:t>
            </a:r>
            <a:r>
              <a:rPr lang="en-US" sz="1400"/>
              <a:t> AS ( SELECT MONTH(</a:t>
            </a:r>
            <a:r>
              <a:rPr lang="en-US" sz="1400" err="1"/>
              <a:t>OrderDate</a:t>
            </a:r>
            <a:r>
              <a:rPr lang="en-US" sz="1400"/>
              <a:t>) AS </a:t>
            </a:r>
            <a:r>
              <a:rPr lang="en-US" sz="1400" err="1"/>
              <a:t>OrderMonth</a:t>
            </a:r>
            <a:r>
              <a:rPr lang="en-US" sz="1400"/>
              <a:t>, </a:t>
            </a:r>
            <a:r>
              <a:rPr lang="en-US" sz="1400" err="1"/>
              <a:t>TotalDue</a:t>
            </a:r>
            <a:r>
              <a:rPr lang="en-US" sz="1400"/>
              <a:t> FROM </a:t>
            </a:r>
            <a:r>
              <a:rPr lang="en-US" sz="1400" err="1"/>
              <a:t>Sales.SalesOrderHeader</a:t>
            </a:r>
            <a:r>
              <a:rPr lang="en-US" sz="1400"/>
              <a:t> WHERE YEAR(</a:t>
            </a:r>
            <a:r>
              <a:rPr lang="en-US" sz="1400" err="1"/>
              <a:t>OrderDate</a:t>
            </a:r>
            <a:r>
              <a:rPr lang="en-US" sz="1400"/>
              <a:t>) = 2006 ) SELECT </a:t>
            </a:r>
            <a:r>
              <a:rPr lang="en-US" sz="1400" err="1"/>
              <a:t>OrderMonth</a:t>
            </a:r>
            <a:r>
              <a:rPr lang="en-US" sz="1400"/>
              <a:t>, SUM(</a:t>
            </a:r>
            <a:r>
              <a:rPr lang="en-US" sz="1400" err="1"/>
              <a:t>TotalDue</a:t>
            </a:r>
            <a:r>
              <a:rPr lang="en-US" sz="1400"/>
              <a:t>) AS </a:t>
            </a:r>
            <a:r>
              <a:rPr lang="en-US" sz="1400" err="1"/>
              <a:t>MonthlySales</a:t>
            </a:r>
            <a:r>
              <a:rPr lang="en-US" sz="1400"/>
              <a:t> FROM </a:t>
            </a:r>
            <a:r>
              <a:rPr lang="en-US" sz="1400" err="1"/>
              <a:t>SalesMonth</a:t>
            </a:r>
            <a:r>
              <a:rPr lang="en-US" sz="1400"/>
              <a:t> GROUP BY </a:t>
            </a:r>
            <a:r>
              <a:rPr lang="en-US" sz="1400" err="1"/>
              <a:t>OrderMonth</a:t>
            </a:r>
            <a:r>
              <a:rPr lang="en-US" sz="1400"/>
              <a:t> ORDER BY 1</a:t>
            </a:r>
          </a:p>
        </p:txBody>
      </p:sp>
    </p:spTree>
    <p:extLst>
      <p:ext uri="{BB962C8B-B14F-4D97-AF65-F5344CB8AC3E}">
        <p14:creationId xmlns:p14="http://schemas.microsoft.com/office/powerpoint/2010/main" val="3846513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case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2303093" y="2877038"/>
            <a:ext cx="8930963" cy="2893100"/>
          </a:xfrm>
          <a:prstGeom prst="rect">
            <a:avLst/>
          </a:prstGeom>
          <a:noFill/>
        </p:spPr>
        <p:txBody>
          <a:bodyPr wrap="square" rtlCol="0">
            <a:spAutoFit/>
          </a:bodyPr>
          <a:lstStyle/>
          <a:p>
            <a:pPr marL="285750" indent="-285750">
              <a:buFont typeface="Arial" panose="020B0604020202020204" pitchFamily="34" charset="0"/>
              <a:buChar char="•"/>
            </a:pPr>
            <a:r>
              <a:rPr lang="en-US" sz="1400"/>
              <a:t>Question 1: SELECT FirstName, </a:t>
            </a:r>
            <a:r>
              <a:rPr lang="en-US" sz="1400" err="1"/>
              <a:t>LastName</a:t>
            </a:r>
            <a:r>
              <a:rPr lang="en-US" sz="1400"/>
              <a:t>, CASE WHEN </a:t>
            </a:r>
            <a:r>
              <a:rPr lang="en-US" sz="1400" err="1"/>
              <a:t>EmailPromotion</a:t>
            </a:r>
            <a:r>
              <a:rPr lang="en-US" sz="1400"/>
              <a:t> = 0 THEN 'Promotion 1' WHEN </a:t>
            </a:r>
            <a:r>
              <a:rPr lang="en-US" sz="1400" err="1"/>
              <a:t>EmailPromotion</a:t>
            </a:r>
            <a:r>
              <a:rPr lang="en-US" sz="1400"/>
              <a:t> = 1 THEN 'Promotion 2' WHEN </a:t>
            </a:r>
            <a:r>
              <a:rPr lang="en-US" sz="1400" err="1"/>
              <a:t>EmailPromotion</a:t>
            </a:r>
            <a:r>
              <a:rPr lang="en-US" sz="1400"/>
              <a:t> = 2 THEN 'Promotion 3' END AS </a:t>
            </a:r>
            <a:r>
              <a:rPr lang="en-US" sz="1400" err="1"/>
              <a:t>PromotionName</a:t>
            </a:r>
            <a:r>
              <a:rPr lang="en-US" sz="1400"/>
              <a:t> FROM </a:t>
            </a:r>
            <a:r>
              <a:rPr lang="en-US" sz="1400" err="1"/>
              <a:t>Person.Person</a:t>
            </a:r>
            <a:r>
              <a:rPr lang="en-US" sz="1400"/>
              <a:t> </a:t>
            </a:r>
          </a:p>
          <a:p>
            <a:pPr marL="285750" indent="-285750">
              <a:buFont typeface="Arial" panose="020B0604020202020204" pitchFamily="34" charset="0"/>
              <a:buChar char="•"/>
            </a:pPr>
            <a:r>
              <a:rPr lang="en-US" sz="1400"/>
              <a:t>Question 2: If a value does not meet any of the conditions in a CASE statement, the output to be returned will be a NULL value. </a:t>
            </a:r>
          </a:p>
          <a:p>
            <a:pPr marL="285750" indent="-285750">
              <a:buFont typeface="Arial" panose="020B0604020202020204" pitchFamily="34" charset="0"/>
              <a:buChar char="•"/>
            </a:pPr>
            <a:r>
              <a:rPr lang="en-US" sz="1400"/>
              <a:t>Question 3: SELECT CASE WHEN LEN(FirstName) &gt;= 10 THEN 'Long Name' ELSE 'Short Name' END FROM </a:t>
            </a:r>
            <a:r>
              <a:rPr lang="en-US" sz="1400" err="1"/>
              <a:t>Person.Person</a:t>
            </a:r>
            <a:r>
              <a:rPr lang="en-US" sz="1400"/>
              <a:t> </a:t>
            </a:r>
          </a:p>
          <a:p>
            <a:pPr marL="285750" indent="-285750">
              <a:buFont typeface="Arial" panose="020B0604020202020204" pitchFamily="34" charset="0"/>
              <a:buChar char="•"/>
            </a:pPr>
            <a:r>
              <a:rPr lang="en-US" sz="1400"/>
              <a:t>Question 4: WITH </a:t>
            </a:r>
            <a:r>
              <a:rPr lang="en-US" sz="1400" err="1"/>
              <a:t>SalesRanges</a:t>
            </a:r>
            <a:r>
              <a:rPr lang="en-US" sz="1400"/>
              <a:t> AS ( SELECT CASE WHEN </a:t>
            </a:r>
            <a:r>
              <a:rPr lang="en-US" sz="1400" err="1"/>
              <a:t>TotalDue</a:t>
            </a:r>
            <a:r>
              <a:rPr lang="en-US" sz="1400"/>
              <a:t> BETWEEN 0 AND 149.99 THEN '$0 to $149.99' WHEN </a:t>
            </a:r>
            <a:r>
              <a:rPr lang="en-US" sz="1400" err="1"/>
              <a:t>TotalDue</a:t>
            </a:r>
            <a:r>
              <a:rPr lang="en-US" sz="1400"/>
              <a:t> BETWEEN 150 AND 499.99 THEN '$150 to $499.99' WHEN </a:t>
            </a:r>
            <a:r>
              <a:rPr lang="en-US" sz="1400" err="1"/>
              <a:t>TotalDue</a:t>
            </a:r>
            <a:r>
              <a:rPr lang="en-US" sz="1400"/>
              <a:t> BETWEEN 500 AND 4999.99 THEN '$500 to $4,999.99' WHEN </a:t>
            </a:r>
            <a:r>
              <a:rPr lang="en-US" sz="1400" err="1"/>
              <a:t>TotalDue</a:t>
            </a:r>
            <a:r>
              <a:rPr lang="en-US" sz="1400"/>
              <a:t> BETWEEN 5000 AND 24999.99 THEN '$5,000 to $24,999.99' ELSE 'Over $25,000' END AS </a:t>
            </a:r>
            <a:r>
              <a:rPr lang="en-US" sz="1400" err="1"/>
              <a:t>SalesPriceRange</a:t>
            </a:r>
            <a:r>
              <a:rPr lang="en-US" sz="1400"/>
              <a:t>, </a:t>
            </a:r>
            <a:r>
              <a:rPr lang="en-US" sz="1400" err="1"/>
              <a:t>SalesOrderID</a:t>
            </a:r>
            <a:r>
              <a:rPr lang="en-US" sz="1400"/>
              <a:t> FROM </a:t>
            </a:r>
            <a:r>
              <a:rPr lang="en-US" sz="1400" err="1"/>
              <a:t>Sales.SalesOrderHeader</a:t>
            </a:r>
            <a:r>
              <a:rPr lang="en-US" sz="1400"/>
              <a:t> WHERE </a:t>
            </a:r>
            <a:r>
              <a:rPr lang="en-US" sz="1400" err="1"/>
              <a:t>SalesPersonID</a:t>
            </a:r>
            <a:r>
              <a:rPr lang="en-US" sz="1400"/>
              <a:t> IS NOT NULL ) SELECT </a:t>
            </a:r>
            <a:r>
              <a:rPr lang="en-US" sz="1400" err="1"/>
              <a:t>SalesPriceRange</a:t>
            </a:r>
            <a:r>
              <a:rPr lang="en-US" sz="1400"/>
              <a:t>, COUNT(*) FROM </a:t>
            </a:r>
            <a:r>
              <a:rPr lang="en-US" sz="1400" err="1"/>
              <a:t>SalesRanges</a:t>
            </a:r>
            <a:r>
              <a:rPr lang="en-US" sz="1400"/>
              <a:t> GROUP BY </a:t>
            </a:r>
            <a:r>
              <a:rPr lang="en-US" sz="1400" err="1"/>
              <a:t>SalesPriceRange</a:t>
            </a:r>
            <a:r>
              <a:rPr lang="en-US" sz="1400"/>
              <a:t> </a:t>
            </a:r>
          </a:p>
          <a:p>
            <a:pPr marL="285750" indent="-285750">
              <a:buFont typeface="Arial" panose="020B0604020202020204" pitchFamily="34" charset="0"/>
              <a:buChar char="•"/>
            </a:pPr>
            <a:r>
              <a:rPr lang="en-US" sz="1400"/>
              <a:t>Question 5: SELECT CASE WHEN Color IS NULL THEN 'No Color' ELSE Color END AS Color FROM </a:t>
            </a:r>
            <a:r>
              <a:rPr lang="en-US" sz="1400" err="1"/>
              <a:t>Production.Product</a:t>
            </a:r>
            <a:r>
              <a:rPr lang="en-US" sz="1400"/>
              <a:t> SELECT COALESCE(Color, 'No Color') FROM </a:t>
            </a:r>
            <a:r>
              <a:rPr lang="en-US" sz="1400" err="1"/>
              <a:t>Production.Produc</a:t>
            </a:r>
            <a:endParaRPr lang="en-US" sz="1400"/>
          </a:p>
        </p:txBody>
      </p:sp>
    </p:spTree>
    <p:extLst>
      <p:ext uri="{BB962C8B-B14F-4D97-AF65-F5344CB8AC3E}">
        <p14:creationId xmlns:p14="http://schemas.microsoft.com/office/powerpoint/2010/main" val="30692189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411061"/>
            <a:ext cx="8791575" cy="1186212"/>
          </a:xfrm>
        </p:spPr>
        <p:txBody>
          <a:bodyPr/>
          <a:lstStyle/>
          <a:p>
            <a:pPr algn="ctr"/>
            <a:r>
              <a:rPr lang="en-US"/>
              <a:t>SQL FOR DATA ANALYSIS </a:t>
            </a:r>
          </a:p>
        </p:txBody>
      </p:sp>
      <p:sp>
        <p:nvSpPr>
          <p:cNvPr id="3" name="Subtitle 2">
            <a:extLst>
              <a:ext uri="{FF2B5EF4-FFF2-40B4-BE49-F238E27FC236}">
                <a16:creationId xmlns:a16="http://schemas.microsoft.com/office/drawing/2014/main" id="{F732812B-5517-445B-B80B-C63947CC015B}"/>
              </a:ext>
            </a:extLst>
          </p:cNvPr>
          <p:cNvSpPr>
            <a:spLocks noGrp="1"/>
          </p:cNvSpPr>
          <p:nvPr>
            <p:ph type="subTitle" idx="1"/>
          </p:nvPr>
        </p:nvSpPr>
        <p:spPr>
          <a:xfrm>
            <a:off x="1876380" y="1873136"/>
            <a:ext cx="8791575" cy="564939"/>
          </a:xfrm>
        </p:spPr>
        <p:txBody>
          <a:bodyPr>
            <a:normAutofit/>
          </a:bodyPr>
          <a:lstStyle/>
          <a:p>
            <a:pPr algn="ctr"/>
            <a:r>
              <a:rPr lang="en-US">
                <a:solidFill>
                  <a:srgbClr val="FFC000"/>
                </a:solidFill>
              </a:rPr>
              <a:t>Create, insert, update, delete </a:t>
            </a:r>
            <a:r>
              <a:rPr lang="en-US">
                <a:solidFill>
                  <a:schemeClr val="tx1"/>
                </a:solidFill>
              </a:rPr>
              <a:t>Statement Practice</a:t>
            </a:r>
          </a:p>
        </p:txBody>
      </p:sp>
      <p:sp>
        <p:nvSpPr>
          <p:cNvPr id="6" name="TextBox 5">
            <a:extLst>
              <a:ext uri="{FF2B5EF4-FFF2-40B4-BE49-F238E27FC236}">
                <a16:creationId xmlns:a16="http://schemas.microsoft.com/office/drawing/2014/main" id="{92BB8542-0453-4BA3-9CD2-95838244AA45}"/>
              </a:ext>
            </a:extLst>
          </p:cNvPr>
          <p:cNvSpPr txBox="1"/>
          <p:nvPr/>
        </p:nvSpPr>
        <p:spPr>
          <a:xfrm>
            <a:off x="3138878" y="3108335"/>
            <a:ext cx="7020190" cy="3647152"/>
          </a:xfrm>
          <a:prstGeom prst="rect">
            <a:avLst/>
          </a:prstGeom>
          <a:noFill/>
        </p:spPr>
        <p:txBody>
          <a:bodyPr wrap="square" rtlCol="0">
            <a:spAutoFit/>
          </a:bodyPr>
          <a:lstStyle/>
          <a:p>
            <a:pPr algn="l"/>
            <a:r>
              <a:rPr lang="en-US" sz="1050" b="1" i="0">
                <a:effectLst/>
                <a:latin typeface="Consolas" panose="020B0609020204030204" pitchFamily="49" charset="0"/>
              </a:rPr>
              <a:t>CREATE</a:t>
            </a:r>
            <a:r>
              <a:rPr lang="en-US" sz="1050" b="0" i="0">
                <a:effectLst/>
                <a:latin typeface="Consolas" panose="020B0609020204030204" pitchFamily="49" charset="0"/>
              </a:rPr>
              <a:t> </a:t>
            </a:r>
            <a:r>
              <a:rPr lang="en-US" sz="1050" b="1" i="0">
                <a:effectLst/>
                <a:latin typeface="Consolas" panose="020B0609020204030204" pitchFamily="49" charset="0"/>
              </a:rPr>
              <a:t>TABLE</a:t>
            </a:r>
            <a:r>
              <a:rPr lang="en-US" sz="1050" b="0" i="0">
                <a:effectLst/>
                <a:latin typeface="Consolas" panose="020B0609020204030204" pitchFamily="49" charset="0"/>
              </a:rPr>
              <a:t> Employee(  </a:t>
            </a:r>
            <a:r>
              <a:rPr lang="en-US" sz="1050" b="0" i="0" err="1">
                <a:effectLst/>
                <a:latin typeface="Consolas" panose="020B0609020204030204" pitchFamily="49" charset="0"/>
              </a:rPr>
              <a:t>EmpId</a:t>
            </a:r>
            <a:r>
              <a:rPr lang="en-US" sz="1050" b="0" i="0">
                <a:effectLst/>
                <a:latin typeface="Consolas" panose="020B0609020204030204" pitchFamily="49" charset="0"/>
              </a:rPr>
              <a:t> </a:t>
            </a:r>
            <a:r>
              <a:rPr lang="en-US" sz="1050" b="1" i="0">
                <a:effectLst/>
                <a:latin typeface="Consolas" panose="020B0609020204030204" pitchFamily="49" charset="0"/>
              </a:rPr>
              <a:t>int</a:t>
            </a:r>
            <a:r>
              <a:rPr lang="en-US" sz="1050" b="0" i="0">
                <a:effectLst/>
                <a:latin typeface="Consolas" panose="020B0609020204030204" pitchFamily="49" charset="0"/>
              </a:rPr>
              <a:t>,  </a:t>
            </a:r>
          </a:p>
          <a:p>
            <a:pPr algn="l"/>
            <a:r>
              <a:rPr lang="en-US" sz="1050" b="0" i="0">
                <a:effectLst/>
                <a:latin typeface="Consolas" panose="020B0609020204030204" pitchFamily="49" charset="0"/>
              </a:rPr>
              <a:t>    </a:t>
            </a:r>
            <a:r>
              <a:rPr lang="en-US" sz="1050" b="0" i="0" err="1">
                <a:effectLst/>
                <a:latin typeface="Consolas" panose="020B0609020204030204" pitchFamily="49" charset="0"/>
              </a:rPr>
              <a:t>LastName</a:t>
            </a:r>
            <a:r>
              <a:rPr lang="en-US" sz="1050" b="0" i="0">
                <a:effectLst/>
                <a:latin typeface="Consolas" panose="020B0609020204030204" pitchFamily="49" charset="0"/>
              </a:rPr>
              <a:t>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FirstName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Address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City </a:t>
            </a:r>
            <a:r>
              <a:rPr lang="en-US" sz="1050" b="1" i="0">
                <a:effectLst/>
                <a:latin typeface="Consolas" panose="020B0609020204030204" pitchFamily="49" charset="0"/>
              </a:rPr>
              <a:t>varchar</a:t>
            </a:r>
            <a:r>
              <a:rPr lang="en-US" sz="1050" b="0" i="0">
                <a:effectLst/>
                <a:latin typeface="Consolas" panose="020B0609020204030204" pitchFamily="49" charset="0"/>
              </a:rPr>
              <a:t>(255)   </a:t>
            </a:r>
          </a:p>
          <a:p>
            <a:pPr algn="l"/>
            <a:r>
              <a:rPr lang="en-US" sz="1050" b="0" i="0">
                <a:effectLst/>
                <a:latin typeface="Consolas" panose="020B0609020204030204" pitchFamily="49" charset="0"/>
              </a:rPr>
              <a:t>); </a:t>
            </a:r>
          </a:p>
          <a:p>
            <a:pPr algn="l"/>
            <a:endParaRPr lang="en-US" sz="1050">
              <a:latin typeface="Consolas" panose="020B0609020204030204" pitchFamily="49" charset="0"/>
            </a:endParaRPr>
          </a:p>
          <a:p>
            <a:pPr algn="l"/>
            <a:endParaRPr lang="en-US" sz="1050" b="0" i="0">
              <a:effectLst/>
              <a:latin typeface="Consolas" panose="020B0609020204030204" pitchFamily="49" charset="0"/>
            </a:endParaRPr>
          </a:p>
          <a:p>
            <a:pPr algn="l"/>
            <a:r>
              <a:rPr lang="en-US" sz="1050" b="1" i="0">
                <a:effectLst/>
                <a:latin typeface="Consolas" panose="020B0609020204030204" pitchFamily="49" charset="0"/>
              </a:rPr>
              <a:t>INSERT</a:t>
            </a:r>
            <a:r>
              <a:rPr lang="en-US" sz="1050" b="0" i="0">
                <a:effectLst/>
                <a:latin typeface="Consolas" panose="020B0609020204030204" pitchFamily="49" charset="0"/>
              </a:rPr>
              <a:t> </a:t>
            </a:r>
            <a:r>
              <a:rPr lang="en-US" sz="1050" b="1" i="0">
                <a:effectLst/>
                <a:latin typeface="Consolas" panose="020B0609020204030204" pitchFamily="49" charset="0"/>
              </a:rPr>
              <a:t>INTO</a:t>
            </a:r>
            <a:r>
              <a:rPr lang="en-US" sz="1050" b="0" i="0">
                <a:effectLst/>
                <a:latin typeface="Consolas" panose="020B0609020204030204" pitchFamily="49" charset="0"/>
              </a:rPr>
              <a:t> Employee    (</a:t>
            </a:r>
            <a:r>
              <a:rPr lang="en-US" sz="1050" b="0" i="0" err="1">
                <a:effectLst/>
                <a:latin typeface="Consolas" panose="020B0609020204030204" pitchFamily="49" charset="0"/>
              </a:rPr>
              <a:t>EmpId,LastName,FirstName,ADDRESS,City</a:t>
            </a:r>
            <a:r>
              <a:rPr lang="en-US" sz="1050" b="0" i="0">
                <a:effectLst/>
                <a:latin typeface="Consolas" panose="020B0609020204030204" pitchFamily="49" charset="0"/>
              </a:rPr>
              <a:t>)</a:t>
            </a:r>
          </a:p>
          <a:p>
            <a:pPr algn="l"/>
            <a:r>
              <a:rPr lang="en-US" sz="1050" b="1" i="0">
                <a:effectLst/>
                <a:latin typeface="Consolas" panose="020B0609020204030204" pitchFamily="49" charset="0"/>
              </a:rPr>
              <a:t>VALUES</a:t>
            </a:r>
            <a:r>
              <a:rPr lang="en-US" sz="1050" b="0" i="0">
                <a:effectLst/>
                <a:latin typeface="Consolas" panose="020B0609020204030204" pitchFamily="49" charset="0"/>
              </a:rPr>
              <a:t> (1, 'XYZ', 'ABC', 'India', 'Mumbai' ); </a:t>
            </a:r>
          </a:p>
          <a:p>
            <a:pPr algn="l"/>
            <a:r>
              <a:rPr lang="en-US" sz="1050" b="0" i="0">
                <a:effectLst/>
                <a:latin typeface="Consolas" panose="020B0609020204030204" pitchFamily="49" charset="0"/>
              </a:rPr>
              <a:t>  </a:t>
            </a:r>
            <a:r>
              <a:rPr lang="en-US" sz="1050" b="1" i="0">
                <a:effectLst/>
                <a:latin typeface="Consolas" panose="020B0609020204030204" pitchFamily="49" charset="0"/>
              </a:rPr>
              <a:t>INSERT</a:t>
            </a:r>
            <a:r>
              <a:rPr lang="en-US" sz="1050" b="0" i="0">
                <a:effectLst/>
                <a:latin typeface="Consolas" panose="020B0609020204030204" pitchFamily="49" charset="0"/>
              </a:rPr>
              <a:t> </a:t>
            </a:r>
            <a:r>
              <a:rPr lang="en-US" sz="1050" b="1" i="0">
                <a:effectLst/>
                <a:latin typeface="Consolas" panose="020B0609020204030204" pitchFamily="49" charset="0"/>
              </a:rPr>
              <a:t>INTO</a:t>
            </a:r>
            <a:r>
              <a:rPr lang="en-US" sz="1050" b="0" i="0">
                <a:effectLst/>
                <a:latin typeface="Consolas" panose="020B0609020204030204" pitchFamily="49" charset="0"/>
              </a:rPr>
              <a:t> Employee (</a:t>
            </a:r>
            <a:r>
              <a:rPr lang="en-US" sz="1050" b="0" i="0" err="1">
                <a:effectLst/>
                <a:latin typeface="Consolas" panose="020B0609020204030204" pitchFamily="49" charset="0"/>
              </a:rPr>
              <a:t>EmpId,LastName,FirstName,ADDRESS,City</a:t>
            </a:r>
            <a:r>
              <a:rPr lang="en-US" sz="1050" b="0" i="0">
                <a:effectLst/>
                <a:latin typeface="Consolas" panose="020B0609020204030204" pitchFamily="49" charset="0"/>
              </a:rPr>
              <a:t>)</a:t>
            </a:r>
          </a:p>
          <a:p>
            <a:pPr algn="l"/>
            <a:r>
              <a:rPr lang="en-US" sz="1050" b="0" i="0">
                <a:effectLst/>
                <a:latin typeface="Consolas" panose="020B0609020204030204" pitchFamily="49" charset="0"/>
              </a:rPr>
              <a:t>VALUES (2, 'X', 'A', 'India', 'Pune' );</a:t>
            </a:r>
          </a:p>
          <a:p>
            <a:pPr algn="l"/>
            <a:endParaRPr lang="en-US" sz="1050" b="0" i="0">
              <a:effectLst/>
              <a:latin typeface="Consolas" panose="020B0609020204030204" pitchFamily="49" charset="0"/>
            </a:endParaRPr>
          </a:p>
          <a:p>
            <a:pPr algn="l"/>
            <a:r>
              <a:rPr lang="en-US" sz="1050" b="1" i="0">
                <a:effectLst/>
                <a:latin typeface="Consolas" panose="020B0609020204030204" pitchFamily="49" charset="0"/>
              </a:rPr>
              <a:t>UPDATE</a:t>
            </a:r>
            <a:r>
              <a:rPr lang="en-US" sz="1050" b="0" i="0">
                <a:effectLst/>
                <a:latin typeface="Consolas" panose="020B0609020204030204" pitchFamily="49" charset="0"/>
              </a:rPr>
              <a:t> Employee  </a:t>
            </a:r>
          </a:p>
          <a:p>
            <a:pPr algn="l"/>
            <a:r>
              <a:rPr lang="en-US" sz="1050" b="1" i="0">
                <a:effectLst/>
                <a:latin typeface="Consolas" panose="020B0609020204030204" pitchFamily="49" charset="0"/>
              </a:rPr>
              <a:t>SET</a:t>
            </a:r>
            <a:r>
              <a:rPr lang="en-US" sz="1050" b="0" i="0">
                <a:effectLst/>
                <a:latin typeface="Consolas" panose="020B0609020204030204" pitchFamily="49" charset="0"/>
              </a:rPr>
              <a:t> FirstName= 'KS', City= 'Pune'  </a:t>
            </a:r>
          </a:p>
          <a:p>
            <a:pPr algn="l"/>
            <a:r>
              <a:rPr lang="en-US" sz="1050" b="1" i="0">
                <a:effectLst/>
                <a:latin typeface="Consolas" panose="020B0609020204030204" pitchFamily="49" charset="0"/>
              </a:rPr>
              <a:t>WHERE</a:t>
            </a:r>
            <a:r>
              <a:rPr lang="en-US" sz="1050" b="0" i="0">
                <a:effectLst/>
                <a:latin typeface="Consolas" panose="020B0609020204030204" pitchFamily="49" charset="0"/>
              </a:rPr>
              <a:t> </a:t>
            </a:r>
            <a:r>
              <a:rPr lang="en-US" sz="1050" b="0" i="0" err="1">
                <a:effectLst/>
                <a:latin typeface="Consolas" panose="020B0609020204030204" pitchFamily="49" charset="0"/>
              </a:rPr>
              <a:t>EmpId</a:t>
            </a:r>
            <a:r>
              <a:rPr lang="en-US" sz="1050" b="0" i="0">
                <a:effectLst/>
                <a:latin typeface="Consolas" panose="020B0609020204030204" pitchFamily="49" charset="0"/>
              </a:rPr>
              <a:t>= 1;</a:t>
            </a:r>
          </a:p>
          <a:p>
            <a:pPr algn="l"/>
            <a:endParaRPr lang="en-US" sz="1050">
              <a:latin typeface="Consolas" panose="020B0609020204030204" pitchFamily="49" charset="0"/>
            </a:endParaRPr>
          </a:p>
          <a:p>
            <a:pPr algn="l"/>
            <a:r>
              <a:rPr lang="en-US" sz="1050" b="1" i="0">
                <a:effectLst/>
                <a:latin typeface="Consolas" panose="020B0609020204030204" pitchFamily="49" charset="0"/>
              </a:rPr>
              <a:t>DELETE</a:t>
            </a:r>
            <a:r>
              <a:rPr lang="en-US" sz="1050" b="0" i="0">
                <a:effectLst/>
                <a:latin typeface="Consolas" panose="020B0609020204030204" pitchFamily="49" charset="0"/>
              </a:rPr>
              <a:t> </a:t>
            </a:r>
            <a:r>
              <a:rPr lang="en-US" sz="1050" b="1" i="0">
                <a:effectLst/>
                <a:latin typeface="Consolas" panose="020B0609020204030204" pitchFamily="49" charset="0"/>
              </a:rPr>
              <a:t>FROM</a:t>
            </a:r>
            <a:r>
              <a:rPr lang="en-US" sz="1050" b="0" i="0">
                <a:effectLst/>
                <a:latin typeface="Consolas" panose="020B0609020204030204" pitchFamily="49" charset="0"/>
              </a:rPr>
              <a:t> Employee </a:t>
            </a:r>
            <a:r>
              <a:rPr lang="en-US" sz="1050" b="1" i="0">
                <a:effectLst/>
                <a:latin typeface="Consolas" panose="020B0609020204030204" pitchFamily="49" charset="0"/>
              </a:rPr>
              <a:t>WHERE</a:t>
            </a:r>
            <a:r>
              <a:rPr lang="en-US" sz="1050" b="0" i="0">
                <a:effectLst/>
                <a:latin typeface="Consolas" panose="020B0609020204030204" pitchFamily="49" charset="0"/>
              </a:rPr>
              <a:t> </a:t>
            </a:r>
            <a:r>
              <a:rPr lang="en-US" sz="1050" b="0" i="0" err="1">
                <a:effectLst/>
                <a:latin typeface="Consolas" panose="020B0609020204030204" pitchFamily="49" charset="0"/>
              </a:rPr>
              <a:t>EmpId</a:t>
            </a:r>
            <a:r>
              <a:rPr lang="en-US" sz="1050" b="0" i="0">
                <a:effectLst/>
                <a:latin typeface="Consolas" panose="020B0609020204030204" pitchFamily="49" charset="0"/>
              </a:rPr>
              <a:t>=1; </a:t>
            </a:r>
          </a:p>
          <a:p>
            <a:pPr algn="l"/>
            <a:endParaRPr lang="en-US" sz="1050">
              <a:latin typeface="Consolas" panose="020B0609020204030204" pitchFamily="49" charset="0"/>
            </a:endParaRPr>
          </a:p>
          <a:p>
            <a:r>
              <a:rPr lang="en-US" sz="1050">
                <a:latin typeface="Consolas" panose="020B0609020204030204" pitchFamily="49" charset="0"/>
              </a:rPr>
              <a:t>drop table Employee</a:t>
            </a:r>
          </a:p>
          <a:p>
            <a:pPr algn="l"/>
            <a:endParaRPr lang="en-US" sz="1050">
              <a:latin typeface="Consolas" panose="020B0609020204030204" pitchFamily="49" charset="0"/>
            </a:endParaRPr>
          </a:p>
          <a:p>
            <a:pPr algn="l"/>
            <a:endParaRPr lang="en-US" sz="1050" b="0" i="0">
              <a:effectLst/>
              <a:latin typeface="Consolas" panose="020B0609020204030204" pitchFamily="49" charset="0"/>
            </a:endParaRPr>
          </a:p>
        </p:txBody>
      </p:sp>
    </p:spTree>
    <p:extLst>
      <p:ext uri="{BB962C8B-B14F-4D97-AF65-F5344CB8AC3E}">
        <p14:creationId xmlns:p14="http://schemas.microsoft.com/office/powerpoint/2010/main" val="180361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285A8-6EB4-44C6-9ACB-4CC45D21736D}"/>
              </a:ext>
            </a:extLst>
          </p:cNvPr>
          <p:cNvSpPr>
            <a:spLocks noGrp="1"/>
          </p:cNvSpPr>
          <p:nvPr>
            <p:ph type="ctrTitle"/>
          </p:nvPr>
        </p:nvSpPr>
        <p:spPr>
          <a:xfrm>
            <a:off x="1700212" y="-129959"/>
            <a:ext cx="8791575" cy="1186212"/>
          </a:xfrm>
        </p:spPr>
        <p:txBody>
          <a:bodyPr/>
          <a:lstStyle/>
          <a:p>
            <a:pPr algn="ctr"/>
            <a:r>
              <a:rPr lang="en-US" dirty="0"/>
              <a:t>Window function</a:t>
            </a:r>
          </a:p>
        </p:txBody>
      </p:sp>
      <p:sp>
        <p:nvSpPr>
          <p:cNvPr id="8" name="TextBox 7">
            <a:extLst>
              <a:ext uri="{FF2B5EF4-FFF2-40B4-BE49-F238E27FC236}">
                <a16:creationId xmlns:a16="http://schemas.microsoft.com/office/drawing/2014/main" id="{C5A15B18-4F4E-B5AA-7BD2-A61B0F0CB879}"/>
              </a:ext>
            </a:extLst>
          </p:cNvPr>
          <p:cNvSpPr txBox="1"/>
          <p:nvPr/>
        </p:nvSpPr>
        <p:spPr>
          <a:xfrm>
            <a:off x="3047999" y="1056253"/>
            <a:ext cx="6096000" cy="4862870"/>
          </a:xfrm>
          <a:prstGeom prst="rect">
            <a:avLst/>
          </a:prstGeom>
          <a:noFill/>
        </p:spPr>
        <p:txBody>
          <a:bodyPr wrap="square">
            <a:spAutoFit/>
          </a:bodyPr>
          <a:lstStyle/>
          <a:p>
            <a:r>
              <a:rPr lang="en-US" sz="1000" dirty="0"/>
              <a:t>1. Rank products by total sales:</a:t>
            </a:r>
          </a:p>
          <a:p>
            <a:r>
              <a:rPr lang="en-US" sz="1000" dirty="0"/>
              <a:t>```</a:t>
            </a:r>
            <a:r>
              <a:rPr lang="en-US" sz="1000" dirty="0" err="1"/>
              <a:t>sql</a:t>
            </a:r>
            <a:endParaRPr lang="en-US" sz="1000" dirty="0"/>
          </a:p>
          <a:p>
            <a:r>
              <a:rPr lang="en-US" sz="1000" dirty="0"/>
              <a:t>SELECT </a:t>
            </a:r>
            <a:r>
              <a:rPr lang="en-US" sz="1000" dirty="0" err="1"/>
              <a:t>ProductID</a:t>
            </a:r>
            <a:r>
              <a:rPr lang="en-US" sz="1000" dirty="0"/>
              <a:t>, </a:t>
            </a:r>
            <a:r>
              <a:rPr lang="en-US" sz="1000" dirty="0" err="1"/>
              <a:t>SalesOrderID</a:t>
            </a:r>
            <a:r>
              <a:rPr lang="en-US" sz="1000" dirty="0"/>
              <a:t>, </a:t>
            </a:r>
            <a:r>
              <a:rPr lang="en-US" sz="1000" dirty="0" err="1"/>
              <a:t>OrderQty</a:t>
            </a:r>
            <a:r>
              <a:rPr lang="en-US" sz="1000" dirty="0"/>
              <a:t>,</a:t>
            </a:r>
          </a:p>
          <a:p>
            <a:r>
              <a:rPr lang="en-US" sz="1000" dirty="0"/>
              <a:t>  RANK() OVER (PARTITION BY </a:t>
            </a:r>
            <a:r>
              <a:rPr lang="en-US" sz="1000" dirty="0" err="1"/>
              <a:t>ProductID</a:t>
            </a:r>
            <a:r>
              <a:rPr lang="en-US" sz="1000" dirty="0"/>
              <a:t> ORDER BY SUM(</a:t>
            </a:r>
            <a:r>
              <a:rPr lang="en-US" sz="1000" dirty="0" err="1"/>
              <a:t>OrderQty</a:t>
            </a:r>
            <a:r>
              <a:rPr lang="en-US" sz="1000" dirty="0"/>
              <a:t>) DESC) AS </a:t>
            </a:r>
            <a:r>
              <a:rPr lang="en-US" sz="1000" dirty="0" err="1"/>
              <a:t>SalesRank</a:t>
            </a:r>
            <a:endParaRPr lang="en-US" sz="1000" dirty="0"/>
          </a:p>
          <a:p>
            <a:r>
              <a:rPr lang="en-US" sz="1000" dirty="0"/>
              <a:t>FROM </a:t>
            </a:r>
            <a:r>
              <a:rPr lang="en-US" sz="1000" dirty="0" err="1"/>
              <a:t>Sales.SalesOrderDetail</a:t>
            </a:r>
            <a:endParaRPr lang="en-US" sz="1000" dirty="0"/>
          </a:p>
          <a:p>
            <a:r>
              <a:rPr lang="en-US" sz="1000" dirty="0"/>
              <a:t>GROUP BY </a:t>
            </a:r>
            <a:r>
              <a:rPr lang="en-US" sz="1000" dirty="0" err="1"/>
              <a:t>ProductID</a:t>
            </a:r>
            <a:r>
              <a:rPr lang="en-US" sz="1000" dirty="0"/>
              <a:t>, </a:t>
            </a:r>
            <a:r>
              <a:rPr lang="en-US" sz="1000" dirty="0" err="1"/>
              <a:t>SalesOrderID</a:t>
            </a:r>
            <a:r>
              <a:rPr lang="en-US" sz="1000" dirty="0"/>
              <a:t>, </a:t>
            </a:r>
            <a:r>
              <a:rPr lang="en-US" sz="1000" dirty="0" err="1"/>
              <a:t>OrderQty</a:t>
            </a:r>
            <a:r>
              <a:rPr lang="en-US" sz="1000" dirty="0"/>
              <a:t>;</a:t>
            </a:r>
          </a:p>
          <a:p>
            <a:r>
              <a:rPr lang="en-US" sz="1000" dirty="0"/>
              <a:t>```</a:t>
            </a:r>
          </a:p>
          <a:p>
            <a:endParaRPr lang="en-US" sz="1000" dirty="0"/>
          </a:p>
          <a:p>
            <a:r>
              <a:rPr lang="en-US" sz="1000" dirty="0"/>
              <a:t>2. Calculate running total for sales by product category:</a:t>
            </a:r>
          </a:p>
          <a:p>
            <a:r>
              <a:rPr lang="en-US" sz="1000" dirty="0"/>
              <a:t>```</a:t>
            </a:r>
            <a:r>
              <a:rPr lang="en-US" sz="1000" dirty="0" err="1"/>
              <a:t>sql</a:t>
            </a:r>
            <a:endParaRPr lang="en-US" sz="1000" dirty="0"/>
          </a:p>
          <a:p>
            <a:r>
              <a:rPr lang="en-US" sz="1000" dirty="0"/>
              <a:t>SELECT </a:t>
            </a:r>
            <a:r>
              <a:rPr lang="en-US" sz="1000" dirty="0" err="1"/>
              <a:t>SalesOrderID</a:t>
            </a:r>
            <a:r>
              <a:rPr lang="en-US" sz="1000" dirty="0"/>
              <a:t>, </a:t>
            </a:r>
            <a:r>
              <a:rPr lang="en-US" sz="1000" dirty="0" err="1"/>
              <a:t>ProductID</a:t>
            </a:r>
            <a:r>
              <a:rPr lang="en-US" sz="1000" dirty="0"/>
              <a:t>, </a:t>
            </a:r>
            <a:r>
              <a:rPr lang="en-US" sz="1000" dirty="0" err="1"/>
              <a:t>OrderQty</a:t>
            </a:r>
            <a:r>
              <a:rPr lang="en-US" sz="1000" dirty="0"/>
              <a:t>,</a:t>
            </a:r>
          </a:p>
          <a:p>
            <a:r>
              <a:rPr lang="en-US" sz="1000" dirty="0"/>
              <a:t>  SUM(</a:t>
            </a:r>
            <a:r>
              <a:rPr lang="en-US" sz="1000" dirty="0" err="1"/>
              <a:t>OrderQty</a:t>
            </a:r>
            <a:r>
              <a:rPr lang="en-US" sz="1000" dirty="0"/>
              <a:t>) OVER (PARTITION BY </a:t>
            </a:r>
            <a:r>
              <a:rPr lang="en-US" sz="1000" dirty="0" err="1"/>
              <a:t>ProductCategoryID</a:t>
            </a:r>
            <a:r>
              <a:rPr lang="en-US" sz="1000" dirty="0"/>
              <a:t> ORDER BY </a:t>
            </a:r>
            <a:r>
              <a:rPr lang="en-US" sz="1000" dirty="0" err="1"/>
              <a:t>SalesOrderID</a:t>
            </a:r>
            <a:r>
              <a:rPr lang="en-US" sz="1000" dirty="0"/>
              <a:t>) AS </a:t>
            </a:r>
            <a:r>
              <a:rPr lang="en-US" sz="1000" dirty="0" err="1"/>
              <a:t>RunningTotal</a:t>
            </a:r>
            <a:endParaRPr lang="en-US" sz="1000" dirty="0"/>
          </a:p>
          <a:p>
            <a:r>
              <a:rPr lang="en-US" sz="1000" dirty="0"/>
              <a:t>FROM </a:t>
            </a:r>
            <a:r>
              <a:rPr lang="en-US" sz="1000" dirty="0" err="1"/>
              <a:t>Sales.SalesOrderDetail</a:t>
            </a:r>
            <a:r>
              <a:rPr lang="en-US" sz="1000" dirty="0"/>
              <a:t>;</a:t>
            </a:r>
          </a:p>
          <a:p>
            <a:r>
              <a:rPr lang="en-US" sz="1000" dirty="0"/>
              <a:t>```</a:t>
            </a:r>
          </a:p>
          <a:p>
            <a:endParaRPr lang="en-US" sz="1000" dirty="0"/>
          </a:p>
          <a:p>
            <a:r>
              <a:rPr lang="en-US" sz="1000" dirty="0"/>
              <a:t>3. Determine the difference in the number of days between each order:</a:t>
            </a:r>
          </a:p>
          <a:p>
            <a:r>
              <a:rPr lang="en-US" sz="1000" dirty="0"/>
              <a:t>```</a:t>
            </a:r>
            <a:r>
              <a:rPr lang="en-US" sz="1000" dirty="0" err="1"/>
              <a:t>sql</a:t>
            </a:r>
            <a:endParaRPr lang="en-US" sz="1000" dirty="0"/>
          </a:p>
          <a:p>
            <a:r>
              <a:rPr lang="en-US" sz="1000" dirty="0"/>
              <a:t>SELECT </a:t>
            </a:r>
            <a:r>
              <a:rPr lang="en-US" sz="1000" dirty="0" err="1"/>
              <a:t>OrderDate</a:t>
            </a:r>
            <a:r>
              <a:rPr lang="en-US" sz="1000" dirty="0"/>
              <a:t>, DATEDIFF(day, LAG(</a:t>
            </a:r>
            <a:r>
              <a:rPr lang="en-US" sz="1000" dirty="0" err="1"/>
              <a:t>OrderDate</a:t>
            </a:r>
            <a:r>
              <a:rPr lang="en-US" sz="1000" dirty="0"/>
              <a:t>) OVER (ORDER BY </a:t>
            </a:r>
            <a:r>
              <a:rPr lang="en-US" sz="1000" dirty="0" err="1"/>
              <a:t>OrderDate</a:t>
            </a:r>
            <a:r>
              <a:rPr lang="en-US" sz="1000" dirty="0"/>
              <a:t>), </a:t>
            </a:r>
            <a:r>
              <a:rPr lang="en-US" sz="1000" dirty="0" err="1"/>
              <a:t>OrderDate</a:t>
            </a:r>
            <a:r>
              <a:rPr lang="en-US" sz="1000" dirty="0"/>
              <a:t>) AS </a:t>
            </a:r>
            <a:r>
              <a:rPr lang="en-US" sz="1000" dirty="0" err="1"/>
              <a:t>DaysBetweenOrders</a:t>
            </a:r>
            <a:endParaRPr lang="en-US" sz="1000" dirty="0"/>
          </a:p>
          <a:p>
            <a:r>
              <a:rPr lang="en-US" sz="1000" dirty="0"/>
              <a:t>FROM </a:t>
            </a:r>
            <a:r>
              <a:rPr lang="en-US" sz="1000" dirty="0" err="1"/>
              <a:t>Sales.SalesOrderHeader</a:t>
            </a:r>
            <a:r>
              <a:rPr lang="en-US" sz="1000" dirty="0"/>
              <a:t>;</a:t>
            </a:r>
          </a:p>
          <a:p>
            <a:r>
              <a:rPr lang="en-US" sz="1000" dirty="0"/>
              <a:t>```</a:t>
            </a:r>
          </a:p>
          <a:p>
            <a:endParaRPr lang="en-US" sz="1000" dirty="0"/>
          </a:p>
          <a:p>
            <a:r>
              <a:rPr lang="en-US" sz="1000" dirty="0"/>
              <a:t>4. Calculate the percentage of each employee's sales based on the team:</a:t>
            </a:r>
          </a:p>
          <a:p>
            <a:r>
              <a:rPr lang="en-US" sz="1000" dirty="0"/>
              <a:t>```</a:t>
            </a:r>
            <a:r>
              <a:rPr lang="en-US" sz="1000" dirty="0" err="1"/>
              <a:t>sql</a:t>
            </a:r>
            <a:endParaRPr lang="en-US" sz="1000" dirty="0"/>
          </a:p>
          <a:p>
            <a:r>
              <a:rPr lang="en-US" sz="1000" dirty="0"/>
              <a:t>SELECT </a:t>
            </a:r>
            <a:r>
              <a:rPr lang="en-US" sz="1000" dirty="0" err="1"/>
              <a:t>EmployeeID</a:t>
            </a:r>
            <a:r>
              <a:rPr lang="en-US" sz="1000" dirty="0"/>
              <a:t>, </a:t>
            </a:r>
            <a:r>
              <a:rPr lang="en-US" sz="1000" dirty="0" err="1"/>
              <a:t>SalesOrderID</a:t>
            </a:r>
            <a:r>
              <a:rPr lang="en-US" sz="1000" dirty="0"/>
              <a:t>, </a:t>
            </a:r>
            <a:r>
              <a:rPr lang="en-US" sz="1000" dirty="0" err="1"/>
              <a:t>TotalSales</a:t>
            </a:r>
            <a:r>
              <a:rPr lang="en-US" sz="1000" dirty="0"/>
              <a:t>,</a:t>
            </a:r>
          </a:p>
          <a:p>
            <a:r>
              <a:rPr lang="en-US" sz="1000" dirty="0"/>
              <a:t>  </a:t>
            </a:r>
            <a:r>
              <a:rPr lang="en-US" sz="1000" dirty="0" err="1"/>
              <a:t>TotalSales</a:t>
            </a:r>
            <a:r>
              <a:rPr lang="en-US" sz="1000" dirty="0"/>
              <a:t> * 100 / SUM(</a:t>
            </a:r>
            <a:r>
              <a:rPr lang="en-US" sz="1000" dirty="0" err="1"/>
              <a:t>TotalSales</a:t>
            </a:r>
            <a:r>
              <a:rPr lang="en-US" sz="1000" dirty="0"/>
              <a:t>) OVER (PARTITION BY </a:t>
            </a:r>
            <a:r>
              <a:rPr lang="en-US" sz="1000" dirty="0" err="1"/>
              <a:t>EmployeeID</a:t>
            </a:r>
            <a:r>
              <a:rPr lang="en-US" sz="1000" dirty="0"/>
              <a:t>) AS </a:t>
            </a:r>
            <a:r>
              <a:rPr lang="en-US" sz="1000" dirty="0" err="1"/>
              <a:t>SalesPercentage</a:t>
            </a:r>
            <a:endParaRPr lang="en-US" sz="1000" dirty="0"/>
          </a:p>
          <a:p>
            <a:r>
              <a:rPr lang="en-US" sz="1000" dirty="0"/>
              <a:t>FROM (</a:t>
            </a:r>
          </a:p>
          <a:p>
            <a:r>
              <a:rPr lang="en-US" sz="1000" dirty="0"/>
              <a:t>  SELECT </a:t>
            </a:r>
            <a:r>
              <a:rPr lang="en-US" sz="1000" dirty="0" err="1"/>
              <a:t>EmployeeID</a:t>
            </a:r>
            <a:r>
              <a:rPr lang="en-US" sz="1000" dirty="0"/>
              <a:t>, </a:t>
            </a:r>
            <a:r>
              <a:rPr lang="en-US" sz="1000" dirty="0" err="1"/>
              <a:t>SalesOrderID</a:t>
            </a:r>
            <a:r>
              <a:rPr lang="en-US" sz="1000" dirty="0"/>
              <a:t>, SUM(</a:t>
            </a:r>
            <a:r>
              <a:rPr lang="en-US" sz="1000" dirty="0" err="1"/>
              <a:t>TotalDue</a:t>
            </a:r>
            <a:r>
              <a:rPr lang="en-US" sz="1000" dirty="0"/>
              <a:t>) AS </a:t>
            </a:r>
            <a:r>
              <a:rPr lang="en-US" sz="1000" dirty="0" err="1"/>
              <a:t>TotalSales</a:t>
            </a:r>
            <a:endParaRPr lang="en-US" sz="1000" dirty="0"/>
          </a:p>
          <a:p>
            <a:r>
              <a:rPr lang="en-US" sz="1000" dirty="0"/>
              <a:t>  FROM </a:t>
            </a:r>
            <a:r>
              <a:rPr lang="en-US" sz="1000" dirty="0" err="1"/>
              <a:t>Sales.SalesOrderHeader</a:t>
            </a:r>
            <a:endParaRPr lang="en-US" sz="1000" dirty="0"/>
          </a:p>
          <a:p>
            <a:r>
              <a:rPr lang="en-US" sz="1000" dirty="0"/>
              <a:t>  GROUP BY </a:t>
            </a:r>
            <a:r>
              <a:rPr lang="en-US" sz="1000" dirty="0" err="1"/>
              <a:t>EmployeeID</a:t>
            </a:r>
            <a:r>
              <a:rPr lang="en-US" sz="1000" dirty="0"/>
              <a:t>, </a:t>
            </a:r>
            <a:r>
              <a:rPr lang="en-US" sz="1000" dirty="0" err="1"/>
              <a:t>SalesOrderID</a:t>
            </a:r>
            <a:endParaRPr lang="en-US" sz="1000" dirty="0"/>
          </a:p>
          <a:p>
            <a:r>
              <a:rPr lang="en-US" sz="1000" dirty="0"/>
              <a:t>) AS </a:t>
            </a:r>
            <a:r>
              <a:rPr lang="en-US" sz="1000" dirty="0" err="1"/>
              <a:t>SalesData</a:t>
            </a:r>
            <a:r>
              <a:rPr lang="en-US" sz="1000" dirty="0"/>
              <a:t>;</a:t>
            </a:r>
          </a:p>
        </p:txBody>
      </p:sp>
    </p:spTree>
    <p:extLst>
      <p:ext uri="{BB962C8B-B14F-4D97-AF65-F5344CB8AC3E}">
        <p14:creationId xmlns:p14="http://schemas.microsoft.com/office/powerpoint/2010/main" val="9129126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5728</TotalTime>
  <Words>2912</Words>
  <Application>Microsoft Office PowerPoint</Application>
  <PresentationFormat>Widescreen</PresentationFormat>
  <Paragraphs>199</Paragraphs>
  <Slides>20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Aldhabi</vt:lpstr>
      <vt:lpstr>Arial</vt:lpstr>
      <vt:lpstr>Calibri</vt:lpstr>
      <vt:lpstr>Calibri Light</vt:lpstr>
      <vt:lpstr>Consolas</vt:lpstr>
      <vt:lpstr>Office Theme</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SQL FOR DATA ANALYSIS </vt:lpstr>
      <vt:lpstr>Window function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FOR DATA ANALYSIS</dc:title>
  <dc:creator>Frank Z</dc:creator>
  <cp:lastModifiedBy>Ziyu Zhu</cp:lastModifiedBy>
  <cp:revision>2</cp:revision>
  <dcterms:created xsi:type="dcterms:W3CDTF">2022-01-21T22:09:03Z</dcterms:created>
  <dcterms:modified xsi:type="dcterms:W3CDTF">2023-08-03T22:54:40Z</dcterms:modified>
</cp:coreProperties>
</file>