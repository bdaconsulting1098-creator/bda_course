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54" r:id="rId2"/>
    <p:sldId id="665" r:id="rId3"/>
    <p:sldId id="570" r:id="rId4"/>
    <p:sldId id="571" r:id="rId5"/>
    <p:sldId id="572" r:id="rId6"/>
    <p:sldId id="573" r:id="rId7"/>
    <p:sldId id="575" r:id="rId8"/>
    <p:sldId id="528" r:id="rId9"/>
    <p:sldId id="531" r:id="rId10"/>
    <p:sldId id="532" r:id="rId11"/>
    <p:sldId id="608" r:id="rId12"/>
    <p:sldId id="666" r:id="rId13"/>
    <p:sldId id="586" r:id="rId14"/>
    <p:sldId id="587" r:id="rId15"/>
    <p:sldId id="588" r:id="rId16"/>
    <p:sldId id="658" r:id="rId17"/>
    <p:sldId id="659" r:id="rId18"/>
    <p:sldId id="663" r:id="rId19"/>
    <p:sldId id="477" r:id="rId20"/>
    <p:sldId id="279" r:id="rId21"/>
    <p:sldId id="537" r:id="rId22"/>
    <p:sldId id="515" r:id="rId23"/>
    <p:sldId id="597" r:id="rId24"/>
    <p:sldId id="301" r:id="rId25"/>
    <p:sldId id="327" r:id="rId26"/>
    <p:sldId id="300" r:id="rId27"/>
    <p:sldId id="299" r:id="rId28"/>
    <p:sldId id="601" r:id="rId29"/>
    <p:sldId id="622" r:id="rId30"/>
    <p:sldId id="62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7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5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6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4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3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9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0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2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36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7247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13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67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13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41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7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2A15BD4-B16E-4AC9-9811-6ED0603FEAC9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BA3102F6-55CD-29D8-32B2-A65F6FA5E7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761" y="-73002"/>
            <a:ext cx="1508078" cy="150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99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554442" y="474878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大道至简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BB9D97-9972-8F05-B3DA-41F896277A19}"/>
              </a:ext>
            </a:extLst>
          </p:cNvPr>
          <p:cNvSpPr txBox="1"/>
          <p:nvPr/>
        </p:nvSpPr>
        <p:spPr>
          <a:xfrm>
            <a:off x="507530" y="1369048"/>
            <a:ext cx="2999069" cy="83099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Tools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02D92-2281-423B-A580-B6D5F6A90910}"/>
              </a:ext>
            </a:extLst>
          </p:cNvPr>
          <p:cNvSpPr txBox="1"/>
          <p:nvPr/>
        </p:nvSpPr>
        <p:spPr>
          <a:xfrm>
            <a:off x="507530" y="2607069"/>
            <a:ext cx="2999069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nalytical Techniques 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&amp; Methods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分析技术和方法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E7B384-B8EE-F9EF-28E1-13537EA9A3C5}"/>
              </a:ext>
            </a:extLst>
          </p:cNvPr>
          <p:cNvSpPr txBox="1"/>
          <p:nvPr/>
        </p:nvSpPr>
        <p:spPr>
          <a:xfrm>
            <a:off x="507530" y="4242457"/>
            <a:ext cx="3057792" cy="83099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usiness Knowledge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业务知识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6CE3C-EEA9-4019-716E-2ED0267039FC}"/>
              </a:ext>
            </a:extLst>
          </p:cNvPr>
          <p:cNvSpPr txBox="1"/>
          <p:nvPr/>
        </p:nvSpPr>
        <p:spPr>
          <a:xfrm>
            <a:off x="5285061" y="2884070"/>
            <a:ext cx="2114027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COOP experience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经验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A9B510A7-BD7E-7869-5415-07E73544F11C}"/>
              </a:ext>
            </a:extLst>
          </p:cNvPr>
          <p:cNvSpPr/>
          <p:nvPr/>
        </p:nvSpPr>
        <p:spPr>
          <a:xfrm>
            <a:off x="4005742" y="2584141"/>
            <a:ext cx="1140902" cy="110531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16B3AA1C-4CD3-A6B4-9759-18F6FD1BFB16}"/>
              </a:ext>
            </a:extLst>
          </p:cNvPr>
          <p:cNvSpPr/>
          <p:nvPr/>
        </p:nvSpPr>
        <p:spPr>
          <a:xfrm>
            <a:off x="7399088" y="3020037"/>
            <a:ext cx="1300294" cy="51036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6E762C-B7F4-05A1-7658-681D8741EAC5}"/>
              </a:ext>
            </a:extLst>
          </p:cNvPr>
          <p:cNvSpPr txBox="1"/>
          <p:nvPr/>
        </p:nvSpPr>
        <p:spPr>
          <a:xfrm>
            <a:off x="9013969" y="2884070"/>
            <a:ext cx="223986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OFFER</a:t>
            </a:r>
          </a:p>
        </p:txBody>
      </p:sp>
    </p:spTree>
    <p:extLst>
      <p:ext uri="{BB962C8B-B14F-4D97-AF65-F5344CB8AC3E}">
        <p14:creationId xmlns:p14="http://schemas.microsoft.com/office/powerpoint/2010/main" val="168183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3011648" y="251983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怎么做规划？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61970D-E799-43E0-5C7C-D42C4982D61C}"/>
              </a:ext>
            </a:extLst>
          </p:cNvPr>
          <p:cNvSpPr txBox="1"/>
          <p:nvPr/>
        </p:nvSpPr>
        <p:spPr>
          <a:xfrm>
            <a:off x="4999837" y="914401"/>
            <a:ext cx="268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根据自身情况做出计划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7DE1704-A2FA-C22D-C545-BC0D71035F3A}"/>
              </a:ext>
            </a:extLst>
          </p:cNvPr>
          <p:cNvSpPr/>
          <p:nvPr/>
        </p:nvSpPr>
        <p:spPr>
          <a:xfrm>
            <a:off x="3169638" y="1683259"/>
            <a:ext cx="3464653" cy="87839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初级数据分析师课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78E045A-DF5D-A669-D52F-F78AB8377FA4}"/>
              </a:ext>
            </a:extLst>
          </p:cNvPr>
          <p:cNvSpPr/>
          <p:nvPr/>
        </p:nvSpPr>
        <p:spPr>
          <a:xfrm>
            <a:off x="3169637" y="2927011"/>
            <a:ext cx="3464653" cy="87839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中高级课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0AC1AF4-3EA7-8226-01B2-DA108CD36AF6}"/>
              </a:ext>
            </a:extLst>
          </p:cNvPr>
          <p:cNvSpPr/>
          <p:nvPr/>
        </p:nvSpPr>
        <p:spPr>
          <a:xfrm>
            <a:off x="4999837" y="4354302"/>
            <a:ext cx="3464653" cy="87839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COOP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96BDB8F-F60C-84E4-A822-D9AEB42B6EC7}"/>
              </a:ext>
            </a:extLst>
          </p:cNvPr>
          <p:cNvSpPr/>
          <p:nvPr/>
        </p:nvSpPr>
        <p:spPr>
          <a:xfrm rot="5400000">
            <a:off x="4582645" y="2495187"/>
            <a:ext cx="177561" cy="29693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E2B8A4-391C-1BFD-41B7-7A3DA5A0E8D3}"/>
              </a:ext>
            </a:extLst>
          </p:cNvPr>
          <p:cNvSpPr txBox="1"/>
          <p:nvPr/>
        </p:nvSpPr>
        <p:spPr>
          <a:xfrm>
            <a:off x="4169327" y="4068661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 months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7E47CABF-0F49-DAEF-F59C-1C46B4491264}"/>
              </a:ext>
            </a:extLst>
          </p:cNvPr>
          <p:cNvSpPr/>
          <p:nvPr/>
        </p:nvSpPr>
        <p:spPr>
          <a:xfrm rot="5400000">
            <a:off x="6569437" y="3850794"/>
            <a:ext cx="177561" cy="29693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0D378-48A9-BBF3-F942-A92836010D85}"/>
              </a:ext>
            </a:extLst>
          </p:cNvPr>
          <p:cNvSpPr txBox="1"/>
          <p:nvPr/>
        </p:nvSpPr>
        <p:spPr>
          <a:xfrm>
            <a:off x="6156119" y="5424268"/>
            <a:ext cx="1661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 months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A620004-1C1E-1AD8-385E-6E14A27FB7CF}"/>
              </a:ext>
            </a:extLst>
          </p:cNvPr>
          <p:cNvSpPr/>
          <p:nvPr/>
        </p:nvSpPr>
        <p:spPr>
          <a:xfrm rot="5400000">
            <a:off x="5545980" y="3618305"/>
            <a:ext cx="177563" cy="50162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34392-20E5-0A56-817B-FEB585304289}"/>
              </a:ext>
            </a:extLst>
          </p:cNvPr>
          <p:cNvSpPr txBox="1"/>
          <p:nvPr/>
        </p:nvSpPr>
        <p:spPr>
          <a:xfrm>
            <a:off x="4109208" y="6215233"/>
            <a:ext cx="2806024" cy="36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 months</a:t>
            </a:r>
          </a:p>
        </p:txBody>
      </p:sp>
    </p:spTree>
    <p:extLst>
      <p:ext uri="{BB962C8B-B14F-4D97-AF65-F5344CB8AC3E}">
        <p14:creationId xmlns:p14="http://schemas.microsoft.com/office/powerpoint/2010/main" val="239541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数据职位分类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0D3C9-92FB-C924-52E4-74FF58386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857" y="2123769"/>
            <a:ext cx="66294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4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760" y="365126"/>
            <a:ext cx="5573785" cy="66650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400" dirty="0"/>
              <a:t>数据行业分类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D9E7C-4941-E9F7-D4D5-9F9ACCB54EBA}"/>
              </a:ext>
            </a:extLst>
          </p:cNvPr>
          <p:cNvSpPr txBox="1"/>
          <p:nvPr/>
        </p:nvSpPr>
        <p:spPr>
          <a:xfrm>
            <a:off x="4766345" y="1208850"/>
            <a:ext cx="250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ata Engineer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BD066-10C9-DA5E-4220-C983043DEAFA}"/>
              </a:ext>
            </a:extLst>
          </p:cNvPr>
          <p:cNvSpPr txBox="1"/>
          <p:nvPr/>
        </p:nvSpPr>
        <p:spPr>
          <a:xfrm>
            <a:off x="3229760" y="1879963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 data engineer is 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IT worker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whose primary job is to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prepare data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for analytical or operational uses. These software engineers are typically responsible for building data pipelines to bring together information from different source systems.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FFD9A-09BB-EC75-FC1E-F08DD8DAEA7C}"/>
              </a:ext>
            </a:extLst>
          </p:cNvPr>
          <p:cNvSpPr txBox="1"/>
          <p:nvPr/>
        </p:nvSpPr>
        <p:spPr>
          <a:xfrm>
            <a:off x="3556931" y="3327407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engineer skill set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C#, Java, Python, R, Ruby, Scala and SQL.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ETL tools and REST-oriented APIs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warehouses and data lakes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NoSQL databases and Apache Spark systems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Business intelligence (BI) platforms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machine learning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Unix-based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283867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760" y="365126"/>
            <a:ext cx="5573785" cy="66650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400" dirty="0"/>
              <a:t>数据行业分类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D9E7C-4941-E9F7-D4D5-9F9ACCB54EBA}"/>
              </a:ext>
            </a:extLst>
          </p:cNvPr>
          <p:cNvSpPr txBox="1"/>
          <p:nvPr/>
        </p:nvSpPr>
        <p:spPr>
          <a:xfrm>
            <a:off x="4762498" y="1123205"/>
            <a:ext cx="250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ata Scientist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BD066-10C9-DA5E-4220-C983043DEAFA}"/>
              </a:ext>
            </a:extLst>
          </p:cNvPr>
          <p:cNvSpPr txBox="1"/>
          <p:nvPr/>
        </p:nvSpPr>
        <p:spPr>
          <a:xfrm>
            <a:off x="3229760" y="1605452"/>
            <a:ext cx="6094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 data scientist is a professional responsible for collecting, analyzing and interpreting extremely large amounts of data. The data scientist role is an offshoot of several traditional technical roles, including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mathematician, scientist, statistician and computer professional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. This job requires the use of advanced analytics technologies, including machine learning and predictive modeling.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FFD9A-09BB-EC75-FC1E-F08DD8DAEA7C}"/>
              </a:ext>
            </a:extLst>
          </p:cNvPr>
          <p:cNvSpPr txBox="1"/>
          <p:nvPr/>
        </p:nvSpPr>
        <p:spPr>
          <a:xfrm>
            <a:off x="3229760" y="3353553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Scientist skill set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C#, Java, Python, R, Ruby, Scala and SQL.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Unix-based operating systems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Hadoop, Pig, Hive, Spark and MapReduce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mining, machine learning, deep learning,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the ability to integrate structured and unstructured data.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Experience with statistical research techniques, such as modeling, clustering, data visualization and segmentation, and predictive analysis, are also a big part of the roles. </a:t>
            </a:r>
          </a:p>
        </p:txBody>
      </p:sp>
    </p:spTree>
    <p:extLst>
      <p:ext uri="{BB962C8B-B14F-4D97-AF65-F5344CB8AC3E}">
        <p14:creationId xmlns:p14="http://schemas.microsoft.com/office/powerpoint/2010/main" val="148924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760" y="365126"/>
            <a:ext cx="5573785" cy="66650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400" dirty="0"/>
              <a:t>数据行业分类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D9E7C-4941-E9F7-D4D5-9F9ACCB54EBA}"/>
              </a:ext>
            </a:extLst>
          </p:cNvPr>
          <p:cNvSpPr txBox="1"/>
          <p:nvPr/>
        </p:nvSpPr>
        <p:spPr>
          <a:xfrm>
            <a:off x="4762498" y="1123205"/>
            <a:ext cx="250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ata Analyst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BD066-10C9-DA5E-4220-C983043DEAFA}"/>
              </a:ext>
            </a:extLst>
          </p:cNvPr>
          <p:cNvSpPr txBox="1"/>
          <p:nvPr/>
        </p:nvSpPr>
        <p:spPr>
          <a:xfrm>
            <a:off x="3229760" y="2112297"/>
            <a:ext cx="60946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 data analyst collects, cleans, and interprets data sets in order to generate actionable insight  answer a question or solve a problem or support decision-making. They work in many industries, including business, finance, criminal justice, science, medicine, and government.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FFD9A-09BB-EC75-FC1E-F08DD8DAEA7C}"/>
              </a:ext>
            </a:extLst>
          </p:cNvPr>
          <p:cNvSpPr txBox="1"/>
          <p:nvPr/>
        </p:nvSpPr>
        <p:spPr>
          <a:xfrm>
            <a:off x="3229760" y="3809276"/>
            <a:ext cx="6094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Analyst skill set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Business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senses and domain knowledge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Tableau, Power BI, SQL, Python.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Experience with statistical research techniques, such as modeling, clustering, data visualization and segmentation, and predictive analysis</a:t>
            </a:r>
          </a:p>
        </p:txBody>
      </p:sp>
    </p:spTree>
    <p:extLst>
      <p:ext uri="{BB962C8B-B14F-4D97-AF65-F5344CB8AC3E}">
        <p14:creationId xmlns:p14="http://schemas.microsoft.com/office/powerpoint/2010/main" val="82847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数据职位分类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D800B-1CBA-6569-DB7E-CDB4947A8C38}"/>
              </a:ext>
            </a:extLst>
          </p:cNvPr>
          <p:cNvSpPr txBox="1"/>
          <p:nvPr/>
        </p:nvSpPr>
        <p:spPr>
          <a:xfrm>
            <a:off x="3937732" y="4425499"/>
            <a:ext cx="5273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For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转行，零基础，快速高薪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F3F004-D7CB-375C-FA27-0AF4D705D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907" t="5526" r="34646"/>
          <a:stretch/>
        </p:blipFill>
        <p:spPr>
          <a:xfrm>
            <a:off x="5511568" y="2067785"/>
            <a:ext cx="1753299" cy="158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87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理论：到底什么是数据分析？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2D671-8456-46FA-81A4-83BF1DAB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729" y="2317640"/>
            <a:ext cx="2638508" cy="1740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A5F50E-F609-488B-99D2-1EAB933B2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1" y="2220832"/>
            <a:ext cx="2276066" cy="1933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36E4FA-B0BF-46A0-9D77-A3695035A5A8}"/>
              </a:ext>
            </a:extLst>
          </p:cNvPr>
          <p:cNvSpPr txBox="1"/>
          <p:nvPr/>
        </p:nvSpPr>
        <p:spPr>
          <a:xfrm>
            <a:off x="4019744" y="4684617"/>
            <a:ext cx="512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Entropy High(no info)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 Low(more info)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623619-8D14-4D2C-B09A-DCC2ACDFC614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364637" y="3187654"/>
            <a:ext cx="1019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8E90B5D-4B5E-433E-A805-9404016D1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475" y="2576081"/>
            <a:ext cx="2244663" cy="12231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7AABA8-DF3C-40A8-9814-0CFF67F87106}"/>
              </a:ext>
            </a:extLst>
          </p:cNvPr>
          <p:cNvSpPr txBox="1"/>
          <p:nvPr/>
        </p:nvSpPr>
        <p:spPr>
          <a:xfrm>
            <a:off x="7572652" y="2864486"/>
            <a:ext cx="1722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Good Quality or Bad Quality?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07AC6F-707E-4E58-A1D8-88B250C33F0E}"/>
              </a:ext>
            </a:extLst>
          </p:cNvPr>
          <p:cNvCxnSpPr>
            <a:stCxn id="4" idx="3"/>
          </p:cNvCxnSpPr>
          <p:nvPr/>
        </p:nvCxnSpPr>
        <p:spPr>
          <a:xfrm flipV="1">
            <a:off x="7022237" y="3187652"/>
            <a:ext cx="66582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9DCBBC-D5FC-412F-B21A-CFB038FA114B}"/>
              </a:ext>
            </a:extLst>
          </p:cNvPr>
          <p:cNvCxnSpPr>
            <a:stCxn id="19" idx="3"/>
            <a:endCxn id="14" idx="1"/>
          </p:cNvCxnSpPr>
          <p:nvPr/>
        </p:nvCxnSpPr>
        <p:spPr>
          <a:xfrm>
            <a:off x="9294920" y="3187652"/>
            <a:ext cx="527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580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-30777"/>
            <a:ext cx="68580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技术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BCF93A-7D27-4C3A-80DB-96A2E0B9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117" y="2295308"/>
            <a:ext cx="5102399" cy="22673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EFB24-A626-42EB-851D-66B9040FD3C4}"/>
              </a:ext>
            </a:extLst>
          </p:cNvPr>
          <p:cNvSpPr txBox="1"/>
          <p:nvPr/>
        </p:nvSpPr>
        <p:spPr>
          <a:xfrm>
            <a:off x="2874372" y="5565050"/>
            <a:ext cx="60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三板斧：切，统计总和，比较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474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技术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三板斧（面团版）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2" name="Picture 11" descr="A Good Way to Portion Dough for Rolls | Cook&amp;#39;s Illustrated">
            <a:extLst>
              <a:ext uri="{FF2B5EF4-FFF2-40B4-BE49-F238E27FC236}">
                <a16:creationId xmlns:a16="http://schemas.microsoft.com/office/drawing/2014/main" id="{ABBF53F2-BBD5-4525-9129-FC6CB71B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43" y="2463722"/>
            <a:ext cx="1949838" cy="194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EFB24-A626-42EB-851D-66B9040FD3C4}"/>
              </a:ext>
            </a:extLst>
          </p:cNvPr>
          <p:cNvSpPr txBox="1"/>
          <p:nvPr/>
        </p:nvSpPr>
        <p:spPr>
          <a:xfrm>
            <a:off x="2874372" y="5565050"/>
            <a:ext cx="60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三板斧：切，统计总和，比较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6" name="Picture 2" descr="吃货最爱！细数全球最美味的各种面食，中国占了三种！">
            <a:extLst>
              <a:ext uri="{FF2B5EF4-FFF2-40B4-BE49-F238E27FC236}">
                <a16:creationId xmlns:a16="http://schemas.microsoft.com/office/drawing/2014/main" id="{963E5BC8-B7EC-4D37-9FD4-A31329C62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" t="17940" r="1972" b="5288"/>
          <a:stretch/>
        </p:blipFill>
        <p:spPr bwMode="auto">
          <a:xfrm>
            <a:off x="9015115" y="2622592"/>
            <a:ext cx="2590799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009AE73E-2918-4828-A822-4F7384257840}"/>
              </a:ext>
            </a:extLst>
          </p:cNvPr>
          <p:cNvSpPr/>
          <p:nvPr/>
        </p:nvSpPr>
        <p:spPr>
          <a:xfrm>
            <a:off x="3245629" y="3113419"/>
            <a:ext cx="755614" cy="390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026" name="Picture 2" descr="如何正确快速地将面团解冻？ - 提示2022">
            <a:extLst>
              <a:ext uri="{FF2B5EF4-FFF2-40B4-BE49-F238E27FC236}">
                <a16:creationId xmlns:a16="http://schemas.microsoft.com/office/drawing/2014/main" id="{19AC6FB7-2A1E-49B7-B4CC-F25BC8450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348" y="2524097"/>
            <a:ext cx="25908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CF96CCC-B910-486D-BFFB-C97CB1343783}"/>
              </a:ext>
            </a:extLst>
          </p:cNvPr>
          <p:cNvSpPr/>
          <p:nvPr/>
        </p:nvSpPr>
        <p:spPr>
          <a:xfrm>
            <a:off x="7793860" y="3210042"/>
            <a:ext cx="755614" cy="390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20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883715" y="881157"/>
            <a:ext cx="6660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常用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Analytical Techniques and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methodologies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分析技巧和方法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8D7D94-7C33-575E-CA14-763A232223E0}"/>
              </a:ext>
            </a:extLst>
          </p:cNvPr>
          <p:cNvSpPr txBox="1"/>
          <p:nvPr/>
        </p:nvSpPr>
        <p:spPr>
          <a:xfrm>
            <a:off x="4244828" y="2508309"/>
            <a:ext cx="56122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Slice and Dice 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切面团）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unnel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Cohort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RFM(recency, frequency, monetary)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Correlation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A/B testing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Regression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lustering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series </a:t>
            </a:r>
          </a:p>
        </p:txBody>
      </p:sp>
    </p:spTree>
    <p:extLst>
      <p:ext uri="{BB962C8B-B14F-4D97-AF65-F5344CB8AC3E}">
        <p14:creationId xmlns:p14="http://schemas.microsoft.com/office/powerpoint/2010/main" val="125822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3026327" y="1205837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学什么工具？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A94DC-D959-4058-9F1A-2F2C44B24C04}"/>
              </a:ext>
            </a:extLst>
          </p:cNvPr>
          <p:cNvSpPr txBox="1"/>
          <p:nvPr/>
        </p:nvSpPr>
        <p:spPr>
          <a:xfrm>
            <a:off x="3026327" y="2393944"/>
            <a:ext cx="6291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根据市场需求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29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883715" y="881157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学什么技术？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56BB2-4F54-CD59-4F1E-69CA851F0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3" y="2226519"/>
            <a:ext cx="3952263" cy="28016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77A259-8CB8-80FE-E794-77EF8A90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323" y="2176244"/>
            <a:ext cx="4187690" cy="29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60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883715" y="881157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学什么技术？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5BC92-1A55-0C3B-C8D8-78ADF8C0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90" y="2716371"/>
            <a:ext cx="4505587" cy="3191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B2532-F475-EBC1-E60B-055EA79DD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17" y="2716371"/>
            <a:ext cx="4418535" cy="31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2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833D56-D408-CFCA-14AB-4C3710AC65FC}"/>
              </a:ext>
            </a:extLst>
          </p:cNvPr>
          <p:cNvSpPr txBox="1"/>
          <p:nvPr/>
        </p:nvSpPr>
        <p:spPr>
          <a:xfrm>
            <a:off x="3093439" y="3736076"/>
            <a:ext cx="70530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工具基础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学习工作常用工具已经如何使用这些工具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工作常用设计，收集，准备，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MODEL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，分析，视觉化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TABLEAU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工作常用设计，收集，准备，分析，视觉化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基本语法，工作常用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Modules, Packages, Libraries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SQL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基本语法，工作常用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QUERIES,STATEMENTS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883715" y="881157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怎么学技术？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A94DC-D959-4058-9F1A-2F2C44B24C04}"/>
              </a:ext>
            </a:extLst>
          </p:cNvPr>
          <p:cNvSpPr txBox="1"/>
          <p:nvPr/>
        </p:nvSpPr>
        <p:spPr>
          <a:xfrm>
            <a:off x="3093439" y="2856495"/>
            <a:ext cx="629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只学最常用的工具，只学面试工作中的应用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91F5E-82BF-D67F-80FA-D2C7F3148AFC}"/>
              </a:ext>
            </a:extLst>
          </p:cNvPr>
          <p:cNvSpPr txBox="1"/>
          <p:nvPr/>
        </p:nvSpPr>
        <p:spPr>
          <a:xfrm>
            <a:off x="5034793" y="1976181"/>
            <a:ext cx="2122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1%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原则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105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A3BB3E-E310-50B0-5BEA-E52342B0ACE1}"/>
              </a:ext>
            </a:extLst>
          </p:cNvPr>
          <p:cNvSpPr txBox="1"/>
          <p:nvPr/>
        </p:nvSpPr>
        <p:spPr>
          <a:xfrm>
            <a:off x="2779904" y="641563"/>
            <a:ext cx="6892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Other Python Courses/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其他课例子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1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A2EEC-A2ED-2028-9AE6-49825D764596}"/>
              </a:ext>
            </a:extLst>
          </p:cNvPr>
          <p:cNvSpPr txBox="1"/>
          <p:nvPr/>
        </p:nvSpPr>
        <p:spPr>
          <a:xfrm>
            <a:off x="2779904" y="1507456"/>
            <a:ext cx="314447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Variables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Expressions and Statements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Comments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Data Types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Operators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Arithmetic Operators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Comparison Operators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Boolean Operators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Bitwise Operators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is &amp; in Operators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Ternary Operator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Strings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String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F-strings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Escaping Characters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String Characters &amp; Slicing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Booleans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Number Data Types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Enums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User Input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Control Statements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Lists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Sorting Lists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Tuples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Dictionaries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4C13D-F59C-43BA-28F7-E67BA6E7AC3B}"/>
              </a:ext>
            </a:extLst>
          </p:cNvPr>
          <p:cNvSpPr txBox="1"/>
          <p:nvPr/>
        </p:nvSpPr>
        <p:spPr>
          <a:xfrm>
            <a:off x="6975797" y="1507456"/>
            <a:ext cx="27907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Sets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Variable Scope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Nested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Closures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Objects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Loops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Break and Continue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Classes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Modules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Arguments from Command Line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Lambda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Map, Filter, Reduce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Recursion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Decorators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Docstrings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Annotations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Exceptions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With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Installing Packages with pip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List Compression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Polymorphism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Operator Overloading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612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A3BB3E-E310-50B0-5BEA-E52342B0ACE1}"/>
              </a:ext>
            </a:extLst>
          </p:cNvPr>
          <p:cNvSpPr txBox="1"/>
          <p:nvPr/>
        </p:nvSpPr>
        <p:spPr>
          <a:xfrm>
            <a:off x="3134687" y="575099"/>
            <a:ext cx="6898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Other Python Courses/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其他课例子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2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7B056-8CEA-2264-7E5A-21C327BBAF15}"/>
              </a:ext>
            </a:extLst>
          </p:cNvPr>
          <p:cNvSpPr txBox="1"/>
          <p:nvPr/>
        </p:nvSpPr>
        <p:spPr>
          <a:xfrm>
            <a:off x="3048699" y="1924273"/>
            <a:ext cx="60946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1: Introduction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2: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gitHub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, Functions, Booleans and Modules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3: Sequences, Iteration and String Formatting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4: Dictionaries, Sets, and Files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5: Exceptions, Testing, Comprehensions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6: Advanced Argument Passing, Lambda -- functions as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7: Object Oriented Programming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8: More OO -- Properties, Special methods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9: Iterators,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Iterables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, and Generators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Lesson 10: Decorators, Context Managers, Regular Expressions, and Wrap Up</a:t>
            </a:r>
          </a:p>
        </p:txBody>
      </p:sp>
    </p:spTree>
    <p:extLst>
      <p:ext uri="{BB962C8B-B14F-4D97-AF65-F5344CB8AC3E}">
        <p14:creationId xmlns:p14="http://schemas.microsoft.com/office/powerpoint/2010/main" val="817084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A3BB3E-E310-50B0-5BEA-E52342B0ACE1}"/>
              </a:ext>
            </a:extLst>
          </p:cNvPr>
          <p:cNvSpPr txBox="1"/>
          <p:nvPr/>
        </p:nvSpPr>
        <p:spPr>
          <a:xfrm>
            <a:off x="3808602" y="1581458"/>
            <a:ext cx="427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工作用数据分析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use cases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DA75836D-FE84-4F41-3192-1069585AD0CC}"/>
              </a:ext>
            </a:extLst>
          </p:cNvPr>
          <p:cNvSpPr/>
          <p:nvPr/>
        </p:nvSpPr>
        <p:spPr>
          <a:xfrm>
            <a:off x="3284293" y="2900493"/>
            <a:ext cx="1971413" cy="105701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Preparation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A8FD25F5-2AFE-0505-4F18-287CFB5864F8}"/>
              </a:ext>
            </a:extLst>
          </p:cNvPr>
          <p:cNvSpPr/>
          <p:nvPr/>
        </p:nvSpPr>
        <p:spPr>
          <a:xfrm>
            <a:off x="6827239" y="2900493"/>
            <a:ext cx="1971413" cy="97102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Data Analysis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AFAA22B2-66F4-1549-A314-9CAA3C9772A0}"/>
              </a:ext>
            </a:extLst>
          </p:cNvPr>
          <p:cNvSpPr/>
          <p:nvPr/>
        </p:nvSpPr>
        <p:spPr>
          <a:xfrm rot="16200000">
            <a:off x="5859360" y="3222070"/>
            <a:ext cx="528506" cy="223217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F1364745-9BE8-82CB-6083-47EA4EEC093A}"/>
              </a:ext>
            </a:extLst>
          </p:cNvPr>
          <p:cNvSpPr/>
          <p:nvPr/>
        </p:nvSpPr>
        <p:spPr>
          <a:xfrm>
            <a:off x="5137906" y="4718805"/>
            <a:ext cx="1971413" cy="105701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utomation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88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6B39951-76E3-407B-ADDF-AFA048B0AA76}"/>
              </a:ext>
            </a:extLst>
          </p:cNvPr>
          <p:cNvSpPr txBox="1"/>
          <p:nvPr/>
        </p:nvSpPr>
        <p:spPr>
          <a:xfrm>
            <a:off x="3482690" y="4103854"/>
            <a:ext cx="4891059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marR="0" lvl="0" indent="-2857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Business process/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业务流程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Project process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项目流程 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1200150" marR="0" lvl="2" indent="-2857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Data process/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数据流程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3C44A-D7DF-80E5-CB2E-0FAC4BB3643A}"/>
              </a:ext>
            </a:extLst>
          </p:cNvPr>
          <p:cNvSpPr txBox="1"/>
          <p:nvPr/>
        </p:nvSpPr>
        <p:spPr>
          <a:xfrm>
            <a:off x="3222632" y="3505947"/>
            <a:ext cx="5879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数据分析工作流程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721EA-81F2-F2B9-C11A-7DDC2E85FAE7}"/>
              </a:ext>
            </a:extLst>
          </p:cNvPr>
          <p:cNvSpPr txBox="1"/>
          <p:nvPr/>
        </p:nvSpPr>
        <p:spPr>
          <a:xfrm>
            <a:off x="3222632" y="2600587"/>
            <a:ext cx="6491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数据分析工作分门别类但是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基本流程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是一样的：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2F465-4978-379D-557C-EBFFCB7C6C75}"/>
              </a:ext>
            </a:extLst>
          </p:cNvPr>
          <p:cNvSpPr txBox="1"/>
          <p:nvPr/>
        </p:nvSpPr>
        <p:spPr>
          <a:xfrm>
            <a:off x="3313652" y="692806"/>
            <a:ext cx="5905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在真实工作环境中做项目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76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6C225B-0F04-4A9B-BDE4-27FD5A57D73A}"/>
              </a:ext>
            </a:extLst>
          </p:cNvPr>
          <p:cNvGrpSpPr/>
          <p:nvPr/>
        </p:nvGrpSpPr>
        <p:grpSpPr>
          <a:xfrm>
            <a:off x="1503028" y="2039903"/>
            <a:ext cx="10202411" cy="3615655"/>
            <a:chOff x="1366006" y="2031515"/>
            <a:chExt cx="10202411" cy="361565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FAEACDA-7D9D-4022-A809-24DD5541A557}"/>
                </a:ext>
              </a:extLst>
            </p:cNvPr>
            <p:cNvSpPr/>
            <p:nvPr/>
          </p:nvSpPr>
          <p:spPr>
            <a:xfrm>
              <a:off x="5463330" y="2031515"/>
              <a:ext cx="6105087" cy="3615655"/>
            </a:xfrm>
            <a:prstGeom prst="rect">
              <a:avLst/>
            </a:prstGeom>
          </p:spPr>
          <p:txBody>
            <a:bodyPr/>
            <a:lstStyle/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Identify/understand business goals/problems/opportunities</a:t>
              </a:r>
            </a:p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Review documents and interview SME(Subject Matter Expert)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Convert business problems to metrics.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Discuss metrics with stakeholders</a:t>
              </a:r>
            </a:p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Propose data solutions to the problems/opportunities identified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  <a:p>
              <a:pPr marL="1200150" marR="0" lvl="2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Identify &amp; meet with stakeholders</a:t>
              </a:r>
            </a:p>
            <a:p>
              <a:pPr marL="1200150" marR="0" lvl="2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Set &amp; prioritize goals</a:t>
              </a:r>
            </a:p>
            <a:p>
              <a:pPr marL="1200150" marR="0" lvl="2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Collect business requirements</a:t>
              </a:r>
            </a:p>
            <a:p>
              <a:pPr marL="1200150" marR="0" lvl="2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Define deliverables</a:t>
              </a:r>
            </a:p>
            <a:p>
              <a:pPr marL="1200150" marR="0" lvl="2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Create project schedule</a:t>
              </a:r>
            </a:p>
            <a:p>
              <a:pPr marL="1200150" marR="0" lvl="2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Identify risk /potential roadblocks</a:t>
              </a:r>
            </a:p>
            <a:p>
              <a:pPr marL="1371600" marR="0" lvl="3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Data collection</a:t>
              </a:r>
            </a:p>
            <a:p>
              <a:pPr marL="1371600" marR="0" lvl="3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Data preparation</a:t>
              </a:r>
            </a:p>
            <a:p>
              <a:pPr marL="1371600" marR="0" lvl="3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Data Analysis</a:t>
              </a:r>
            </a:p>
            <a:p>
              <a:pPr marL="1371600" marR="0" lvl="3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Data visualization/reporting </a:t>
              </a:r>
            </a:p>
            <a:p>
              <a:pPr marL="1371600" marR="0" lvl="3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Data productization</a:t>
              </a:r>
            </a:p>
            <a:p>
              <a:pPr marL="914400" marR="0" lvl="2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Testing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Present solution/story telling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4E982C-BEDC-46B1-8687-CB6E2F04447F}"/>
                </a:ext>
              </a:extLst>
            </p:cNvPr>
            <p:cNvSpPr txBox="1"/>
            <p:nvPr/>
          </p:nvSpPr>
          <p:spPr>
            <a:xfrm>
              <a:off x="1593908" y="3244334"/>
              <a:ext cx="2819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Project process/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项目流程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D3705E-5CC0-4DAF-B9F5-0118B7840F41}"/>
                </a:ext>
              </a:extLst>
            </p:cNvPr>
            <p:cNvSpPr txBox="1"/>
            <p:nvPr/>
          </p:nvSpPr>
          <p:spPr>
            <a:xfrm>
              <a:off x="1755047" y="4354689"/>
              <a:ext cx="25006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Data process/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数据流程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3EFA39C-7EC5-4B32-BE81-A4A5B4D62644}"/>
                </a:ext>
              </a:extLst>
            </p:cNvPr>
            <p:cNvCxnSpPr>
              <a:cxnSpLocks/>
            </p:cNvCxnSpPr>
            <p:nvPr/>
          </p:nvCxnSpPr>
          <p:spPr>
            <a:xfrm>
              <a:off x="4472031" y="3429000"/>
              <a:ext cx="1383485" cy="0"/>
            </a:xfrm>
            <a:prstGeom prst="straightConnector1">
              <a:avLst/>
            </a:prstGeom>
            <a:ln>
              <a:solidFill>
                <a:srgbClr val="FF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B280328-721B-4BF2-B53E-CE95DC116591}"/>
                </a:ext>
              </a:extLst>
            </p:cNvPr>
            <p:cNvCxnSpPr>
              <a:stCxn id="9" idx="3"/>
            </p:cNvCxnSpPr>
            <p:nvPr/>
          </p:nvCxnSpPr>
          <p:spPr>
            <a:xfrm flipV="1">
              <a:off x="4255665" y="4538084"/>
              <a:ext cx="2415331" cy="12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965630-01F8-4A07-877F-16E899BCA95B}"/>
                </a:ext>
              </a:extLst>
            </p:cNvPr>
            <p:cNvSpPr txBox="1"/>
            <p:nvPr/>
          </p:nvSpPr>
          <p:spPr>
            <a:xfrm>
              <a:off x="1366006" y="2156430"/>
              <a:ext cx="28193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Business process/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rbel" panose="020B0503020204020204"/>
                  <a:ea typeface="华文楷体" panose="02010600040101010101" pitchFamily="2" charset="-122"/>
                  <a:cs typeface="+mn-cs"/>
                </a:rPr>
                <a:t>业务流程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6AAE2F6-F435-4146-9A53-8DB725B2858F}"/>
                </a:ext>
              </a:extLst>
            </p:cNvPr>
            <p:cNvCxnSpPr>
              <a:cxnSpLocks/>
            </p:cNvCxnSpPr>
            <p:nvPr/>
          </p:nvCxnSpPr>
          <p:spPr>
            <a:xfrm>
              <a:off x="4070057" y="2399819"/>
              <a:ext cx="1290508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6A3D94-D4EC-3990-4E46-635D081481C3}"/>
              </a:ext>
            </a:extLst>
          </p:cNvPr>
          <p:cNvSpPr txBox="1"/>
          <p:nvPr/>
        </p:nvSpPr>
        <p:spPr>
          <a:xfrm>
            <a:off x="3465352" y="756179"/>
            <a:ext cx="5879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数据分析工作流程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797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6691-3586-713F-8ADA-0EDF3AB4B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4983" y="427127"/>
            <a:ext cx="8001000" cy="737484"/>
          </a:xfrm>
        </p:spPr>
        <p:txBody>
          <a:bodyPr>
            <a:noAutofit/>
          </a:bodyPr>
          <a:lstStyle/>
          <a:p>
            <a:pPr algn="ctr"/>
            <a:r>
              <a:rPr lang="en-US" altLang="zh-CN" sz="4800" dirty="0"/>
              <a:t>COOP</a:t>
            </a:r>
            <a:r>
              <a:rPr lang="zh-CN" altLang="en-US" sz="4800" dirty="0"/>
              <a:t>实习解决什么问题？</a:t>
            </a:r>
            <a:endParaRPr lang="en-US" sz="4800" dirty="0"/>
          </a:p>
        </p:txBody>
      </p:sp>
      <p:pic>
        <p:nvPicPr>
          <p:cNvPr id="1026" name="Picture 2" descr="Agile uses incremental, iterative work sequences called sprints.">
            <a:extLst>
              <a:ext uri="{FF2B5EF4-FFF2-40B4-BE49-F238E27FC236}">
                <a16:creationId xmlns:a16="http://schemas.microsoft.com/office/drawing/2014/main" id="{BD55FDB5-98B7-1DE8-4840-419F3D60F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358" y="1999330"/>
            <a:ext cx="8630220" cy="409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46208F-36F4-DCBA-ADEF-4EB372590A82}"/>
              </a:ext>
            </a:extLst>
          </p:cNvPr>
          <p:cNvSpPr txBox="1"/>
          <p:nvPr/>
        </p:nvSpPr>
        <p:spPr>
          <a:xfrm>
            <a:off x="4932727" y="1351138"/>
            <a:ext cx="3137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gile Methodology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690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6691-3586-713F-8ADA-0EDF3AB4B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515923"/>
            <a:ext cx="8001000" cy="737484"/>
          </a:xfrm>
        </p:spPr>
        <p:txBody>
          <a:bodyPr>
            <a:noAutofit/>
          </a:bodyPr>
          <a:lstStyle/>
          <a:p>
            <a:pPr algn="ctr"/>
            <a:r>
              <a:rPr lang="en-US" altLang="zh-CN" sz="3600" dirty="0"/>
              <a:t>All in one </a:t>
            </a:r>
            <a:r>
              <a:rPr lang="zh-CN" altLang="en-US" sz="3600" dirty="0"/>
              <a:t>一站式服务</a:t>
            </a:r>
            <a:br>
              <a:rPr lang="en-US" altLang="zh-CN" sz="3600" dirty="0"/>
            </a:br>
            <a:r>
              <a:rPr lang="en-US" altLang="zh-CN" sz="3600" dirty="0"/>
              <a:t>Business   Data    Analysis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CC5D8-DC71-779C-F71F-1CCC09FC91AE}"/>
              </a:ext>
            </a:extLst>
          </p:cNvPr>
          <p:cNvSpPr txBox="1"/>
          <p:nvPr/>
        </p:nvSpPr>
        <p:spPr>
          <a:xfrm>
            <a:off x="1692827" y="1538361"/>
            <a:ext cx="986720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初级商务分析师课程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让你无背景和基础转行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基础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和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课帮助你进阶中高级分析师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中高级商务数据分析师项目课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帮助大家扩大申请职位范围和资深高薪职位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(8-10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万年薪）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Sales Analytics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销售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个项目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Marketing analytics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市场营销分析项目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Credit analytics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信贷分析项目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Audit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/Risk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analytics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内部审计风险分析项目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HR Analytics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人事数据分析项目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更多项目加入中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COOP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实习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北美公司最先进的工作流程和经验，面试和工作不再慌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Documentation training/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文档训练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Agile project process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最先进项目流程训练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Most popular platform/tools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最先进流行的工具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Confluence, Jira and GitHub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就业保证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保姆式一对一服务拿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OFFER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一对一简历修改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一对一面试辅导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一对一面试英语辅导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就业后服务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7A4F01E4-17AF-371A-890E-74B129DB1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124" y="0"/>
            <a:ext cx="1253904" cy="125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23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6691-3586-713F-8ADA-0EDF3AB4B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515923"/>
            <a:ext cx="8001000" cy="737484"/>
          </a:xfrm>
        </p:spPr>
        <p:txBody>
          <a:bodyPr>
            <a:noAutofit/>
          </a:bodyPr>
          <a:lstStyle/>
          <a:p>
            <a:pPr algn="ctr"/>
            <a:r>
              <a:rPr lang="en-US" altLang="zh-CN" sz="3600" dirty="0"/>
              <a:t>All in one </a:t>
            </a:r>
            <a:r>
              <a:rPr lang="zh-CN" altLang="en-US" sz="3600" dirty="0"/>
              <a:t>一站式服务</a:t>
            </a:r>
            <a:br>
              <a:rPr lang="en-US" altLang="zh-CN" sz="3600" dirty="0"/>
            </a:br>
            <a:r>
              <a:rPr lang="en-US" altLang="zh-CN" sz="3600" dirty="0"/>
              <a:t>Business   Data    Analysis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CC5D8-DC71-779C-F71F-1CCC09FC91AE}"/>
              </a:ext>
            </a:extLst>
          </p:cNvPr>
          <p:cNvSpPr txBox="1"/>
          <p:nvPr/>
        </p:nvSpPr>
        <p:spPr>
          <a:xfrm>
            <a:off x="3762986" y="2242780"/>
            <a:ext cx="46660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初级商务分析师课程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让你无背景和基础转行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基础 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Tableau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基础 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和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课帮助你进阶中高级分析师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51BB6-E106-EB51-6F6B-DE9B7639EF2A}"/>
              </a:ext>
            </a:extLst>
          </p:cNvPr>
          <p:cNvSpPr txBox="1"/>
          <p:nvPr/>
        </p:nvSpPr>
        <p:spPr>
          <a:xfrm>
            <a:off x="3952612" y="3227665"/>
            <a:ext cx="4286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帮你划重点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901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FC496D-8FBD-4439-98A7-57C45AE025D6}"/>
              </a:ext>
            </a:extLst>
          </p:cNvPr>
          <p:cNvSpPr txBox="1"/>
          <p:nvPr/>
        </p:nvSpPr>
        <p:spPr>
          <a:xfrm>
            <a:off x="2660708" y="1768870"/>
            <a:ext cx="6870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工具基础课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简历面试常用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POWER BI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621C3-AED9-482A-A2ED-BD00D94CB1A9}"/>
              </a:ext>
            </a:extLst>
          </p:cNvPr>
          <p:cNvSpPr txBox="1"/>
          <p:nvPr/>
        </p:nvSpPr>
        <p:spPr>
          <a:xfrm>
            <a:off x="4599264" y="2380697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Get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Prepare your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Model your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Write a measure in DAX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Build your report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Format the report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Finished report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Save your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6B8B9-16CE-AF2F-FB89-CBD2838B026E}"/>
              </a:ext>
            </a:extLst>
          </p:cNvPr>
          <p:cNvSpPr txBox="1"/>
          <p:nvPr/>
        </p:nvSpPr>
        <p:spPr>
          <a:xfrm>
            <a:off x="2525085" y="486236"/>
            <a:ext cx="82358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商务数据初级分析师课程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让你无背景和基础转行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Financial Analysis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Tableau Account Receivable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和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课帮助你进阶中高级分析师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039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16B8B9-16CE-AF2F-FB89-CBD2838B026E}"/>
              </a:ext>
            </a:extLst>
          </p:cNvPr>
          <p:cNvSpPr txBox="1"/>
          <p:nvPr/>
        </p:nvSpPr>
        <p:spPr>
          <a:xfrm>
            <a:off x="2525085" y="486236"/>
            <a:ext cx="82358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商务数据初级分析师课程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让你无背景和基础转行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Financial Analysis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Tableau Account Receivable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和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课帮助你进阶中高级分析师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751DC-74BE-F84C-7498-6C2427B3C8C3}"/>
              </a:ext>
            </a:extLst>
          </p:cNvPr>
          <p:cNvSpPr txBox="1"/>
          <p:nvPr/>
        </p:nvSpPr>
        <p:spPr>
          <a:xfrm>
            <a:off x="2779554" y="1609479"/>
            <a:ext cx="6870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工具基础课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简历面试常用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TABLEAU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3FDA6-FAB6-FA7B-EE11-E7A0C37F2279}"/>
              </a:ext>
            </a:extLst>
          </p:cNvPr>
          <p:cNvSpPr txBox="1"/>
          <p:nvPr/>
        </p:nvSpPr>
        <p:spPr>
          <a:xfrm>
            <a:off x="3447876" y="2117169"/>
            <a:ext cx="6094602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1: Connect to and Transform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1.1. Connect to data sources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1.2. Prepare data for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1.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华文楷体" panose="02010600040101010101" pitchFamily="2" charset="-122"/>
                <a:cs typeface="+mn-cs"/>
              </a:rPr>
              <a:t>3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 Customize fields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2: Explore and Analyze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2.1. Create calculated fields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2.2. Create quick table calculations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2.3. Create custom table calculations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2.4. Create and use filters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2.5. Create parameters to enable interactivity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2.6. Structure the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2.7. Map data geographically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2.8. Summarize, model, and customize data by using the Analytics feature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3: Create Content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3.1. Create charts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3.2. Create dashboards and stories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3.3. Add interactivity to dashboards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3.4. Format dashboards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4: Publish and Manage Content on Tableau Server and Tableau Online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4.1. Publish Content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4.2. Schedule data updates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4.3. Manage Published workbooks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016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E289EA-1C88-4CAC-A769-17857669081E}"/>
              </a:ext>
            </a:extLst>
          </p:cNvPr>
          <p:cNvSpPr txBox="1"/>
          <p:nvPr/>
        </p:nvSpPr>
        <p:spPr>
          <a:xfrm>
            <a:off x="3327633" y="1989737"/>
            <a:ext cx="74997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SELECT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where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JOIN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INNER JOIN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RIGHT &amp; LEFT JOIN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union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Union vs union all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intercept vs except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aggregation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SORT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Group by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Having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String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Date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null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cast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derived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with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case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Create, insert, update, delete Statement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C496D-8FBD-4439-98A7-57C45AE025D6}"/>
              </a:ext>
            </a:extLst>
          </p:cNvPr>
          <p:cNvSpPr txBox="1"/>
          <p:nvPr/>
        </p:nvSpPr>
        <p:spPr>
          <a:xfrm>
            <a:off x="2729220" y="1589627"/>
            <a:ext cx="6870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工具基础课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面试工作常用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4C3F4-F74C-EFFE-D74D-86607DD50C23}"/>
              </a:ext>
            </a:extLst>
          </p:cNvPr>
          <p:cNvSpPr txBox="1"/>
          <p:nvPr/>
        </p:nvSpPr>
        <p:spPr>
          <a:xfrm>
            <a:off x="2591497" y="388084"/>
            <a:ext cx="82358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商务数据初级分析师课程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让你无背景和基础转行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Financial Analysis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Tableau Account Receivable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和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课帮助你进阶中高级分析师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583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E289EA-1C88-4CAC-A769-17857669081E}"/>
              </a:ext>
            </a:extLst>
          </p:cNvPr>
          <p:cNvSpPr txBox="1"/>
          <p:nvPr/>
        </p:nvSpPr>
        <p:spPr>
          <a:xfrm>
            <a:off x="3176631" y="2139647"/>
            <a:ext cx="74997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Modules,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Packages, Libraries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Object creation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Viewing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Selection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Missing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Operations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Merge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Grouping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Reshaping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Time series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Categoricals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Plotting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Getting data in/out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Error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C496D-8FBD-4439-98A7-57C45AE025D6}"/>
              </a:ext>
            </a:extLst>
          </p:cNvPr>
          <p:cNvSpPr txBox="1"/>
          <p:nvPr/>
        </p:nvSpPr>
        <p:spPr>
          <a:xfrm>
            <a:off x="2591497" y="1571642"/>
            <a:ext cx="6870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工具基础课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简历面试常用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BDB9E-249D-8A74-3AC1-A8A8905FB5F4}"/>
              </a:ext>
            </a:extLst>
          </p:cNvPr>
          <p:cNvSpPr txBox="1"/>
          <p:nvPr/>
        </p:nvSpPr>
        <p:spPr>
          <a:xfrm>
            <a:off x="2591497" y="388084"/>
            <a:ext cx="82358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商务数据初级分析师课程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让你无背景和基础转行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Financial Analysis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Tableau Account Receivable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项目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SQL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和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课帮助你进阶中高级分析师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503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833D56-D408-CFCA-14AB-4C3710AC65FC}"/>
              </a:ext>
            </a:extLst>
          </p:cNvPr>
          <p:cNvSpPr txBox="1"/>
          <p:nvPr/>
        </p:nvSpPr>
        <p:spPr>
          <a:xfrm>
            <a:off x="3093439" y="3736076"/>
            <a:ext cx="70530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工具基础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学习工作常用工具已经如何使用这些工具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POWER BI 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工作常用设计，收集，准备，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MODEL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，分析，视觉化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TABLEAU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工作常用设计，收集，准备，分析，视觉化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基本语法，工作常用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Python Modules, Packages, Libraries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SQL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---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基本语法，工作常用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QUERIES,STATEMENTS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883715" y="881157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怎么学技术？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A94DC-D959-4058-9F1A-2F2C44B24C04}"/>
              </a:ext>
            </a:extLst>
          </p:cNvPr>
          <p:cNvSpPr txBox="1"/>
          <p:nvPr/>
        </p:nvSpPr>
        <p:spPr>
          <a:xfrm>
            <a:off x="3093439" y="2856495"/>
            <a:ext cx="629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只学最常用的工具，只学面试工作中的应用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91F5E-82BF-D67F-80FA-D2C7F3148AFC}"/>
              </a:ext>
            </a:extLst>
          </p:cNvPr>
          <p:cNvSpPr txBox="1"/>
          <p:nvPr/>
        </p:nvSpPr>
        <p:spPr>
          <a:xfrm>
            <a:off x="5034793" y="1976181"/>
            <a:ext cx="2122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1%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原则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15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723F831-9C2A-DA65-7CB2-34F1E1C8598F}"/>
              </a:ext>
            </a:extLst>
          </p:cNvPr>
          <p:cNvSpPr txBox="1"/>
          <p:nvPr/>
        </p:nvSpPr>
        <p:spPr>
          <a:xfrm>
            <a:off x="2883715" y="881157"/>
            <a:ext cx="666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常用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Analytical Techniques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分析技巧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8D7D94-7C33-575E-CA14-763A232223E0}"/>
              </a:ext>
            </a:extLst>
          </p:cNvPr>
          <p:cNvSpPr txBox="1"/>
          <p:nvPr/>
        </p:nvSpPr>
        <p:spPr>
          <a:xfrm>
            <a:off x="4244828" y="2508309"/>
            <a:ext cx="56122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unnel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Cohort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RFM(recency, frequency, monetary)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Correlation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A/B testing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Regression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series </a:t>
            </a:r>
          </a:p>
        </p:txBody>
      </p:sp>
    </p:spTree>
    <p:extLst>
      <p:ext uri="{BB962C8B-B14F-4D97-AF65-F5344CB8AC3E}">
        <p14:creationId xmlns:p14="http://schemas.microsoft.com/office/powerpoint/2010/main" val="1377656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526" y="2267903"/>
            <a:ext cx="10131425" cy="334433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Sales</a:t>
            </a:r>
            <a:r>
              <a:rPr lang="en-US" altLang="zh-CN" sz="2800" dirty="0"/>
              <a:t>/</a:t>
            </a:r>
            <a:r>
              <a:rPr lang="zh-CN" altLang="en-US" sz="2800" dirty="0"/>
              <a:t>销售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/>
              <a:t>Marketing</a:t>
            </a:r>
            <a:r>
              <a:rPr lang="en-US" altLang="zh-CN" sz="2800" dirty="0"/>
              <a:t>/</a:t>
            </a:r>
            <a:r>
              <a:rPr lang="zh-CN" altLang="en-US" sz="2800" dirty="0"/>
              <a:t>营销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/>
              <a:t>Internal Audit/Risk</a:t>
            </a:r>
            <a:r>
              <a:rPr lang="en-US" altLang="zh-CN" sz="2800" dirty="0"/>
              <a:t>/</a:t>
            </a:r>
            <a:r>
              <a:rPr lang="zh-CN" altLang="en-US" sz="2800" dirty="0"/>
              <a:t>风控</a:t>
            </a:r>
            <a:endParaRPr lang="en-US" sz="2800" dirty="0"/>
          </a:p>
          <a:p>
            <a:pPr algn="ctr"/>
            <a:r>
              <a:rPr lang="en-US" sz="2800" dirty="0"/>
              <a:t>Credit</a:t>
            </a:r>
            <a:r>
              <a:rPr lang="en-US" altLang="zh-CN" sz="2800" dirty="0"/>
              <a:t>/</a:t>
            </a:r>
            <a:r>
              <a:rPr lang="zh-CN" altLang="en-US" sz="2800" dirty="0"/>
              <a:t>信用</a:t>
            </a:r>
            <a:endParaRPr lang="en-US" sz="2800" dirty="0"/>
          </a:p>
          <a:p>
            <a:pPr algn="ctr"/>
            <a:r>
              <a:rPr lang="en-US" sz="2800" dirty="0"/>
              <a:t>HR</a:t>
            </a:r>
            <a:r>
              <a:rPr lang="en-US" altLang="zh-CN" sz="2800" dirty="0"/>
              <a:t>/</a:t>
            </a:r>
            <a:r>
              <a:rPr lang="zh-CN" altLang="en-US" sz="2800" dirty="0"/>
              <a:t>人事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48393" y="1332291"/>
            <a:ext cx="10131425" cy="809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Category of jobs </a:t>
            </a:r>
            <a:r>
              <a:rPr kumimoji="0" lang="en-US" altLang="zh-CN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/</a:t>
            </a:r>
            <a:r>
              <a:rPr kumimoji="0" lang="zh-CN" alt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招聘数据分析的部门分类</a:t>
            </a:r>
            <a:endParaRPr kumimoji="0" lang="en-US" sz="24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749201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Microsoft Office PowerPoint</Application>
  <PresentationFormat>Widescreen</PresentationFormat>
  <Paragraphs>301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Consolas</vt:lpstr>
      <vt:lpstr>Corbel</vt:lpstr>
      <vt:lpstr>Tw Cen MT</vt:lpstr>
      <vt:lpstr>Depth</vt:lpstr>
      <vt:lpstr>PowerPoint Presentation</vt:lpstr>
      <vt:lpstr>PowerPoint Presentation</vt:lpstr>
      <vt:lpstr>数据职位分类</vt:lpstr>
      <vt:lpstr>数据行业分类</vt:lpstr>
      <vt:lpstr>数据行业分类</vt:lpstr>
      <vt:lpstr>数据行业分类</vt:lpstr>
      <vt:lpstr>数据职位分类</vt:lpstr>
      <vt:lpstr>理论：到底什么是数据分析？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COOP实习解决什么问题？</vt:lpstr>
      <vt:lpstr>All in one 一站式服务 Business   Data    Analysis</vt:lpstr>
      <vt:lpstr>All in one 一站式服务 Business   Data   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Data analysis/商业数据分析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 abc</dc:creator>
  <cp:lastModifiedBy>vic abc</cp:lastModifiedBy>
  <cp:revision>1</cp:revision>
  <dcterms:created xsi:type="dcterms:W3CDTF">2022-10-30T19:05:12Z</dcterms:created>
  <dcterms:modified xsi:type="dcterms:W3CDTF">2022-10-30T19:09:47Z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2022-10-30T19:09:33Z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808c7684-432a-4f1d-8a27-3ab41831f393</vt:lpwstr>
  </property>
  <property fmtid="{D5CDD505-2E9C-101B-9397-08002B2CF9AE}" pid="7" name="MSIP_Label_defa4170-0d19-0005-0004-bc88714345d2_ActionId">
    <vt:lpwstr>737b4c72-d9c7-47b0-8adb-8a753c927e55</vt:lpwstr>
  </property>
  <property fmtid="{D5CDD505-2E9C-101B-9397-08002B2CF9AE}" pid="8" name="MSIP_Label_defa4170-0d19-0005-0004-bc88714345d2_ContentBits">
    <vt:lpwstr>0</vt:lpwstr>
  </property>
</Properties>
</file>