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  <p:sldId id="458" r:id="rId15"/>
    <p:sldId id="459" r:id="rId16"/>
    <p:sldId id="460" r:id="rId17"/>
    <p:sldId id="461" r:id="rId18"/>
    <p:sldId id="462" r:id="rId19"/>
    <p:sldId id="463" r:id="rId20"/>
    <p:sldId id="4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项目：市场营销Marketing" id="{95D4DEC8-6121-4F1F-B92D-974F3CC3C70B}">
          <p14:sldIdLst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2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8174-E534-EA26-3AA1-7AE25FFBE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15FCC-6230-E6B5-82E8-42792F442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9C984-D021-8AA5-3747-792D4D58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891A-B743-3F82-1E75-7BC738427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A2B18-7350-FE61-828A-819C6E3F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5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232D-6DF3-91BD-2751-B334A4EB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CA45-CFDD-8499-2F25-3B5B5807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3688-8BC8-361A-6FD6-87801CDB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7555-A5EC-5944-1160-85CDE287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FE829-C222-D099-B5CB-62A391FD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6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D1F2-3EB5-C886-934E-6E225C356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D31FD-6FC1-12E5-6382-3ABFFAD31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BBDD0-D8D2-3E7D-061D-28CF9C4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DE9ED-FBDB-2614-5DAE-0C39F509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C0A4B-A8DC-1082-08E3-10380CB1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61422-A144-2F1F-925D-FA69E760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A7C8-3EA6-B124-74DE-9FD14CFFB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A9D82-B4FC-1EFF-A23A-364F004BC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BCA65-69EE-A289-C9FD-B8263157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1DF0E-350E-812C-CB7F-AA4AF155A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A024F-5D22-F2E1-2DA8-E63BEA69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3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D6B9-B807-E213-CE03-0A515960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E4B6C-D953-50EF-40D8-B36C27089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4BAB8-D88C-BED2-98DD-41E100702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515B1-5A63-86C9-23FF-F89D05B1E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2B618-A462-D0AB-2E50-5B83B77AB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36C1E8-FD12-64E9-63D2-0544BB6E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F8B92-C2ED-036D-FB9D-B7A9A096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983EB-FEF8-60C3-5CF0-76AE51FD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6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296E-6958-91DA-924F-4AEF536E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D9D8C-FAF5-A1D5-F219-5C8BD06A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D5762-A29E-91CA-3DE2-78662419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A032B-5F55-3762-BD9A-D10F9B1B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7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6EAF1-3381-E6C3-FFC1-8A28D7A5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26819-8C5A-BACD-8C74-BB84BA23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E8318-E62C-6C42-76AB-CA558AA5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2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6C0B-94C7-6771-FAD2-3FA076CD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16765-7E46-4D78-0586-4B8185ED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102A5-2937-6EEB-7DAB-31A4074C9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FD23D-992B-B4E1-DCEE-F6D4B8B8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58D6-3ED0-3125-AB72-C67510C7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C15D7-698D-DEB8-C434-CF8C68D7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3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405F-E254-3AFB-84C5-33382A43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16B36-CCEE-238D-17D4-72CA06E72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410D9-D00C-E50F-73DF-68CDDBB07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5AAA5-A823-D4CD-1AE8-A88E01DF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37EB-59E3-31C1-5150-7898303C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6F69A-7EAA-D1F4-09E8-4A702D00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8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169D-3EF8-A131-ED28-DF08715F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43CEE-970B-A30F-A844-F66F696C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81D24-6A4A-9EC9-158F-42BB2308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FCC82-F0D0-8146-A3E5-8B211009F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E57BC-BE30-DEE4-DD15-EB682065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0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989B7-73E3-0366-1888-BF94E2EC8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F9513-8EC6-FD2D-F069-47480594F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DC23F-FBE7-F19F-7F82-B0D9DDC4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6B52-5646-8470-B117-44EC78B0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AC23-001F-7EF8-1F2D-0C966C47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E1624-157D-FCE7-312E-D441873C7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BFCC2-BEA2-D77F-CA15-0AA13861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32297-82CE-4BA2-7BAD-194A6927B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ACA8C-0C16-48C0-981F-8D6427AD504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0D609-16C9-8882-CE56-763478D78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7F3F2-6292-3E92-74EA-C62E7F6C9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C3D77-889A-407F-829B-9E01FD28B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3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90207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4616" y="1493239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en-US" sz="8000" dirty="0">
                <a:latin typeface="+mn-lt"/>
              </a:rPr>
              <a:t>MARKETING/</a:t>
            </a:r>
            <a:r>
              <a:rPr lang="zh-CN" altLang="en-US" sz="8000" dirty="0">
                <a:latin typeface="+mn-lt"/>
              </a:rPr>
              <a:t>市场营销部门项目</a:t>
            </a:r>
            <a:endParaRPr lang="en-US" sz="1600" dirty="0">
              <a:latin typeface="+mn-lt"/>
            </a:endParaRPr>
          </a:p>
        </p:txBody>
      </p:sp>
      <p:pic>
        <p:nvPicPr>
          <p:cNvPr id="1027" name="Picture 3" descr="How To Create A Successful Marketing Campaign | ACTIVE Network Blog">
            <a:extLst>
              <a:ext uri="{FF2B5EF4-FFF2-40B4-BE49-F238E27FC236}">
                <a16:creationId xmlns:a16="http://schemas.microsoft.com/office/drawing/2014/main" id="{C26373C8-AC99-4F81-92E1-292FAB00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798" y="2784829"/>
            <a:ext cx="4153936" cy="2336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EFAE6A3-9383-4917-9DB5-D864B73F9806}"/>
              </a:ext>
            </a:extLst>
          </p:cNvPr>
          <p:cNvSpPr/>
          <p:nvPr/>
        </p:nvSpPr>
        <p:spPr>
          <a:xfrm>
            <a:off x="5943950" y="3648891"/>
            <a:ext cx="1850221" cy="409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French expressions about money: Should I use thunes or argent?">
            <a:extLst>
              <a:ext uri="{FF2B5EF4-FFF2-40B4-BE49-F238E27FC236}">
                <a16:creationId xmlns:a16="http://schemas.microsoft.com/office/drawing/2014/main" id="{7FC2AE56-FD6B-4481-9430-F32B9AD72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666" y="301488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78E7FE-E96C-4404-AE5C-DF715CEA0858}"/>
              </a:ext>
            </a:extLst>
          </p:cNvPr>
          <p:cNvSpPr txBox="1"/>
          <p:nvPr/>
        </p:nvSpPr>
        <p:spPr>
          <a:xfrm>
            <a:off x="2673881" y="5507717"/>
            <a:ext cx="7706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Following the money is always a good way to identify business opportunities/</a:t>
            </a:r>
            <a:r>
              <a:rPr lang="zh-CN" altLang="en-US" dirty="0">
                <a:solidFill>
                  <a:srgbClr val="FFC000"/>
                </a:solidFill>
              </a:rPr>
              <a:t>跟着钱走总能发现商业机会</a:t>
            </a:r>
            <a:r>
              <a:rPr lang="en-US" dirty="0">
                <a:solidFill>
                  <a:srgbClr val="FFC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206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90207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251" y="2340016"/>
            <a:ext cx="10131425" cy="3381019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Type of Marketing Campaigns/</a:t>
            </a:r>
            <a:r>
              <a:rPr lang="zh-CN" altLang="en-US" sz="2000" dirty="0"/>
              <a:t>市场营销活动的主要种类</a:t>
            </a:r>
            <a:endParaRPr lang="en-US" altLang="zh-CN" sz="2000" dirty="0"/>
          </a:p>
          <a:p>
            <a:pPr lvl="1"/>
            <a:r>
              <a:rPr lang="en-US" altLang="zh-CN" sz="1800" dirty="0"/>
              <a:t>Product Marketing Campaign/</a:t>
            </a:r>
            <a:r>
              <a:rPr lang="zh-CN" altLang="en-US" sz="1800" dirty="0"/>
              <a:t>产品营销活动</a:t>
            </a:r>
            <a:endParaRPr lang="en-US" altLang="zh-CN" sz="1800" dirty="0"/>
          </a:p>
          <a:p>
            <a:pPr lvl="1"/>
            <a:r>
              <a:rPr lang="en-US" altLang="zh-CN" sz="1800" dirty="0"/>
              <a:t>Acquisition Marketing Campaign/</a:t>
            </a:r>
            <a:r>
              <a:rPr lang="zh-CN" altLang="en-US" sz="1800" dirty="0"/>
              <a:t>客户获得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FFC000"/>
                </a:solidFill>
              </a:rPr>
              <a:t>Customer retention Campaign/</a:t>
            </a:r>
            <a:r>
              <a:rPr lang="zh-CN" altLang="en-US" sz="1800" dirty="0">
                <a:solidFill>
                  <a:srgbClr val="FFC000"/>
                </a:solidFill>
              </a:rPr>
              <a:t>客户挽留</a:t>
            </a:r>
            <a:endParaRPr lang="en-US" altLang="zh-CN" sz="1800" dirty="0">
              <a:solidFill>
                <a:srgbClr val="FFC000"/>
              </a:solidFill>
            </a:endParaRPr>
          </a:p>
          <a:p>
            <a:r>
              <a:rPr lang="en-US" altLang="zh-CN" sz="2000" dirty="0">
                <a:solidFill>
                  <a:srgbClr val="FFC000"/>
                </a:solidFill>
              </a:rPr>
              <a:t>Budget/</a:t>
            </a:r>
            <a:r>
              <a:rPr lang="zh-CN" altLang="en-US" sz="2000" dirty="0">
                <a:solidFill>
                  <a:srgbClr val="FFC000"/>
                </a:solidFill>
              </a:rPr>
              <a:t>预算</a:t>
            </a:r>
            <a:r>
              <a:rPr lang="en-US" altLang="zh-CN" sz="2000" dirty="0">
                <a:solidFill>
                  <a:srgbClr val="FFC000"/>
                </a:solidFill>
              </a:rPr>
              <a:t>: </a:t>
            </a:r>
            <a:r>
              <a:rPr lang="en-US" altLang="zh-CN" sz="2000" dirty="0"/>
              <a:t>Not all marketing campaigns require an incremental budget, but many still do. Factor in the agency, advertising, and freelance costs, if appropriate, and factor these numbers into any </a:t>
            </a:r>
            <a:r>
              <a:rPr lang="en-US" altLang="zh-CN" sz="2000" dirty="0">
                <a:solidFill>
                  <a:srgbClr val="FFC000"/>
                </a:solidFill>
              </a:rPr>
              <a:t>ROI analysis/</a:t>
            </a:r>
            <a:r>
              <a:rPr lang="zh-CN" altLang="en-US" sz="2000" dirty="0">
                <a:solidFill>
                  <a:srgbClr val="FFC000"/>
                </a:solidFill>
              </a:rPr>
              <a:t>投资回报分析</a:t>
            </a:r>
            <a:r>
              <a:rPr lang="en-US" altLang="zh-CN" sz="2000" dirty="0">
                <a:solidFill>
                  <a:srgbClr val="FFC000"/>
                </a:solidFill>
              </a:rPr>
              <a:t> </a:t>
            </a:r>
            <a:r>
              <a:rPr lang="en-US" altLang="zh-CN" sz="2000" dirty="0"/>
              <a:t>for your campaign.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4616" y="1493239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en-US" sz="8000" dirty="0">
                <a:latin typeface="+mn-lt"/>
              </a:rPr>
              <a:t>MARKETING/</a:t>
            </a:r>
            <a:r>
              <a:rPr lang="zh-CN" altLang="en-US" sz="8000" dirty="0">
                <a:latin typeface="+mn-lt"/>
              </a:rPr>
              <a:t>市场营销部门项目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581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90207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4616" y="1493239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en-US" sz="8000" dirty="0">
                <a:latin typeface="+mn-lt"/>
              </a:rPr>
              <a:t>MARKETING/</a:t>
            </a:r>
            <a:r>
              <a:rPr lang="zh-CN" altLang="en-US" sz="8000" dirty="0">
                <a:latin typeface="+mn-lt"/>
              </a:rPr>
              <a:t>市场营销部门项目</a:t>
            </a:r>
            <a:endParaRPr lang="en-US" sz="1600" dirty="0">
              <a:latin typeface="+mn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0E31C6-AF9C-4D19-87CB-4EDE02737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4037" y="2832027"/>
            <a:ext cx="6219825" cy="1781175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1D4F9C-8951-4999-9452-7C6C52B11E48}"/>
              </a:ext>
            </a:extLst>
          </p:cNvPr>
          <p:cNvSpPr txBox="1">
            <a:spLocks/>
          </p:cNvSpPr>
          <p:nvPr/>
        </p:nvSpPr>
        <p:spPr>
          <a:xfrm>
            <a:off x="810238" y="5071154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zh-CN" altLang="en-US" sz="8000" dirty="0">
                <a:latin typeface="+mn-lt"/>
              </a:rPr>
              <a:t>怎么算促销活动的回报？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096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665" y="754027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30286" y="1754496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en-US" sz="8000" dirty="0">
                <a:latin typeface="+mn-lt"/>
              </a:rPr>
              <a:t>ROI F</a:t>
            </a:r>
            <a:r>
              <a:rPr lang="en-US" altLang="zh-CN" sz="8000" dirty="0">
                <a:latin typeface="+mn-lt"/>
              </a:rPr>
              <a:t>inancial analysis</a:t>
            </a:r>
            <a:endParaRPr lang="en-US" sz="16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3BD4F0-658E-48AF-9962-A0F8784F6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93" y="2703850"/>
            <a:ext cx="9953652" cy="34417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AFD88D-AEBA-4761-9AAC-2E238302809E}"/>
              </a:ext>
            </a:extLst>
          </p:cNvPr>
          <p:cNvSpPr/>
          <p:nvPr/>
        </p:nvSpPr>
        <p:spPr>
          <a:xfrm>
            <a:off x="3222171" y="3683726"/>
            <a:ext cx="391886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C0A89-43A4-480F-8C4F-45A3A91C21F0}"/>
              </a:ext>
            </a:extLst>
          </p:cNvPr>
          <p:cNvSpPr/>
          <p:nvPr/>
        </p:nvSpPr>
        <p:spPr>
          <a:xfrm>
            <a:off x="3222171" y="4045867"/>
            <a:ext cx="391886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729ACD-583B-45B1-ABB6-3C74ED300584}"/>
              </a:ext>
            </a:extLst>
          </p:cNvPr>
          <p:cNvSpPr txBox="1"/>
          <p:nvPr/>
        </p:nvSpPr>
        <p:spPr>
          <a:xfrm>
            <a:off x="3074126" y="2159726"/>
            <a:ext cx="8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随机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59D63C-E3FA-4997-861E-9FAE050FFDDA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flipH="1">
            <a:off x="3418114" y="2529058"/>
            <a:ext cx="74024" cy="115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148416-D8DD-4344-A0AB-0D0805C86EBF}"/>
              </a:ext>
            </a:extLst>
          </p:cNvPr>
          <p:cNvSpPr txBox="1"/>
          <p:nvPr/>
        </p:nvSpPr>
        <p:spPr>
          <a:xfrm>
            <a:off x="2680063" y="5194663"/>
            <a:ext cx="98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非随机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43A44E-581C-46A0-B6D9-2C07EA3CA365}"/>
              </a:ext>
            </a:extLst>
          </p:cNvPr>
          <p:cNvCxnSpPr>
            <a:cxnSpLocks/>
            <a:stCxn id="15" idx="0"/>
            <a:endCxn id="10" idx="2"/>
          </p:cNvCxnSpPr>
          <p:nvPr/>
        </p:nvCxnSpPr>
        <p:spPr>
          <a:xfrm flipV="1">
            <a:off x="3173186" y="4289707"/>
            <a:ext cx="244928" cy="904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7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1024441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70410" y="1970398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en-US" sz="4800" dirty="0">
                <a:solidFill>
                  <a:srgbClr val="FFC000"/>
                </a:solidFill>
              </a:rPr>
              <a:t>Churn analysis/</a:t>
            </a:r>
            <a:r>
              <a:rPr lang="zh-CN" altLang="en-US" sz="4800" dirty="0">
                <a:solidFill>
                  <a:srgbClr val="FFC000"/>
                </a:solidFill>
              </a:rPr>
              <a:t>客户流失分析</a:t>
            </a:r>
            <a:endParaRPr lang="en-US" sz="1600" dirty="0">
              <a:latin typeface="+mn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CC22D-759B-45B0-81EF-53F4B62B3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860" y="2438399"/>
            <a:ext cx="10131425" cy="2793854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C000"/>
                </a:solidFill>
              </a:rPr>
              <a:t>Churn analysis </a:t>
            </a:r>
            <a:r>
              <a:rPr lang="en-US" dirty="0"/>
              <a:t>is a review of a </a:t>
            </a:r>
            <a:r>
              <a:rPr lang="en-US" altLang="zh-CN" dirty="0"/>
              <a:t>bank</a:t>
            </a:r>
            <a:r>
              <a:rPr lang="en-US" dirty="0"/>
              <a:t>’s customers data that reveals their composition and trends. It looks for correlations between customers who became inactive during a period of time and variables such as tenure, product holding, service calls, seasonality, and demographics.</a:t>
            </a:r>
          </a:p>
          <a:p>
            <a:r>
              <a:rPr lang="zh-CN" altLang="en-US" dirty="0"/>
              <a:t>客户流失分析是分析银行客户组成和趋势的数据。寻找客户的特征比如时间长度，持有什么产品，打过服务电话，季节性，人口成分等与客户流失的关联。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7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1024441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13953" y="1761392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sz="2400" dirty="0"/>
            </a:br>
            <a:r>
              <a:rPr lang="en-US" sz="4800" dirty="0">
                <a:solidFill>
                  <a:srgbClr val="FFC000"/>
                </a:solidFill>
              </a:rPr>
              <a:t>Churn analysis/</a:t>
            </a:r>
            <a:r>
              <a:rPr lang="zh-CN" altLang="en-US" sz="4800" dirty="0">
                <a:solidFill>
                  <a:srgbClr val="FFC000"/>
                </a:solidFill>
              </a:rPr>
              <a:t>客户流失分析</a:t>
            </a:r>
            <a:r>
              <a:rPr lang="en-US" altLang="zh-CN" sz="4800" dirty="0">
                <a:solidFill>
                  <a:srgbClr val="FFC000"/>
                </a:solidFill>
              </a:rPr>
              <a:t>---data </a:t>
            </a:r>
            <a:r>
              <a:rPr lang="zh-CN" altLang="en-US" sz="4800" dirty="0">
                <a:solidFill>
                  <a:srgbClr val="FFC000"/>
                </a:solidFill>
              </a:rPr>
              <a:t>数据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5CC304-B7F0-45C1-8CC8-C31D79053A09}"/>
              </a:ext>
            </a:extLst>
          </p:cNvPr>
          <p:cNvGraphicFramePr>
            <a:graphicFrameLocks noGrp="1"/>
          </p:cNvGraphicFramePr>
          <p:nvPr/>
        </p:nvGraphicFramePr>
        <p:xfrm>
          <a:off x="1593487" y="2684566"/>
          <a:ext cx="8020882" cy="3705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9511">
                  <a:extLst>
                    <a:ext uri="{9D8B030D-6E8A-4147-A177-3AD203B41FA5}">
                      <a16:colId xmlns:a16="http://schemas.microsoft.com/office/drawing/2014/main" val="1248245427"/>
                    </a:ext>
                  </a:extLst>
                </a:gridCol>
                <a:gridCol w="719511">
                  <a:extLst>
                    <a:ext uri="{9D8B030D-6E8A-4147-A177-3AD203B41FA5}">
                      <a16:colId xmlns:a16="http://schemas.microsoft.com/office/drawing/2014/main" val="911516045"/>
                    </a:ext>
                  </a:extLst>
                </a:gridCol>
                <a:gridCol w="680044">
                  <a:extLst>
                    <a:ext uri="{9D8B030D-6E8A-4147-A177-3AD203B41FA5}">
                      <a16:colId xmlns:a16="http://schemas.microsoft.com/office/drawing/2014/main" val="1688507771"/>
                    </a:ext>
                  </a:extLst>
                </a:gridCol>
                <a:gridCol w="485746">
                  <a:extLst>
                    <a:ext uri="{9D8B030D-6E8A-4147-A177-3AD203B41FA5}">
                      <a16:colId xmlns:a16="http://schemas.microsoft.com/office/drawing/2014/main" val="3332315674"/>
                    </a:ext>
                  </a:extLst>
                </a:gridCol>
                <a:gridCol w="282340">
                  <a:extLst>
                    <a:ext uri="{9D8B030D-6E8A-4147-A177-3AD203B41FA5}">
                      <a16:colId xmlns:a16="http://schemas.microsoft.com/office/drawing/2014/main" val="3960465796"/>
                    </a:ext>
                  </a:extLst>
                </a:gridCol>
                <a:gridCol w="464495">
                  <a:extLst>
                    <a:ext uri="{9D8B030D-6E8A-4147-A177-3AD203B41FA5}">
                      <a16:colId xmlns:a16="http://schemas.microsoft.com/office/drawing/2014/main" val="2325488168"/>
                    </a:ext>
                  </a:extLst>
                </a:gridCol>
                <a:gridCol w="643614">
                  <a:extLst>
                    <a:ext uri="{9D8B030D-6E8A-4147-A177-3AD203B41FA5}">
                      <a16:colId xmlns:a16="http://schemas.microsoft.com/office/drawing/2014/main" val="567598489"/>
                    </a:ext>
                  </a:extLst>
                </a:gridCol>
                <a:gridCol w="974528">
                  <a:extLst>
                    <a:ext uri="{9D8B030D-6E8A-4147-A177-3AD203B41FA5}">
                      <a16:colId xmlns:a16="http://schemas.microsoft.com/office/drawing/2014/main" val="3250840077"/>
                    </a:ext>
                  </a:extLst>
                </a:gridCol>
                <a:gridCol w="643614">
                  <a:extLst>
                    <a:ext uri="{9D8B030D-6E8A-4147-A177-3AD203B41FA5}">
                      <a16:colId xmlns:a16="http://schemas.microsoft.com/office/drawing/2014/main" val="4264774019"/>
                    </a:ext>
                  </a:extLst>
                </a:gridCol>
                <a:gridCol w="1007923">
                  <a:extLst>
                    <a:ext uri="{9D8B030D-6E8A-4147-A177-3AD203B41FA5}">
                      <a16:colId xmlns:a16="http://schemas.microsoft.com/office/drawing/2014/main" val="2732609799"/>
                    </a:ext>
                  </a:extLst>
                </a:gridCol>
                <a:gridCol w="996299">
                  <a:extLst>
                    <a:ext uri="{9D8B030D-6E8A-4147-A177-3AD203B41FA5}">
                      <a16:colId xmlns:a16="http://schemas.microsoft.com/office/drawing/2014/main" val="3513373544"/>
                    </a:ext>
                  </a:extLst>
                </a:gridCol>
                <a:gridCol w="403257">
                  <a:extLst>
                    <a:ext uri="{9D8B030D-6E8A-4147-A177-3AD203B41FA5}">
                      <a16:colId xmlns:a16="http://schemas.microsoft.com/office/drawing/2014/main" val="2635865986"/>
                    </a:ext>
                  </a:extLst>
                </a:gridCol>
              </a:tblGrid>
              <a:tr h="1824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CustomerId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CreditScore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Geography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Gender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Tenure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Balance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NumOfProducts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HasCrCard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IsActiveMember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EstimatedSalary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Churn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2122367325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15592531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822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France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10062.8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4022381455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15577657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170886.17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949779044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15614049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139161.64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1599652651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15640635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172290.61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190548553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15724944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180427.24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2970322243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15625524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146457.83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998232569"/>
                  </a:ext>
                </a:extLst>
              </a:tr>
              <a:tr h="23809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15789669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48071.61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830627929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15810845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France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55470.78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214513154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15656176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France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47847.19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796764569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15624592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169915.02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767002682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15727829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France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167984.61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654210393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15636684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198637.34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2493334783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15653857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148528.24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1280188578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15668893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33949.67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420438084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15785819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112491.96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2750140557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15811490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103737.82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53037888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15576256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129892.93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225203503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15676715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199493.38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012293849"/>
                  </a:ext>
                </a:extLst>
              </a:tr>
              <a:tr h="18248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15642291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France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112239.03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24" marR="9124" marT="9124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yes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124" marR="9124" marT="9124" marB="0" anchor="b"/>
                </a:tc>
                <a:extLst>
                  <a:ext uri="{0D108BD9-81ED-4DB2-BD59-A6C34878D82A}">
                    <a16:rowId xmlns:a16="http://schemas.microsoft.com/office/drawing/2014/main" val="3331893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68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7BB5BD-6CE9-4AE3-BD12-02C363CF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48" y="1341121"/>
            <a:ext cx="9420583" cy="51017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3039292" y="-218867"/>
            <a:ext cx="6858000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Summarize your data/</a:t>
            </a:r>
            <a:r>
              <a:rPr lang="zh-CN" altLang="en-US" sz="3200" b="1" dirty="0">
                <a:solidFill>
                  <a:srgbClr val="FFC000"/>
                </a:solidFill>
                <a:latin typeface="+mj-lt"/>
              </a:rPr>
              <a:t>总结你的数据</a:t>
            </a:r>
            <a:endParaRPr lang="en-US" altLang="zh-CN" sz="3200" b="1" dirty="0">
              <a:solidFill>
                <a:srgbClr val="FFC000"/>
              </a:solidFill>
              <a:latin typeface="+mj-lt"/>
            </a:endParaRPr>
          </a:p>
          <a:p>
            <a:pPr algn="ctr"/>
            <a:r>
              <a:rPr lang="en-US" sz="2000" b="1" dirty="0">
                <a:solidFill>
                  <a:srgbClr val="FFC000"/>
                </a:solidFill>
                <a:latin typeface="+mj-lt"/>
              </a:rPr>
              <a:t>The power of visualization/</a:t>
            </a:r>
            <a:r>
              <a:rPr lang="zh-CN" altLang="en-US" sz="2000" b="1" dirty="0">
                <a:solidFill>
                  <a:srgbClr val="FFC000"/>
                </a:solidFill>
                <a:latin typeface="+mj-lt"/>
              </a:rPr>
              <a:t>视觉化的威力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9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462A2-A980-470F-A6D9-5E3D4E97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35" y="1796142"/>
            <a:ext cx="2371725" cy="2876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E6AF23-248F-438D-9B66-5F75EF6D9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372" y="1741713"/>
            <a:ext cx="2867025" cy="3009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9AEFFB-ACA4-4A3A-928B-F7DAC4ACA3A6}"/>
              </a:ext>
            </a:extLst>
          </p:cNvPr>
          <p:cNvSpPr txBox="1"/>
          <p:nvPr/>
        </p:nvSpPr>
        <p:spPr>
          <a:xfrm>
            <a:off x="2856683" y="5073287"/>
            <a:ext cx="197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Baseline/</a:t>
            </a:r>
            <a:r>
              <a:rPr lang="zh-CN" altLang="en-US" dirty="0"/>
              <a:t>基线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52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BCF93A-7D27-4C3A-80DB-96A2E0B9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42" y="2185170"/>
            <a:ext cx="4029075" cy="1895475"/>
          </a:xfrm>
          <a:prstGeom prst="rect">
            <a:avLst/>
          </a:prstGeom>
        </p:spPr>
      </p:pic>
      <p:pic>
        <p:nvPicPr>
          <p:cNvPr id="12" name="Picture 11" descr="A Good Way to Portion Dough for Rolls | Cook&amp;#39;s Illustrated">
            <a:extLst>
              <a:ext uri="{FF2B5EF4-FFF2-40B4-BE49-F238E27FC236}">
                <a16:creationId xmlns:a16="http://schemas.microsoft.com/office/drawing/2014/main" id="{ABBF53F2-BBD5-4525-9129-FC6CB71B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891" y="1292950"/>
            <a:ext cx="3679916" cy="367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EFB24-A626-42EB-851D-66B9040FD3C4}"/>
              </a:ext>
            </a:extLst>
          </p:cNvPr>
          <p:cNvSpPr txBox="1"/>
          <p:nvPr/>
        </p:nvSpPr>
        <p:spPr>
          <a:xfrm>
            <a:off x="2874372" y="5565050"/>
            <a:ext cx="60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C000"/>
                </a:solidFill>
              </a:rPr>
              <a:t>三板斧：切，统计总和，比较</a:t>
            </a:r>
            <a:endParaRPr 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11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462A2-A980-470F-A6D9-5E3D4E97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84" y="2196737"/>
            <a:ext cx="2371725" cy="2876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F79524-D5B6-4CF0-A309-6CE75157E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540" y="2091962"/>
            <a:ext cx="2771775" cy="308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F1A11-12CD-4303-B3BD-C5C30382999F}"/>
              </a:ext>
            </a:extLst>
          </p:cNvPr>
          <p:cNvSpPr txBox="1"/>
          <p:nvPr/>
        </p:nvSpPr>
        <p:spPr>
          <a:xfrm>
            <a:off x="2817359" y="5299710"/>
            <a:ext cx="197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Baseline/</a:t>
            </a:r>
            <a:r>
              <a:rPr lang="zh-CN" altLang="en-US" dirty="0"/>
              <a:t>基线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4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462A2-A980-470F-A6D9-5E3D4E97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84" y="2196737"/>
            <a:ext cx="2371725" cy="2876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F1A11-12CD-4303-B3BD-C5C30382999F}"/>
              </a:ext>
            </a:extLst>
          </p:cNvPr>
          <p:cNvSpPr txBox="1"/>
          <p:nvPr/>
        </p:nvSpPr>
        <p:spPr>
          <a:xfrm>
            <a:off x="2817359" y="5299710"/>
            <a:ext cx="197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Baseline/</a:t>
            </a:r>
            <a:r>
              <a:rPr lang="zh-CN" altLang="en-US" dirty="0"/>
              <a:t>基线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058DA-02B3-4E58-BF3B-91C830D38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988" y="2130062"/>
            <a:ext cx="25241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45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462A2-A980-470F-A6D9-5E3D4E97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84" y="2196737"/>
            <a:ext cx="2371725" cy="2876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F1A11-12CD-4303-B3BD-C5C30382999F}"/>
              </a:ext>
            </a:extLst>
          </p:cNvPr>
          <p:cNvSpPr txBox="1"/>
          <p:nvPr/>
        </p:nvSpPr>
        <p:spPr>
          <a:xfrm>
            <a:off x="2817359" y="5299710"/>
            <a:ext cx="1976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Baseline/</a:t>
            </a:r>
            <a:r>
              <a:rPr lang="zh-CN" altLang="en-US" dirty="0"/>
              <a:t>基线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D0AA7-D2BC-4605-8C62-22D637B1A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97" y="2196737"/>
            <a:ext cx="256222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8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041E7-529A-4F62-9066-01643C159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69" y="1590099"/>
            <a:ext cx="9540240" cy="49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</a:rPr>
              <a:t>--- correlation /</a:t>
            </a:r>
            <a:r>
              <a:rPr lang="zh-CN" altLang="en-US" sz="3200" b="1" dirty="0">
                <a:solidFill>
                  <a:srgbClr val="FFC000"/>
                </a:solidFill>
                <a:latin typeface="+mj-lt"/>
              </a:rPr>
              <a:t>关联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71263-BDEE-4C6D-8181-72154063F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591" y="1367246"/>
            <a:ext cx="7195701" cy="520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184666"/>
            <a:ext cx="6858000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34748-F65F-45E1-9DBD-26BDFD25D914}"/>
              </a:ext>
            </a:extLst>
          </p:cNvPr>
          <p:cNvSpPr txBox="1"/>
          <p:nvPr/>
        </p:nvSpPr>
        <p:spPr>
          <a:xfrm>
            <a:off x="4259416" y="2736502"/>
            <a:ext cx="41547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Quantify</a:t>
            </a:r>
            <a:r>
              <a:rPr lang="en-US" altLang="zh-CN" sz="2800" dirty="0">
                <a:solidFill>
                  <a:srgbClr val="FFFF00"/>
                </a:solidFill>
              </a:rPr>
              <a:t>/</a:t>
            </a:r>
            <a:r>
              <a:rPr lang="zh-CN" altLang="en-US" sz="2800" dirty="0">
                <a:solidFill>
                  <a:srgbClr val="FFFF00"/>
                </a:solidFill>
              </a:rPr>
              <a:t>量化</a:t>
            </a:r>
            <a:endParaRPr lang="en-US" altLang="zh-CN" sz="2800" dirty="0">
              <a:solidFill>
                <a:srgbClr val="FFFF00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One to Many/</a:t>
            </a:r>
            <a:r>
              <a:rPr lang="zh-CN" altLang="en-US" sz="2800" dirty="0">
                <a:solidFill>
                  <a:srgbClr val="FFFF00"/>
                </a:solidFill>
              </a:rPr>
              <a:t>一对多关系</a:t>
            </a:r>
            <a:endParaRPr lang="en-US" altLang="zh-CN" sz="2800" dirty="0">
              <a:solidFill>
                <a:srgbClr val="FFFF00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Ranking/</a:t>
            </a:r>
            <a:r>
              <a:rPr lang="zh-CN" altLang="en-US" sz="2800" dirty="0">
                <a:solidFill>
                  <a:srgbClr val="FFFF00"/>
                </a:solidFill>
              </a:rPr>
              <a:t>排序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908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569681" y="0"/>
            <a:ext cx="6858000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400" dirty="0">
              <a:latin typeface="+mj-lt"/>
            </a:endParaRPr>
          </a:p>
        </p:txBody>
      </p:sp>
      <p:pic>
        <p:nvPicPr>
          <p:cNvPr id="1026" name="Picture 2" descr="Logistic Regression with Pytorch | Pytorch for Logistic Regression">
            <a:extLst>
              <a:ext uri="{FF2B5EF4-FFF2-40B4-BE49-F238E27FC236}">
                <a16:creationId xmlns:a16="http://schemas.microsoft.com/office/drawing/2014/main" id="{90C61159-D4E4-4C87-9883-36801FA5C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146" y="2434931"/>
            <a:ext cx="8207229" cy="363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376AD2-EE65-4307-AB84-5390B13F0B0C}"/>
              </a:ext>
            </a:extLst>
          </p:cNvPr>
          <p:cNvSpPr txBox="1"/>
          <p:nvPr/>
        </p:nvSpPr>
        <p:spPr>
          <a:xfrm>
            <a:off x="5220748" y="16021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REGRESSION/</a:t>
            </a:r>
            <a:r>
              <a:rPr lang="ja-JP" altLang="en-US" dirty="0"/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4273641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F92667E-4AD8-476B-A01A-BDC7C5691430}"/>
              </a:ext>
            </a:extLst>
          </p:cNvPr>
          <p:cNvGrpSpPr/>
          <p:nvPr/>
        </p:nvGrpSpPr>
        <p:grpSpPr>
          <a:xfrm>
            <a:off x="3274501" y="2434931"/>
            <a:ext cx="6858000" cy="3429000"/>
            <a:chOff x="3089944" y="2052209"/>
            <a:chExt cx="6858000" cy="3429000"/>
          </a:xfrm>
        </p:grpSpPr>
        <p:pic>
          <p:nvPicPr>
            <p:cNvPr id="9218" name="Picture 2" descr="Logistic Regression — Detailed Overview | by Saishruthi Swaminathan |  Towards Data Science">
              <a:extLst>
                <a:ext uri="{FF2B5EF4-FFF2-40B4-BE49-F238E27FC236}">
                  <a16:creationId xmlns:a16="http://schemas.microsoft.com/office/drawing/2014/main" id="{F345FBBA-FA29-4899-B498-8D82811A66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9944" y="2052209"/>
              <a:ext cx="6858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CB4ECF-A3E5-4C2E-957B-4D4DA62EE6CD}"/>
                </a:ext>
              </a:extLst>
            </p:cNvPr>
            <p:cNvSpPr/>
            <p:nvPr/>
          </p:nvSpPr>
          <p:spPr>
            <a:xfrm>
              <a:off x="5863905" y="5179205"/>
              <a:ext cx="1543574" cy="30200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569681" y="0"/>
            <a:ext cx="6858000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76AD2-EE65-4307-AB84-5390B13F0B0C}"/>
              </a:ext>
            </a:extLst>
          </p:cNvPr>
          <p:cNvSpPr txBox="1"/>
          <p:nvPr/>
        </p:nvSpPr>
        <p:spPr>
          <a:xfrm>
            <a:off x="5220748" y="16021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REGRESSION/</a:t>
            </a:r>
            <a:r>
              <a:rPr lang="ja-JP" altLang="en-US" dirty="0"/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60616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529568" y="24384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</a:rPr>
              <a:t>---REGRESSION/</a:t>
            </a:r>
            <a:r>
              <a:rPr lang="zh-CN" altLang="en-US" sz="3200" b="1" dirty="0">
                <a:solidFill>
                  <a:srgbClr val="FFC000"/>
                </a:solidFill>
                <a:latin typeface="+mj-lt"/>
              </a:rPr>
              <a:t>回归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8EDDE-EB12-47C7-B6B2-B7290C8E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795" y="1846495"/>
            <a:ext cx="71437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22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529568" y="40617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r>
              <a:rPr lang="en-US" altLang="zh-CN" sz="3200" b="1" dirty="0">
                <a:solidFill>
                  <a:srgbClr val="FFC000"/>
                </a:solidFill>
                <a:latin typeface="+mj-lt"/>
              </a:rPr>
              <a:t>---REGRESSION/</a:t>
            </a:r>
            <a:r>
              <a:rPr lang="zh-CN" altLang="en-US" sz="3200" b="1" dirty="0">
                <a:solidFill>
                  <a:srgbClr val="FFC000"/>
                </a:solidFill>
                <a:latin typeface="+mj-lt"/>
              </a:rPr>
              <a:t>回归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E103BF-BBC3-4031-AD6B-DD6D5AD2E717}"/>
              </a:ext>
            </a:extLst>
          </p:cNvPr>
          <p:cNvGrpSpPr/>
          <p:nvPr/>
        </p:nvGrpSpPr>
        <p:grpSpPr>
          <a:xfrm>
            <a:off x="4287549" y="1699347"/>
            <a:ext cx="4751948" cy="4692832"/>
            <a:chOff x="3032960" y="1670547"/>
            <a:chExt cx="6217571" cy="46928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155A8E-8A97-4ECA-BA24-6F38105ABB25}"/>
                </a:ext>
              </a:extLst>
            </p:cNvPr>
            <p:cNvSpPr txBox="1"/>
            <p:nvPr/>
          </p:nvSpPr>
          <p:spPr>
            <a:xfrm>
              <a:off x="3154531" y="599404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C000"/>
                  </a:solidFill>
                </a:rPr>
                <a:t>Regression Model </a:t>
              </a:r>
              <a:r>
                <a:rPr lang="zh-CN" altLang="en-US" dirty="0">
                  <a:solidFill>
                    <a:srgbClr val="FFC000"/>
                  </a:solidFill>
                </a:rPr>
                <a:t>回归分析模型</a:t>
              </a:r>
              <a:endParaRPr lang="en-US" dirty="0">
                <a:solidFill>
                  <a:srgbClr val="FFC000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FD7B5D2-C52C-442C-9CBD-C6B40B8077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7287" y="2063931"/>
              <a:ext cx="73675" cy="3692435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7BC7481-668A-45BE-ADFF-AC4F79AF0394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5066760" y="2821577"/>
              <a:ext cx="940527" cy="47722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6DF8D5-8C9F-4477-A09C-56444FB232DC}"/>
                </a:ext>
              </a:extLst>
            </p:cNvPr>
            <p:cNvSpPr/>
            <p:nvPr/>
          </p:nvSpPr>
          <p:spPr>
            <a:xfrm>
              <a:off x="3032960" y="3114133"/>
              <a:ext cx="2033800" cy="369333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fontAlgn="b"/>
              <a:r>
                <a:rPr lang="en-US" sz="1200" u="none" strike="noStrike" dirty="0" err="1">
                  <a:effectLst/>
                </a:rPr>
                <a:t>CreditScore</a:t>
              </a:r>
              <a:endPara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A729C4B-1F47-4AE9-B77F-226ED9BF4D7B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066760" y="3623529"/>
              <a:ext cx="940527" cy="47722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359DCBE-F157-4791-AB9B-A2135E2AF7C5}"/>
                </a:ext>
              </a:extLst>
            </p:cNvPr>
            <p:cNvSpPr/>
            <p:nvPr/>
          </p:nvSpPr>
          <p:spPr>
            <a:xfrm>
              <a:off x="3032960" y="3916085"/>
              <a:ext cx="2033800" cy="369333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fontAlgn="b"/>
              <a:r>
                <a:rPr lang="en-US" sz="1200" u="none" strike="noStrike" dirty="0">
                  <a:effectLst/>
                </a:rPr>
                <a:t>Geography</a:t>
              </a:r>
              <a:endPara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71920DB-846A-4668-9EA3-EDB8ADDBBDA8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5066760" y="4504713"/>
              <a:ext cx="940527" cy="47722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7935FCB-754C-472A-AE63-14CD785CCCAB}"/>
                </a:ext>
              </a:extLst>
            </p:cNvPr>
            <p:cNvSpPr/>
            <p:nvPr/>
          </p:nvSpPr>
          <p:spPr>
            <a:xfrm>
              <a:off x="3032960" y="4797269"/>
              <a:ext cx="2033800" cy="369333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fontAlgn="b"/>
              <a:r>
                <a:rPr lang="en-US" sz="1200" u="none" strike="noStrike" dirty="0">
                  <a:effectLst/>
                </a:rPr>
                <a:t>Gender</a:t>
              </a:r>
              <a:endPara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7BFBA2C-0F01-4641-B272-0C02C0F26B9C}"/>
                </a:ext>
              </a:extLst>
            </p:cNvPr>
            <p:cNvSpPr/>
            <p:nvPr/>
          </p:nvSpPr>
          <p:spPr>
            <a:xfrm>
              <a:off x="7216731" y="3133741"/>
              <a:ext cx="2033800" cy="369333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fontAlgn="b"/>
              <a:r>
                <a:rPr lang="en-US" sz="1200" u="none" strike="noStrike" dirty="0">
                  <a:effectLst/>
                </a:rPr>
                <a:t>Age</a:t>
              </a:r>
              <a:endPara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2D91A48-14BC-4C1A-85D3-FC207F9ACECF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 flipV="1">
              <a:off x="6080962" y="2828672"/>
              <a:ext cx="1135769" cy="48973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C4F0989-D309-4111-8300-B530E3A2E6FB}"/>
                </a:ext>
              </a:extLst>
            </p:cNvPr>
            <p:cNvSpPr/>
            <p:nvPr/>
          </p:nvSpPr>
          <p:spPr>
            <a:xfrm>
              <a:off x="7216731" y="3935693"/>
              <a:ext cx="2033800" cy="369333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fontAlgn="b"/>
              <a:r>
                <a:rPr lang="en-US" sz="1200" u="none" strike="noStrike" dirty="0">
                  <a:effectLst/>
                </a:rPr>
                <a:t>Tenure</a:t>
              </a:r>
              <a:endPara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CC83CA8-D142-4053-8DAC-58B639B7D758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 flipV="1">
              <a:off x="6080962" y="3630624"/>
              <a:ext cx="1135769" cy="48973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E3F0578-D922-4E26-B2ED-2FF21F5CFB12}"/>
                </a:ext>
              </a:extLst>
            </p:cNvPr>
            <p:cNvSpPr/>
            <p:nvPr/>
          </p:nvSpPr>
          <p:spPr>
            <a:xfrm>
              <a:off x="7216731" y="4818813"/>
              <a:ext cx="2033800" cy="369333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fontAlgn="b"/>
              <a:r>
                <a:rPr lang="en-US" sz="1200" u="none" strike="noStrike" dirty="0">
                  <a:effectLst/>
                </a:rPr>
                <a:t>Balance</a:t>
              </a:r>
              <a:endPara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6ABE2CC-83ED-4FB6-8C06-562189D46EF0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 flipV="1">
              <a:off x="6080962" y="4513744"/>
              <a:ext cx="1135769" cy="48973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0FD9D3E-C87D-4AFF-B1E6-58EB71A4D7F0}"/>
                </a:ext>
              </a:extLst>
            </p:cNvPr>
            <p:cNvSpPr/>
            <p:nvPr/>
          </p:nvSpPr>
          <p:spPr>
            <a:xfrm>
              <a:off x="4990387" y="1670547"/>
              <a:ext cx="2033800" cy="36933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Churn/</a:t>
              </a:r>
              <a:r>
                <a:rPr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流失</a:t>
              </a:r>
              <a:endPara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B5B666D-3736-43A1-8706-E5C3DAFF8B25}"/>
              </a:ext>
            </a:extLst>
          </p:cNvPr>
          <p:cNvSpPr txBox="1"/>
          <p:nvPr/>
        </p:nvSpPr>
        <p:spPr>
          <a:xfrm>
            <a:off x="10539102" y="3610183"/>
            <a:ext cx="1933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E</a:t>
            </a:r>
            <a:r>
              <a:rPr lang="en-US" altLang="zh-CN" dirty="0">
                <a:solidFill>
                  <a:srgbClr val="FFFF00"/>
                </a:solidFill>
              </a:rPr>
              <a:t>xplain/</a:t>
            </a:r>
            <a:r>
              <a:rPr lang="zh-CN" altLang="en-US" dirty="0">
                <a:solidFill>
                  <a:srgbClr val="FFFF00"/>
                </a:solidFill>
              </a:rPr>
              <a:t>解释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C</a:t>
            </a:r>
            <a:r>
              <a:rPr lang="en-US" altLang="zh-CN" dirty="0">
                <a:solidFill>
                  <a:srgbClr val="FFFF00"/>
                </a:solidFill>
              </a:rPr>
              <a:t>ontrol/</a:t>
            </a:r>
            <a:r>
              <a:rPr lang="zh-CN" altLang="en-US" dirty="0">
                <a:solidFill>
                  <a:srgbClr val="FFFF00"/>
                </a:solidFill>
              </a:rPr>
              <a:t>控制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Predict/</a:t>
            </a:r>
            <a:r>
              <a:rPr lang="zh-CN" altLang="en-US" dirty="0">
                <a:solidFill>
                  <a:srgbClr val="FFFF00"/>
                </a:solidFill>
              </a:rPr>
              <a:t>预测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7A40C15-D5FA-4784-9677-81BD736571FB}"/>
              </a:ext>
            </a:extLst>
          </p:cNvPr>
          <p:cNvSpPr/>
          <p:nvPr/>
        </p:nvSpPr>
        <p:spPr>
          <a:xfrm>
            <a:off x="9490146" y="3890940"/>
            <a:ext cx="839952" cy="20184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89776-2B6D-41F1-8CEE-5DD7D87AF656}"/>
              </a:ext>
            </a:extLst>
          </p:cNvPr>
          <p:cNvSpPr txBox="1"/>
          <p:nvPr/>
        </p:nvSpPr>
        <p:spPr>
          <a:xfrm>
            <a:off x="474264" y="3442627"/>
            <a:ext cx="2817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Quantify</a:t>
            </a:r>
            <a:r>
              <a:rPr lang="en-US" altLang="zh-CN" dirty="0">
                <a:solidFill>
                  <a:srgbClr val="FFFF00"/>
                </a:solidFill>
              </a:rPr>
              <a:t>/</a:t>
            </a:r>
            <a:r>
              <a:rPr lang="zh-CN" altLang="en-US" dirty="0">
                <a:solidFill>
                  <a:srgbClr val="FFFF00"/>
                </a:solidFill>
              </a:rPr>
              <a:t>量化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One to Many/</a:t>
            </a:r>
            <a:r>
              <a:rPr lang="zh-CN" altLang="en-US" dirty="0">
                <a:solidFill>
                  <a:srgbClr val="FFFF00"/>
                </a:solidFill>
              </a:rPr>
              <a:t>一对多关系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Ranking/</a:t>
            </a:r>
            <a:r>
              <a:rPr lang="zh-CN" altLang="en-US" dirty="0">
                <a:solidFill>
                  <a:srgbClr val="FFFF00"/>
                </a:solidFill>
              </a:rPr>
              <a:t>排序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DD6B510-C770-484D-88DF-6F4D40D98C75}"/>
              </a:ext>
            </a:extLst>
          </p:cNvPr>
          <p:cNvSpPr/>
          <p:nvPr/>
        </p:nvSpPr>
        <p:spPr>
          <a:xfrm>
            <a:off x="3179414" y="3932188"/>
            <a:ext cx="818606" cy="16059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15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579901" y="-257137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+mj-lt"/>
              </a:rPr>
            </a:br>
            <a:r>
              <a:rPr lang="en-US" sz="3200" b="1" dirty="0">
                <a:solidFill>
                  <a:srgbClr val="FFC000"/>
                </a:solidFill>
                <a:latin typeface="+mj-lt"/>
              </a:rPr>
              <a:t>CHURN ANALYSIS</a:t>
            </a:r>
            <a:endParaRPr lang="en-US" sz="2000" b="1" dirty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24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B4A57-416C-4FC3-BFB6-D4F039F2A7BA}"/>
              </a:ext>
            </a:extLst>
          </p:cNvPr>
          <p:cNvSpPr txBox="1"/>
          <p:nvPr/>
        </p:nvSpPr>
        <p:spPr>
          <a:xfrm>
            <a:off x="4323128" y="963593"/>
            <a:ext cx="3934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C000"/>
                </a:solidFill>
              </a:rPr>
              <a:t>面试怎么讲</a:t>
            </a:r>
            <a:endParaRPr lang="en-US" altLang="zh-CN" dirty="0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C000"/>
                </a:solidFill>
              </a:rPr>
              <a:t>有相关经验</a:t>
            </a:r>
            <a:endParaRPr lang="en-US" dirty="0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C000"/>
                </a:solidFill>
              </a:rPr>
              <a:t>没有相关经验</a:t>
            </a:r>
            <a:endParaRPr lang="en-US" altLang="zh-CN" dirty="0">
              <a:solidFill>
                <a:srgbClr val="FFC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7254AD-9507-47EF-A677-4D6F77AB5A89}"/>
              </a:ext>
            </a:extLst>
          </p:cNvPr>
          <p:cNvSpPr txBox="1"/>
          <p:nvPr/>
        </p:nvSpPr>
        <p:spPr>
          <a:xfrm>
            <a:off x="3473044" y="2136986"/>
            <a:ext cx="60820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C000"/>
                </a:solidFill>
              </a:rPr>
              <a:t>常见面试问题：</a:t>
            </a:r>
            <a:endParaRPr lang="en-US" altLang="zh-CN" dirty="0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Tell me one time you use data to generate insights?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Identify Business problems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Identify data analysis solutions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 visualize the insights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Present analysis and recommendations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Here is  one example I have done(have experience)/here is my approach(no experience)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How do you find business opportunities/problems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 identify business goals, e.g. marketing needs to retain customers…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How do you do data analysis?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Data life cycle at high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How do you prepare data?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C000"/>
                </a:solidFill>
              </a:rPr>
              <a:t>Data Architecture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06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Widescreen</PresentationFormat>
  <Paragraphs>319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Business Data analysis /商业数据分析  </vt:lpstr>
      <vt:lpstr>Business Data analysis/商业数据分析  </vt:lpstr>
      <vt:lpstr>Business Data analysis /商业数据分析  </vt:lpstr>
      <vt:lpstr>Business Data analysis /商业数据分析  </vt:lpstr>
      <vt:lpstr>Business Data analysis /商业数据分析  </vt:lpstr>
      <vt:lpstr>Business Data analysis /商业数据分析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Data analysis /商业数据分析  </dc:title>
  <dc:creator>vic abc</dc:creator>
  <cp:lastModifiedBy>vic abc</cp:lastModifiedBy>
  <cp:revision>1</cp:revision>
  <dcterms:created xsi:type="dcterms:W3CDTF">2022-08-22T15:17:35Z</dcterms:created>
  <dcterms:modified xsi:type="dcterms:W3CDTF">2022-08-22T15:18:24Z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2022-08-22T15:17:35Z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808c7684-432a-4f1d-8a27-3ab41831f393</vt:lpwstr>
  </property>
  <property fmtid="{D5CDD505-2E9C-101B-9397-08002B2CF9AE}" pid="7" name="MSIP_Label_defa4170-0d19-0005-0004-bc88714345d2_ActionId">
    <vt:lpwstr>18fc8ba9-915e-4a06-b1a6-6ce1e94beb72</vt:lpwstr>
  </property>
  <property fmtid="{D5CDD505-2E9C-101B-9397-08002B2CF9AE}" pid="8" name="MSIP_Label_defa4170-0d19-0005-0004-bc88714345d2_ContentBits">
    <vt:lpwstr>0</vt:lpwstr>
  </property>
</Properties>
</file>