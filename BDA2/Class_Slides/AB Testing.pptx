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59" r:id="rId5"/>
    <p:sldId id="260" r:id="rId6"/>
    <p:sldId id="261" r:id="rId7"/>
    <p:sldId id="262" r:id="rId8"/>
    <p:sldId id="264" r:id="rId9"/>
    <p:sldId id="263" r:id="rId10"/>
    <p:sldId id="268" r:id="rId11"/>
    <p:sldId id="265" r:id="rId12"/>
    <p:sldId id="269" r:id="rId13"/>
    <p:sldId id="266"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4" d="100"/>
          <a:sy n="114" d="100"/>
        </p:scale>
        <p:origin x="414"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09800" y="4464028"/>
            <a:ext cx="9144000" cy="1641490"/>
          </a:xfrm>
        </p:spPr>
        <p:txBody>
          <a:bodyPr wrap="none" anchor="t">
            <a:normAutofit/>
          </a:bodyPr>
          <a:lstStyle>
            <a:lvl1pPr algn="r">
              <a:defRPr sz="9600" b="0" spc="-300">
                <a:gradFill flip="none" rotWithShape="1">
                  <a:gsLst>
                    <a:gs pos="32000">
                      <a:schemeClr val="tx1">
                        <a:lumMod val="89000"/>
                      </a:schemeClr>
                    </a:gs>
                    <a:gs pos="0">
                      <a:schemeClr val="bg1">
                        <a:lumMod val="41000"/>
                        <a:lumOff val="59000"/>
                      </a:schemeClr>
                    </a:gs>
                    <a:gs pos="100000">
                      <a:schemeClr val="tx2">
                        <a:lumMod val="0"/>
                        <a:lumOff val="100000"/>
                      </a:schemeClr>
                    </a:gs>
                  </a:gsLst>
                  <a:lin ang="8100000" scaled="1"/>
                  <a:tileRect/>
                </a:gradFill>
                <a:effectLst>
                  <a:outerShdw blurRad="469900" dist="342900" dir="5400000" sy="-20000" rotWithShape="0">
                    <a:prstClr val="black">
                      <a:alpha val="66000"/>
                    </a:prstClr>
                  </a:outerShdw>
                </a:effectLst>
                <a:latin typeface="+mj-lt"/>
              </a:defRPr>
            </a:lvl1pPr>
          </a:lstStyle>
          <a:p>
            <a:r>
              <a:rPr lang="en-US"/>
              <a:t>Click to edit Master title style</a:t>
            </a:r>
            <a:endParaRPr lang="en-US" dirty="0"/>
          </a:p>
        </p:txBody>
      </p:sp>
      <p:sp>
        <p:nvSpPr>
          <p:cNvPr id="3" name="Subtitle 2"/>
          <p:cNvSpPr>
            <a:spLocks noGrp="1"/>
          </p:cNvSpPr>
          <p:nvPr>
            <p:ph type="subTitle" idx="1"/>
          </p:nvPr>
        </p:nvSpPr>
        <p:spPr>
          <a:xfrm>
            <a:off x="2209799" y="3694375"/>
            <a:ext cx="9144000" cy="754025"/>
          </a:xfrm>
        </p:spPr>
        <p:txBody>
          <a:bodyPr anchor="b">
            <a:normAutofit/>
          </a:bodyPr>
          <a:lstStyle>
            <a:lvl1pPr marL="0" indent="0" algn="r">
              <a:buNone/>
              <a:defRPr sz="3200" b="0">
                <a:gradFill flip="none" rotWithShape="1">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tileRect/>
                </a:gra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54CA3C39-AC7F-4EAF-9C80-48963909EA17}" type="datetimeFigureOut">
              <a:rPr lang="en-US" smtClean="0"/>
              <a:t>6/12/2022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21E177C-2892-4495-AE08-D09614BDE80A}" type="slidenum">
              <a:rPr lang="en-US" smtClean="0"/>
              <a:t>‹#›</a:t>
            </a:fld>
            <a:endParaRPr lang="en-US"/>
          </a:p>
        </p:txBody>
      </p:sp>
    </p:spTree>
    <p:extLst>
      <p:ext uri="{BB962C8B-B14F-4D97-AF65-F5344CB8AC3E}">
        <p14:creationId xmlns:p14="http://schemas.microsoft.com/office/powerpoint/2010/main" val="28629810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8"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4CA3C39-AC7F-4EAF-9C80-48963909EA17}" type="datetimeFigureOut">
              <a:rPr lang="en-US" smtClean="0"/>
              <a:t>6/12/2022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21E177C-2892-4495-AE08-D09614BDE80A}" type="slidenum">
              <a:rPr lang="en-US" smtClean="0"/>
              <a:t>‹#›</a:t>
            </a:fld>
            <a:endParaRPr lang="en-US"/>
          </a:p>
        </p:txBody>
      </p:sp>
    </p:spTree>
    <p:extLst>
      <p:ext uri="{BB962C8B-B14F-4D97-AF65-F5344CB8AC3E}">
        <p14:creationId xmlns:p14="http://schemas.microsoft.com/office/powerpoint/2010/main" val="11383614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Title 1"/>
          <p:cNvSpPr>
            <a:spLocks noGrp="1"/>
          </p:cNvSpPr>
          <p:nvPr>
            <p:ph type="ctrTitle"/>
          </p:nvPr>
        </p:nvSpPr>
        <p:spPr>
          <a:xfrm>
            <a:off x="854532" y="4464028"/>
            <a:ext cx="9144000" cy="1641490"/>
          </a:xfrm>
        </p:spPr>
        <p:txBody>
          <a:bodyPr wrap="none" anchor="t">
            <a:normAutofit/>
          </a:bodyPr>
          <a:lstStyle>
            <a:lvl1pPr algn="l">
              <a:defRPr sz="9600" b="0" spc="-300">
                <a:gradFill flip="none" rotWithShape="1">
                  <a:gsLst>
                    <a:gs pos="32000">
                      <a:schemeClr val="tx1">
                        <a:lumMod val="89000"/>
                      </a:schemeClr>
                    </a:gs>
                    <a:gs pos="0">
                      <a:schemeClr val="bg1">
                        <a:lumMod val="47000"/>
                        <a:lumOff val="53000"/>
                      </a:schemeClr>
                    </a:gs>
                    <a:gs pos="100000">
                      <a:schemeClr val="tx2">
                        <a:lumMod val="0"/>
                        <a:lumOff val="100000"/>
                      </a:schemeClr>
                    </a:gs>
                  </a:gsLst>
                  <a:lin ang="8100000" scaled="1"/>
                  <a:tileRect/>
                </a:gradFill>
                <a:effectLst>
                  <a:outerShdw blurRad="469900" dist="342900" dir="5400000" sy="-20000" rotWithShape="0">
                    <a:prstClr val="black">
                      <a:alpha val="66000"/>
                    </a:prstClr>
                  </a:outerShdw>
                </a:effectLst>
                <a:latin typeface="+mj-lt"/>
              </a:defRPr>
            </a:lvl1pPr>
          </a:lstStyle>
          <a:p>
            <a:r>
              <a:rPr lang="en-US"/>
              <a:t>Click to edit Master title style</a:t>
            </a:r>
            <a:endParaRPr lang="en-US" dirty="0"/>
          </a:p>
        </p:txBody>
      </p:sp>
      <p:sp>
        <p:nvSpPr>
          <p:cNvPr id="8" name="Subtitle 2"/>
          <p:cNvSpPr>
            <a:spLocks noGrp="1"/>
          </p:cNvSpPr>
          <p:nvPr>
            <p:ph type="subTitle" idx="1"/>
          </p:nvPr>
        </p:nvSpPr>
        <p:spPr>
          <a:xfrm>
            <a:off x="854532" y="3693674"/>
            <a:ext cx="9144000" cy="754025"/>
          </a:xfrm>
        </p:spPr>
        <p:txBody>
          <a:bodyPr anchor="b">
            <a:normAutofit/>
          </a:bodyPr>
          <a:lstStyle>
            <a:lvl1pPr marL="0" indent="0" algn="l">
              <a:buNone/>
              <a:defRPr sz="3200" b="0">
                <a:gradFill flip="none" rotWithShape="1">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tileRect/>
                </a:gra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4CA3C39-AC7F-4EAF-9C80-48963909EA17}" type="datetimeFigureOut">
              <a:rPr lang="en-US" smtClean="0"/>
              <a:t>6/12/2022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21E177C-2892-4495-AE08-D09614BDE80A}" type="slidenum">
              <a:rPr lang="en-US" smtClean="0"/>
              <a:t>‹#›</a:t>
            </a:fld>
            <a:endParaRPr lang="en-US"/>
          </a:p>
        </p:txBody>
      </p:sp>
    </p:spTree>
    <p:extLst>
      <p:ext uri="{BB962C8B-B14F-4D97-AF65-F5344CB8AC3E}">
        <p14:creationId xmlns:p14="http://schemas.microsoft.com/office/powerpoint/2010/main" val="5109007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20000" y="1825625"/>
            <a:ext cx="5025216"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19840" y="1825625"/>
            <a:ext cx="503396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4CA3C39-AC7F-4EAF-9C80-48963909EA17}" type="datetimeFigureOut">
              <a:rPr lang="en-US" smtClean="0"/>
              <a:t>6/12/2022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21E177C-2892-4495-AE08-D09614BDE80A}" type="slidenum">
              <a:rPr lang="en-US" smtClean="0"/>
              <a:t>‹#›</a:t>
            </a:fld>
            <a:endParaRPr lang="en-US"/>
          </a:p>
        </p:txBody>
      </p:sp>
    </p:spTree>
    <p:extLst>
      <p:ext uri="{BB962C8B-B14F-4D97-AF65-F5344CB8AC3E}">
        <p14:creationId xmlns:p14="http://schemas.microsoft.com/office/powerpoint/2010/main" val="18760499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20000" y="1681163"/>
            <a:ext cx="5025216" cy="823912"/>
          </a:xfrm>
        </p:spPr>
        <p:txBody>
          <a:bodyPr anchor="b"/>
          <a:lstStyle>
            <a:lvl1pPr marL="0" indent="0">
              <a:buNone/>
              <a:defRPr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20000" y="2505075"/>
            <a:ext cx="5025216"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19840" y="1681163"/>
            <a:ext cx="5035548" cy="823912"/>
          </a:xfrm>
        </p:spPr>
        <p:txBody>
          <a:bodyPr vert="horz" lIns="91440" tIns="45720" rIns="91440" bIns="45720" rtlCol="0" anchor="b">
            <a:normAutofit/>
          </a:bodyPr>
          <a:lstStyle>
            <a:lvl1pPr>
              <a:buNone/>
              <a:defRPr lang="en-US"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a:t>Click to edit Master text styles</a:t>
            </a:r>
          </a:p>
        </p:txBody>
      </p:sp>
      <p:sp>
        <p:nvSpPr>
          <p:cNvPr id="6" name="Content Placeholder 5"/>
          <p:cNvSpPr>
            <a:spLocks noGrp="1"/>
          </p:cNvSpPr>
          <p:nvPr>
            <p:ph sz="quarter" idx="4"/>
          </p:nvPr>
        </p:nvSpPr>
        <p:spPr>
          <a:xfrm>
            <a:off x="6319840" y="2505075"/>
            <a:ext cx="503554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4CA3C39-AC7F-4EAF-9C80-48963909EA17}" type="datetimeFigureOut">
              <a:rPr lang="en-US" smtClean="0"/>
              <a:t>6/12/2022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21E177C-2892-4495-AE08-D09614BDE80A}" type="slidenum">
              <a:rPr lang="en-US" smtClean="0"/>
              <a:t>‹#›</a:t>
            </a:fld>
            <a:endParaRPr lang="en-US"/>
          </a:p>
        </p:txBody>
      </p:sp>
    </p:spTree>
    <p:extLst>
      <p:ext uri="{BB962C8B-B14F-4D97-AF65-F5344CB8AC3E}">
        <p14:creationId xmlns:p14="http://schemas.microsoft.com/office/powerpoint/2010/main" val="40768257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4CA3C39-AC7F-4EAF-9C80-48963909EA17}" type="datetimeFigureOut">
              <a:rPr lang="en-US" smtClean="0"/>
              <a:t>6/12/2022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21E177C-2892-4495-AE08-D09614BDE80A}" type="slidenum">
              <a:rPr lang="en-US" smtClean="0"/>
              <a:t>‹#›</a:t>
            </a:fld>
            <a:endParaRPr lang="en-US"/>
          </a:p>
        </p:txBody>
      </p:sp>
    </p:spTree>
    <p:extLst>
      <p:ext uri="{BB962C8B-B14F-4D97-AF65-F5344CB8AC3E}">
        <p14:creationId xmlns:p14="http://schemas.microsoft.com/office/powerpoint/2010/main" val="13874240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4CA3C39-AC7F-4EAF-9C80-48963909EA17}" type="datetimeFigureOut">
              <a:rPr lang="en-US" smtClean="0"/>
              <a:t>6/12/2022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21E177C-2892-4495-AE08-D09614BDE80A}" type="slidenum">
              <a:rPr lang="en-US" smtClean="0"/>
              <a:t>‹#›</a:t>
            </a:fld>
            <a:endParaRPr lang="en-US"/>
          </a:p>
        </p:txBody>
      </p:sp>
    </p:spTree>
    <p:extLst>
      <p:ext uri="{BB962C8B-B14F-4D97-AF65-F5344CB8AC3E}">
        <p14:creationId xmlns:p14="http://schemas.microsoft.com/office/powerpoint/2010/main" val="30736681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20000" y="2057400"/>
            <a:ext cx="3652025" cy="3811588"/>
          </a:xfrm>
        </p:spPr>
        <p:txBody>
          <a:bodyPr/>
          <a:lstStyle>
            <a:lvl1pPr marL="0" indent="0">
              <a:buNone/>
              <a:defRPr sz="16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4CA3C39-AC7F-4EAF-9C80-48963909EA17}" type="datetimeFigureOut">
              <a:rPr lang="en-US" smtClean="0"/>
              <a:t>6/12/2022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21E177C-2892-4495-AE08-D09614BDE80A}" type="slidenum">
              <a:rPr lang="en-US" smtClean="0"/>
              <a:t>‹#›</a:t>
            </a:fld>
            <a:endParaRPr lang="en-US"/>
          </a:p>
        </p:txBody>
      </p:sp>
    </p:spTree>
    <p:extLst>
      <p:ext uri="{BB962C8B-B14F-4D97-AF65-F5344CB8AC3E}">
        <p14:creationId xmlns:p14="http://schemas.microsoft.com/office/powerpoint/2010/main" val="21773783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20000" y="2057400"/>
            <a:ext cx="3652025" cy="3811588"/>
          </a:xfrm>
        </p:spPr>
        <p:txBody>
          <a:bodyPr/>
          <a:lstStyle>
            <a:lvl1pPr marL="0" indent="0">
              <a:buNone/>
              <a:defRPr sz="16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4CA3C39-AC7F-4EAF-9C80-48963909EA17}" type="datetimeFigureOut">
              <a:rPr lang="en-US" smtClean="0"/>
              <a:t>6/12/2022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21E177C-2892-4495-AE08-D09614BDE80A}" type="slidenum">
              <a:rPr lang="en-US" smtClean="0"/>
              <a:t>‹#›</a:t>
            </a:fld>
            <a:endParaRPr lang="en-US"/>
          </a:p>
        </p:txBody>
      </p:sp>
    </p:spTree>
    <p:extLst>
      <p:ext uri="{BB962C8B-B14F-4D97-AF65-F5344CB8AC3E}">
        <p14:creationId xmlns:p14="http://schemas.microsoft.com/office/powerpoint/2010/main" val="32746066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367160"/>
            <a:ext cx="10515600" cy="819355"/>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39788" y="987425"/>
            <a:ext cx="10515600" cy="337973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5186516"/>
            <a:ext cx="10514012" cy="682472"/>
          </a:xfrm>
        </p:spPr>
        <p:txBody>
          <a:bodyPr/>
          <a:lstStyle>
            <a:lvl1pPr marL="0" indent="0">
              <a:buNone/>
              <a:defRPr sz="16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4CA3C39-AC7F-4EAF-9C80-48963909EA17}" type="datetimeFigureOut">
              <a:rPr lang="en-US" smtClean="0"/>
              <a:t>6/12/2022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21E177C-2892-4495-AE08-D09614BDE80A}" type="slidenum">
              <a:rPr lang="en-US" smtClean="0"/>
              <a:t>‹#›</a:t>
            </a:fld>
            <a:endParaRPr lang="en-US"/>
          </a:p>
        </p:txBody>
      </p:sp>
    </p:spTree>
    <p:extLst>
      <p:ext uri="{BB962C8B-B14F-4D97-AF65-F5344CB8AC3E}">
        <p14:creationId xmlns:p14="http://schemas.microsoft.com/office/powerpoint/2010/main" val="2977011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3534344"/>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839788" y="4489399"/>
            <a:ext cx="10514012" cy="1501826"/>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4CA3C39-AC7F-4EAF-9C80-48963909EA17}" type="datetimeFigureOut">
              <a:rPr lang="en-US" smtClean="0"/>
              <a:t>6/12/2022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21E177C-2892-4495-AE08-D09614BDE80A}" type="slidenum">
              <a:rPr lang="en-US" smtClean="0"/>
              <a:t>‹#›</a:t>
            </a:fld>
            <a:endParaRPr lang="en-US"/>
          </a:p>
        </p:txBody>
      </p:sp>
    </p:spTree>
    <p:extLst>
      <p:ext uri="{BB962C8B-B14F-4D97-AF65-F5344CB8AC3E}">
        <p14:creationId xmlns:p14="http://schemas.microsoft.com/office/powerpoint/2010/main" val="37977724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365125"/>
            <a:ext cx="9302752" cy="2992904"/>
          </a:xfrm>
        </p:spPr>
        <p:txBody>
          <a:bodyPr anchor="ctr"/>
          <a:lstStyle>
            <a:lvl1pPr>
              <a:defRPr sz="44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838200" y="4501729"/>
            <a:ext cx="10512424" cy="1489496"/>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4CA3C39-AC7F-4EAF-9C80-48963909EA17}" type="datetimeFigureOut">
              <a:rPr lang="en-US" smtClean="0"/>
              <a:t>6/12/2022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21E177C-2892-4495-AE08-D09614BDE80A}" type="slidenum">
              <a:rPr lang="en-US" smtClean="0"/>
              <a:t>‹#›</a:t>
            </a:fld>
            <a:endParaRPr lang="en-US"/>
          </a:p>
        </p:txBody>
      </p:sp>
      <p:sp>
        <p:nvSpPr>
          <p:cNvPr id="9" name="TextBox 8"/>
          <p:cNvSpPr txBox="1"/>
          <p:nvPr/>
        </p:nvSpPr>
        <p:spPr>
          <a:xfrm>
            <a:off x="1111044"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59899147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39788" y="2326967"/>
            <a:ext cx="10515600" cy="2511835"/>
          </a:xfrm>
        </p:spPr>
        <p:txBody>
          <a:bodyPr anchor="b">
            <a:normAutofit/>
          </a:bodyPr>
          <a:lstStyle>
            <a:lvl1pPr>
              <a:defRPr sz="5400"/>
            </a:lvl1pPr>
          </a:lstStyle>
          <a:p>
            <a:r>
              <a:rPr lang="en-US"/>
              <a:t>Click to edit Master title style</a:t>
            </a:r>
            <a:endParaRPr lang="en-US" dirty="0"/>
          </a:p>
        </p:txBody>
      </p:sp>
      <p:sp>
        <p:nvSpPr>
          <p:cNvPr id="4" name="Text Placeholder 3"/>
          <p:cNvSpPr>
            <a:spLocks noGrp="1"/>
          </p:cNvSpPr>
          <p:nvPr>
            <p:ph type="body" sz="half" idx="2"/>
          </p:nvPr>
        </p:nvSpPr>
        <p:spPr>
          <a:xfrm>
            <a:off x="839788" y="4850581"/>
            <a:ext cx="10514012" cy="1140644"/>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4CA3C39-AC7F-4EAF-9C80-48963909EA17}" type="datetimeFigureOut">
              <a:rPr lang="en-US" smtClean="0"/>
              <a:t>6/12/2022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21E177C-2892-4495-AE08-D09614BDE80A}" type="slidenum">
              <a:rPr lang="en-US" smtClean="0"/>
              <a:t>‹#›</a:t>
            </a:fld>
            <a:endParaRPr lang="en-US"/>
          </a:p>
        </p:txBody>
      </p:sp>
    </p:spTree>
    <p:extLst>
      <p:ext uri="{BB962C8B-B14F-4D97-AF65-F5344CB8AC3E}">
        <p14:creationId xmlns:p14="http://schemas.microsoft.com/office/powerpoint/2010/main" val="34243185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838200" y="365125"/>
            <a:ext cx="10515600"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1337282" y="1885950"/>
            <a:ext cx="2946866" cy="576262"/>
          </a:xfrm>
        </p:spPr>
        <p:txBody>
          <a:bodyPr anchor="b">
            <a:noAutofit/>
          </a:bodyPr>
          <a:lstStyle>
            <a:lvl1pPr marL="0" indent="0">
              <a:buNone/>
              <a:defRPr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356798" y="257175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87994" y="1885950"/>
            <a:ext cx="2936241" cy="576262"/>
          </a:xfrm>
        </p:spPr>
        <p:txBody>
          <a:bodyPr vert="horz" lIns="91440" tIns="45720" rIns="91440" bIns="45720" rtlCol="0" anchor="b">
            <a:noAutofit/>
          </a:bodyPr>
          <a:lstStyle>
            <a:lvl1pPr>
              <a:buNone/>
              <a:defRPr lang="en-US"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a:t>Click to edit Master text styles</a:t>
            </a:r>
          </a:p>
        </p:txBody>
      </p:sp>
      <p:sp>
        <p:nvSpPr>
          <p:cNvPr id="10" name="Text Placeholder 3"/>
          <p:cNvSpPr>
            <a:spLocks noGrp="1"/>
          </p:cNvSpPr>
          <p:nvPr>
            <p:ph type="body" sz="half" idx="16"/>
          </p:nvPr>
        </p:nvSpPr>
        <p:spPr>
          <a:xfrm>
            <a:off x="4577441" y="257175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29035" y="1885950"/>
            <a:ext cx="2932113" cy="576262"/>
          </a:xfrm>
        </p:spPr>
        <p:txBody>
          <a:bodyPr vert="horz" lIns="91440" tIns="45720" rIns="91440" bIns="45720" rtlCol="0" anchor="b">
            <a:noAutofit/>
          </a:bodyPr>
          <a:lstStyle>
            <a:lvl1pPr>
              <a:buNone/>
              <a:defRPr lang="en-US" sz="2400" b="0" dirty="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a:t>Click to edit Master text styles</a:t>
            </a:r>
          </a:p>
        </p:txBody>
      </p:sp>
      <p:sp>
        <p:nvSpPr>
          <p:cNvPr id="12" name="Text Placeholder 3"/>
          <p:cNvSpPr>
            <a:spLocks noGrp="1"/>
          </p:cNvSpPr>
          <p:nvPr>
            <p:ph type="body" sz="half" idx="17"/>
          </p:nvPr>
        </p:nvSpPr>
        <p:spPr>
          <a:xfrm>
            <a:off x="7829035" y="257175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4CA3C39-AC7F-4EAF-9C80-48963909EA17}" type="datetimeFigureOut">
              <a:rPr lang="en-US" smtClean="0"/>
              <a:t>6/12/2022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21E177C-2892-4495-AE08-D09614BDE80A}" type="slidenum">
              <a:rPr lang="en-US" smtClean="0"/>
              <a:t>‹#›</a:t>
            </a:fld>
            <a:endParaRPr lang="en-US"/>
          </a:p>
        </p:txBody>
      </p:sp>
    </p:spTree>
    <p:extLst>
      <p:ext uri="{BB962C8B-B14F-4D97-AF65-F5344CB8AC3E}">
        <p14:creationId xmlns:p14="http://schemas.microsoft.com/office/powerpoint/2010/main" val="746455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838200" y="365125"/>
            <a:ext cx="10515600" cy="132556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332085" y="4297503"/>
            <a:ext cx="2940050" cy="576262"/>
          </a:xfrm>
        </p:spPr>
        <p:txBody>
          <a:bodyPr anchor="b">
            <a:noAutofit/>
          </a:bodyPr>
          <a:lstStyle>
            <a:lvl1pPr marL="0" indent="0">
              <a:buNone/>
              <a:defRPr sz="24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332085" y="2256354"/>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1332085" y="4873765"/>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568997" y="4297503"/>
            <a:ext cx="2930525" cy="576262"/>
          </a:xfrm>
        </p:spPr>
        <p:txBody>
          <a:bodyPr anchor="b">
            <a:noAutofit/>
          </a:bodyPr>
          <a:lstStyle>
            <a:lvl1pPr marL="0" indent="0">
              <a:buNone/>
              <a:defRPr sz="24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68996" y="2256354"/>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567644" y="4873764"/>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04322" y="4297503"/>
            <a:ext cx="2932113" cy="576262"/>
          </a:xfrm>
        </p:spPr>
        <p:txBody>
          <a:bodyPr anchor="b">
            <a:noAutofit/>
          </a:bodyPr>
          <a:lstStyle>
            <a:lvl1pPr marL="0" indent="0">
              <a:buNone/>
              <a:defRPr sz="24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04321" y="2256354"/>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804197" y="4873762"/>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4CA3C39-AC7F-4EAF-9C80-48963909EA17}" type="datetimeFigureOut">
              <a:rPr lang="en-US" smtClean="0"/>
              <a:t>6/12/2022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21E177C-2892-4495-AE08-D09614BDE80A}" type="slidenum">
              <a:rPr lang="en-US" smtClean="0"/>
              <a:t>‹#›</a:t>
            </a:fld>
            <a:endParaRPr lang="en-US"/>
          </a:p>
        </p:txBody>
      </p:sp>
    </p:spTree>
    <p:extLst>
      <p:ext uri="{BB962C8B-B14F-4D97-AF65-F5344CB8AC3E}">
        <p14:creationId xmlns:p14="http://schemas.microsoft.com/office/powerpoint/2010/main" val="223653678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4CA3C39-AC7F-4EAF-9C80-48963909EA17}" type="datetimeFigureOut">
              <a:rPr lang="en-US" smtClean="0"/>
              <a:t>6/12/2022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21E177C-2892-4495-AE08-D09614BDE80A}" type="slidenum">
              <a:rPr lang="en-US" smtClean="0"/>
              <a:t>‹#›</a:t>
            </a:fld>
            <a:endParaRPr lang="en-US"/>
          </a:p>
        </p:txBody>
      </p:sp>
    </p:spTree>
    <p:extLst>
      <p:ext uri="{BB962C8B-B14F-4D97-AF65-F5344CB8AC3E}">
        <p14:creationId xmlns:p14="http://schemas.microsoft.com/office/powerpoint/2010/main" val="138397834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4CA3C39-AC7F-4EAF-9C80-48963909EA17}" type="datetimeFigureOut">
              <a:rPr lang="en-US" smtClean="0"/>
              <a:t>6/12/2022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21E177C-2892-4495-AE08-D09614BDE80A}" type="slidenum">
              <a:rPr lang="en-US" smtClean="0"/>
              <a:t>‹#›</a:t>
            </a:fld>
            <a:endParaRPr lang="en-US"/>
          </a:p>
        </p:txBody>
      </p:sp>
    </p:spTree>
    <p:extLst>
      <p:ext uri="{BB962C8B-B14F-4D97-AF65-F5344CB8AC3E}">
        <p14:creationId xmlns:p14="http://schemas.microsoft.com/office/powerpoint/2010/main" val="1329269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9">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20000" y="1825625"/>
            <a:ext cx="102338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fld id="{54CA3C39-AC7F-4EAF-9C80-48963909EA17}" type="datetimeFigureOut">
              <a:rPr lang="en-US" smtClean="0"/>
              <a:t>6/12/2022</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fld id="{721E177C-2892-4495-AE08-D09614BDE80A}" type="slidenum">
              <a:rPr lang="en-US" smtClean="0"/>
              <a:t>‹#›</a:t>
            </a:fld>
            <a:endParaRPr lang="en-US"/>
          </a:p>
        </p:txBody>
      </p:sp>
    </p:spTree>
    <p:extLst>
      <p:ext uri="{BB962C8B-B14F-4D97-AF65-F5344CB8AC3E}">
        <p14:creationId xmlns:p14="http://schemas.microsoft.com/office/powerpoint/2010/main" val="3337258309"/>
      </p:ext>
    </p:extLst>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Lst>
  <p:txStyles>
    <p:titleStyle>
      <a:lvl1pPr algn="l" defTabSz="914400" rtl="0" eaLnBrk="1" latinLnBrk="0" hangingPunct="1">
        <a:lnSpc>
          <a:spcPct val="90000"/>
        </a:lnSpc>
        <a:spcBef>
          <a:spcPct val="0"/>
        </a:spcBef>
        <a:buNone/>
        <a:defRPr sz="5400" b="0" kern="1200">
          <a:gradFill flip="none" rotWithShape="1">
            <a:gsLst>
              <a:gs pos="28000">
                <a:schemeClr val="tx1">
                  <a:lumMod val="93000"/>
                </a:schemeClr>
              </a:gs>
              <a:gs pos="0">
                <a:schemeClr val="bg1">
                  <a:lumMod val="25000"/>
                  <a:lumOff val="75000"/>
                </a:schemeClr>
              </a:gs>
              <a:gs pos="100000">
                <a:schemeClr val="tx2">
                  <a:lumMod val="0"/>
                  <a:lumOff val="100000"/>
                </a:schemeClr>
              </a:gs>
            </a:gsLst>
            <a:lin ang="4800000" scaled="0"/>
            <a:tileRect/>
          </a:gra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849AAB26-4E11-BA00-8BD3-6A0F5D47351C}"/>
              </a:ext>
            </a:extLst>
          </p:cNvPr>
          <p:cNvSpPr txBox="1"/>
          <p:nvPr/>
        </p:nvSpPr>
        <p:spPr>
          <a:xfrm>
            <a:off x="2902857" y="1041791"/>
            <a:ext cx="6096000" cy="769441"/>
          </a:xfrm>
          <a:prstGeom prst="rect">
            <a:avLst/>
          </a:prstGeom>
          <a:noFill/>
        </p:spPr>
        <p:txBody>
          <a:bodyPr wrap="square">
            <a:spAutoFit/>
          </a:bodyPr>
          <a:lstStyle/>
          <a:p>
            <a:pPr algn="ctr"/>
            <a:r>
              <a:rPr lang="en-US" sz="4400" b="1" i="0" dirty="0">
                <a:solidFill>
                  <a:srgbClr val="FFC000"/>
                </a:solidFill>
                <a:effectLst/>
                <a:latin typeface="Helvetica Neue"/>
              </a:rPr>
              <a:t>A/B testing</a:t>
            </a:r>
          </a:p>
        </p:txBody>
      </p:sp>
      <p:sp>
        <p:nvSpPr>
          <p:cNvPr id="8" name="TextBox 7">
            <a:extLst>
              <a:ext uri="{FF2B5EF4-FFF2-40B4-BE49-F238E27FC236}">
                <a16:creationId xmlns:a16="http://schemas.microsoft.com/office/drawing/2014/main" id="{128692B7-83F9-09A8-75AD-4E2165DF6437}"/>
              </a:ext>
            </a:extLst>
          </p:cNvPr>
          <p:cNvSpPr txBox="1"/>
          <p:nvPr/>
        </p:nvSpPr>
        <p:spPr>
          <a:xfrm>
            <a:off x="2148114" y="2754868"/>
            <a:ext cx="8215086" cy="1077218"/>
          </a:xfrm>
          <a:prstGeom prst="rect">
            <a:avLst/>
          </a:prstGeom>
          <a:noFill/>
        </p:spPr>
        <p:txBody>
          <a:bodyPr wrap="square">
            <a:spAutoFit/>
          </a:bodyPr>
          <a:lstStyle/>
          <a:p>
            <a:r>
              <a:rPr lang="en-US" sz="3200" b="1" i="0" dirty="0">
                <a:solidFill>
                  <a:schemeClr val="accent5"/>
                </a:solidFill>
                <a:effectLst/>
                <a:latin typeface="Tiempos Text"/>
              </a:rPr>
              <a:t>A way to compare two versions of something to figure out which performs better</a:t>
            </a:r>
            <a:endParaRPr lang="en-US" sz="3200" b="1" dirty="0">
              <a:solidFill>
                <a:schemeClr val="accent5"/>
              </a:solidFill>
            </a:endParaRPr>
          </a:p>
        </p:txBody>
      </p:sp>
    </p:spTree>
    <p:extLst>
      <p:ext uri="{BB962C8B-B14F-4D97-AF65-F5344CB8AC3E}">
        <p14:creationId xmlns:p14="http://schemas.microsoft.com/office/powerpoint/2010/main" val="6119288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849AAB26-4E11-BA00-8BD3-6A0F5D47351C}"/>
              </a:ext>
            </a:extLst>
          </p:cNvPr>
          <p:cNvSpPr txBox="1"/>
          <p:nvPr/>
        </p:nvSpPr>
        <p:spPr>
          <a:xfrm>
            <a:off x="2069419" y="358533"/>
            <a:ext cx="8841730" cy="1200329"/>
          </a:xfrm>
          <a:prstGeom prst="rect">
            <a:avLst/>
          </a:prstGeom>
          <a:noFill/>
        </p:spPr>
        <p:txBody>
          <a:bodyPr wrap="square">
            <a:spAutoFit/>
          </a:bodyPr>
          <a:lstStyle/>
          <a:p>
            <a:pPr algn="ctr"/>
            <a:r>
              <a:rPr lang="en-US" sz="3600" b="1" i="0" dirty="0">
                <a:solidFill>
                  <a:srgbClr val="FFC000"/>
                </a:solidFill>
                <a:effectLst/>
                <a:latin typeface="Helvetica Neue"/>
              </a:rPr>
              <a:t>Application of A/B testing to Digital Marketing</a:t>
            </a:r>
          </a:p>
        </p:txBody>
      </p:sp>
      <p:sp>
        <p:nvSpPr>
          <p:cNvPr id="3" name="Rectangle 2">
            <a:extLst>
              <a:ext uri="{FF2B5EF4-FFF2-40B4-BE49-F238E27FC236}">
                <a16:creationId xmlns:a16="http://schemas.microsoft.com/office/drawing/2014/main" id="{A07194D5-69F1-208D-6ADF-007BF1CCD5F4}"/>
              </a:ext>
            </a:extLst>
          </p:cNvPr>
          <p:cNvSpPr/>
          <p:nvPr/>
        </p:nvSpPr>
        <p:spPr>
          <a:xfrm>
            <a:off x="3540155" y="2143637"/>
            <a:ext cx="1577130" cy="7694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Old web page</a:t>
            </a:r>
          </a:p>
        </p:txBody>
      </p:sp>
      <p:sp>
        <p:nvSpPr>
          <p:cNvPr id="7" name="Rectangle 6">
            <a:extLst>
              <a:ext uri="{FF2B5EF4-FFF2-40B4-BE49-F238E27FC236}">
                <a16:creationId xmlns:a16="http://schemas.microsoft.com/office/drawing/2014/main" id="{544A2201-E53C-31E7-613B-DFE77B68D4EC}"/>
              </a:ext>
            </a:extLst>
          </p:cNvPr>
          <p:cNvSpPr/>
          <p:nvPr/>
        </p:nvSpPr>
        <p:spPr>
          <a:xfrm>
            <a:off x="6978945" y="2131053"/>
            <a:ext cx="1768678" cy="7694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New web page</a:t>
            </a:r>
          </a:p>
        </p:txBody>
      </p:sp>
      <p:cxnSp>
        <p:nvCxnSpPr>
          <p:cNvPr id="5" name="Straight Arrow Connector 4">
            <a:extLst>
              <a:ext uri="{FF2B5EF4-FFF2-40B4-BE49-F238E27FC236}">
                <a16:creationId xmlns:a16="http://schemas.microsoft.com/office/drawing/2014/main" id="{FDB7097B-63B6-2E44-205F-989547835808}"/>
              </a:ext>
            </a:extLst>
          </p:cNvPr>
          <p:cNvCxnSpPr>
            <a:cxnSpLocks/>
            <a:stCxn id="3" idx="2"/>
            <a:endCxn id="9" idx="0"/>
          </p:cNvCxnSpPr>
          <p:nvPr/>
        </p:nvCxnSpPr>
        <p:spPr>
          <a:xfrm>
            <a:off x="4328720" y="2913078"/>
            <a:ext cx="8388" cy="86695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AA4E1AC5-9BAD-F961-6360-3788F311CFBF}"/>
              </a:ext>
            </a:extLst>
          </p:cNvPr>
          <p:cNvSpPr/>
          <p:nvPr/>
        </p:nvSpPr>
        <p:spPr>
          <a:xfrm>
            <a:off x="3059185" y="3780031"/>
            <a:ext cx="2555846" cy="7694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Convert </a:t>
            </a:r>
            <a:r>
              <a:rPr lang="en-US" b="1" dirty="0">
                <a:solidFill>
                  <a:srgbClr val="FFC000"/>
                </a:solidFill>
              </a:rPr>
              <a:t>13%</a:t>
            </a:r>
            <a:r>
              <a:rPr lang="en-US" dirty="0"/>
              <a:t> of viewers to paying customers</a:t>
            </a:r>
          </a:p>
        </p:txBody>
      </p:sp>
      <p:cxnSp>
        <p:nvCxnSpPr>
          <p:cNvPr id="11" name="Straight Arrow Connector 10">
            <a:extLst>
              <a:ext uri="{FF2B5EF4-FFF2-40B4-BE49-F238E27FC236}">
                <a16:creationId xmlns:a16="http://schemas.microsoft.com/office/drawing/2014/main" id="{6D186580-3FF1-AF8A-5AFB-43CBFC801CED}"/>
              </a:ext>
            </a:extLst>
          </p:cNvPr>
          <p:cNvCxnSpPr>
            <a:cxnSpLocks/>
            <a:endCxn id="12" idx="0"/>
          </p:cNvCxnSpPr>
          <p:nvPr/>
        </p:nvCxnSpPr>
        <p:spPr>
          <a:xfrm>
            <a:off x="7863284" y="2913078"/>
            <a:ext cx="8388" cy="86695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70838444-3E81-E408-F5E4-D131A0853F49}"/>
              </a:ext>
            </a:extLst>
          </p:cNvPr>
          <p:cNvSpPr/>
          <p:nvPr/>
        </p:nvSpPr>
        <p:spPr>
          <a:xfrm>
            <a:off x="6593749" y="3780031"/>
            <a:ext cx="2555846" cy="7694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Convert </a:t>
            </a:r>
            <a:r>
              <a:rPr lang="en-US" b="1" dirty="0">
                <a:solidFill>
                  <a:srgbClr val="FFC000"/>
                </a:solidFill>
              </a:rPr>
              <a:t>15%</a:t>
            </a:r>
            <a:r>
              <a:rPr lang="en-US" dirty="0"/>
              <a:t> of viewers to paying customers</a:t>
            </a:r>
          </a:p>
        </p:txBody>
      </p:sp>
      <p:sp>
        <p:nvSpPr>
          <p:cNvPr id="13" name="TextBox 12">
            <a:extLst>
              <a:ext uri="{FF2B5EF4-FFF2-40B4-BE49-F238E27FC236}">
                <a16:creationId xmlns:a16="http://schemas.microsoft.com/office/drawing/2014/main" id="{0F02CABB-289C-0914-72A5-6A87861EACCE}"/>
              </a:ext>
            </a:extLst>
          </p:cNvPr>
          <p:cNvSpPr txBox="1"/>
          <p:nvPr/>
        </p:nvSpPr>
        <p:spPr>
          <a:xfrm>
            <a:off x="5869499" y="2268298"/>
            <a:ext cx="620785" cy="369332"/>
          </a:xfrm>
          <a:prstGeom prst="rect">
            <a:avLst/>
          </a:prstGeom>
          <a:noFill/>
        </p:spPr>
        <p:txBody>
          <a:bodyPr wrap="square" rtlCol="0">
            <a:spAutoFit/>
          </a:bodyPr>
          <a:lstStyle/>
          <a:p>
            <a:r>
              <a:rPr lang="en-US" dirty="0"/>
              <a:t>VS</a:t>
            </a:r>
          </a:p>
        </p:txBody>
      </p:sp>
      <p:sp>
        <p:nvSpPr>
          <p:cNvPr id="14" name="Rectangle: Rounded Corners 13">
            <a:extLst>
              <a:ext uri="{FF2B5EF4-FFF2-40B4-BE49-F238E27FC236}">
                <a16:creationId xmlns:a16="http://schemas.microsoft.com/office/drawing/2014/main" id="{28AB16D4-4A8B-66D9-C287-48B95FB26869}"/>
              </a:ext>
            </a:extLst>
          </p:cNvPr>
          <p:cNvSpPr/>
          <p:nvPr/>
        </p:nvSpPr>
        <p:spPr>
          <a:xfrm>
            <a:off x="5318620" y="5070628"/>
            <a:ext cx="1912690" cy="65434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FF00"/>
                </a:solidFill>
              </a:rPr>
              <a:t>15%-13%=2%???</a:t>
            </a:r>
          </a:p>
        </p:txBody>
      </p:sp>
    </p:spTree>
    <p:extLst>
      <p:ext uri="{BB962C8B-B14F-4D97-AF65-F5344CB8AC3E}">
        <p14:creationId xmlns:p14="http://schemas.microsoft.com/office/powerpoint/2010/main" val="26537424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849AAB26-4E11-BA00-8BD3-6A0F5D47351C}"/>
              </a:ext>
            </a:extLst>
          </p:cNvPr>
          <p:cNvSpPr txBox="1"/>
          <p:nvPr/>
        </p:nvSpPr>
        <p:spPr>
          <a:xfrm>
            <a:off x="2902857" y="1041791"/>
            <a:ext cx="6096000" cy="769441"/>
          </a:xfrm>
          <a:prstGeom prst="rect">
            <a:avLst/>
          </a:prstGeom>
          <a:noFill/>
        </p:spPr>
        <p:txBody>
          <a:bodyPr wrap="square">
            <a:spAutoFit/>
          </a:bodyPr>
          <a:lstStyle/>
          <a:p>
            <a:pPr algn="ctr"/>
            <a:r>
              <a:rPr lang="en-US" sz="4400" b="1" i="0" dirty="0">
                <a:solidFill>
                  <a:srgbClr val="FFC000"/>
                </a:solidFill>
                <a:effectLst/>
                <a:latin typeface="Helvetica Neue"/>
              </a:rPr>
              <a:t>A/B testing steps</a:t>
            </a:r>
          </a:p>
        </p:txBody>
      </p:sp>
      <p:sp>
        <p:nvSpPr>
          <p:cNvPr id="14" name="TextBox 13">
            <a:extLst>
              <a:ext uri="{FF2B5EF4-FFF2-40B4-BE49-F238E27FC236}">
                <a16:creationId xmlns:a16="http://schemas.microsoft.com/office/drawing/2014/main" id="{7A5B111D-49BC-F5A6-7A69-616EF9492FA0}"/>
              </a:ext>
            </a:extLst>
          </p:cNvPr>
          <p:cNvSpPr txBox="1"/>
          <p:nvPr/>
        </p:nvSpPr>
        <p:spPr>
          <a:xfrm>
            <a:off x="3919755" y="2690336"/>
            <a:ext cx="6094602" cy="1477328"/>
          </a:xfrm>
          <a:prstGeom prst="rect">
            <a:avLst/>
          </a:prstGeom>
          <a:noFill/>
        </p:spPr>
        <p:txBody>
          <a:bodyPr wrap="square">
            <a:spAutoFit/>
          </a:bodyPr>
          <a:lstStyle/>
          <a:p>
            <a:pPr marL="342900" indent="-342900">
              <a:buFont typeface="+mj-lt"/>
              <a:buAutoNum type="arabicPeriod"/>
            </a:pPr>
            <a:r>
              <a:rPr lang="en-US" dirty="0">
                <a:solidFill>
                  <a:srgbClr val="FFFF00"/>
                </a:solidFill>
              </a:rPr>
              <a:t>Designing our experiment</a:t>
            </a:r>
          </a:p>
          <a:p>
            <a:pPr marL="342900" indent="-342900">
              <a:buFont typeface="+mj-lt"/>
              <a:buAutoNum type="arabicPeriod"/>
            </a:pPr>
            <a:r>
              <a:rPr lang="en-US" dirty="0">
                <a:solidFill>
                  <a:srgbClr val="FFFF00"/>
                </a:solidFill>
              </a:rPr>
              <a:t>Collecting and preparing the data</a:t>
            </a:r>
          </a:p>
          <a:p>
            <a:pPr marL="342900" indent="-342900">
              <a:buFont typeface="+mj-lt"/>
              <a:buAutoNum type="arabicPeriod"/>
            </a:pPr>
            <a:r>
              <a:rPr lang="en-US" dirty="0">
                <a:solidFill>
                  <a:srgbClr val="FFFF00"/>
                </a:solidFill>
              </a:rPr>
              <a:t>Visualizing the results</a:t>
            </a:r>
          </a:p>
          <a:p>
            <a:pPr marL="342900" indent="-342900">
              <a:buFont typeface="+mj-lt"/>
              <a:buAutoNum type="arabicPeriod"/>
            </a:pPr>
            <a:r>
              <a:rPr lang="en-US" dirty="0">
                <a:solidFill>
                  <a:srgbClr val="FFFF00"/>
                </a:solidFill>
              </a:rPr>
              <a:t>Testing the hypothesis</a:t>
            </a:r>
          </a:p>
          <a:p>
            <a:pPr marL="342900" indent="-342900">
              <a:buFont typeface="+mj-lt"/>
              <a:buAutoNum type="arabicPeriod"/>
            </a:pPr>
            <a:r>
              <a:rPr lang="en-US" dirty="0">
                <a:solidFill>
                  <a:srgbClr val="FFFF00"/>
                </a:solidFill>
              </a:rPr>
              <a:t>Drawing conclusions</a:t>
            </a:r>
          </a:p>
        </p:txBody>
      </p:sp>
    </p:spTree>
    <p:extLst>
      <p:ext uri="{BB962C8B-B14F-4D97-AF65-F5344CB8AC3E}">
        <p14:creationId xmlns:p14="http://schemas.microsoft.com/office/powerpoint/2010/main" val="14753971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849AAB26-4E11-BA00-8BD3-6A0F5D47351C}"/>
              </a:ext>
            </a:extLst>
          </p:cNvPr>
          <p:cNvSpPr txBox="1"/>
          <p:nvPr/>
        </p:nvSpPr>
        <p:spPr>
          <a:xfrm>
            <a:off x="2902857" y="1041791"/>
            <a:ext cx="6096000" cy="769441"/>
          </a:xfrm>
          <a:prstGeom prst="rect">
            <a:avLst/>
          </a:prstGeom>
          <a:noFill/>
        </p:spPr>
        <p:txBody>
          <a:bodyPr wrap="square">
            <a:spAutoFit/>
          </a:bodyPr>
          <a:lstStyle/>
          <a:p>
            <a:pPr algn="ctr"/>
            <a:r>
              <a:rPr lang="en-US" sz="4400" b="1" i="0" dirty="0">
                <a:solidFill>
                  <a:srgbClr val="FFC000"/>
                </a:solidFill>
                <a:effectLst/>
                <a:latin typeface="Helvetica Neue"/>
              </a:rPr>
              <a:t>A/B testing steps</a:t>
            </a:r>
          </a:p>
        </p:txBody>
      </p:sp>
      <p:sp>
        <p:nvSpPr>
          <p:cNvPr id="14" name="TextBox 13">
            <a:extLst>
              <a:ext uri="{FF2B5EF4-FFF2-40B4-BE49-F238E27FC236}">
                <a16:creationId xmlns:a16="http://schemas.microsoft.com/office/drawing/2014/main" id="{7A5B111D-49BC-F5A6-7A69-616EF9492FA0}"/>
              </a:ext>
            </a:extLst>
          </p:cNvPr>
          <p:cNvSpPr txBox="1"/>
          <p:nvPr/>
        </p:nvSpPr>
        <p:spPr>
          <a:xfrm>
            <a:off x="3919755" y="2690336"/>
            <a:ext cx="6094602" cy="1292662"/>
          </a:xfrm>
          <a:prstGeom prst="rect">
            <a:avLst/>
          </a:prstGeom>
          <a:noFill/>
        </p:spPr>
        <p:txBody>
          <a:bodyPr wrap="square">
            <a:spAutoFit/>
          </a:bodyPr>
          <a:lstStyle/>
          <a:p>
            <a:pPr marL="342900" indent="-342900">
              <a:buFont typeface="+mj-lt"/>
              <a:buAutoNum type="arabicPeriod"/>
            </a:pPr>
            <a:r>
              <a:rPr lang="en-US" b="1" dirty="0">
                <a:solidFill>
                  <a:srgbClr val="FFFF00"/>
                </a:solidFill>
              </a:rPr>
              <a:t>Designing our experiment</a:t>
            </a:r>
          </a:p>
          <a:p>
            <a:pPr marL="800100" lvl="1" indent="-342900">
              <a:buFont typeface="+mj-lt"/>
              <a:buAutoNum type="alphaLcParenR"/>
            </a:pPr>
            <a:r>
              <a:rPr lang="en-US" sz="1400" b="1" i="0" dirty="0">
                <a:solidFill>
                  <a:srgbClr val="FFFF00"/>
                </a:solidFill>
                <a:effectLst/>
                <a:latin typeface="Helvetica Neue"/>
              </a:rPr>
              <a:t>Formulating a hypothesis</a:t>
            </a:r>
          </a:p>
          <a:p>
            <a:pPr marL="800100" lvl="1" indent="-342900">
              <a:buFont typeface="+mj-lt"/>
              <a:buAutoNum type="alphaLcParenR"/>
            </a:pPr>
            <a:r>
              <a:rPr lang="en-US" sz="1400" b="1" i="0" dirty="0">
                <a:solidFill>
                  <a:srgbClr val="FFFF00"/>
                </a:solidFill>
                <a:effectLst/>
                <a:latin typeface="Helvetica Neue"/>
              </a:rPr>
              <a:t>Choosing the variables</a:t>
            </a:r>
          </a:p>
          <a:p>
            <a:pPr marL="800100" lvl="1" indent="-342900">
              <a:buFont typeface="+mj-lt"/>
              <a:buAutoNum type="alphaLcParenR"/>
            </a:pPr>
            <a:r>
              <a:rPr lang="en-US" sz="1400" b="1" i="0" dirty="0">
                <a:solidFill>
                  <a:srgbClr val="FFFF00"/>
                </a:solidFill>
                <a:effectLst/>
                <a:latin typeface="Helvetica Neue"/>
              </a:rPr>
              <a:t>Choosing a sample size</a:t>
            </a:r>
          </a:p>
          <a:p>
            <a:pPr marL="342900" indent="-342900">
              <a:buFont typeface="+mj-lt"/>
              <a:buAutoNum type="arabicPeriod"/>
            </a:pPr>
            <a:endParaRPr lang="en-US" dirty="0">
              <a:solidFill>
                <a:srgbClr val="FFFF00"/>
              </a:solidFill>
            </a:endParaRPr>
          </a:p>
        </p:txBody>
      </p:sp>
    </p:spTree>
    <p:extLst>
      <p:ext uri="{BB962C8B-B14F-4D97-AF65-F5344CB8AC3E}">
        <p14:creationId xmlns:p14="http://schemas.microsoft.com/office/powerpoint/2010/main" val="37890051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849AAB26-4E11-BA00-8BD3-6A0F5D47351C}"/>
              </a:ext>
            </a:extLst>
          </p:cNvPr>
          <p:cNvSpPr txBox="1"/>
          <p:nvPr/>
        </p:nvSpPr>
        <p:spPr>
          <a:xfrm>
            <a:off x="2919635" y="538451"/>
            <a:ext cx="6096000" cy="769441"/>
          </a:xfrm>
          <a:prstGeom prst="rect">
            <a:avLst/>
          </a:prstGeom>
          <a:noFill/>
        </p:spPr>
        <p:txBody>
          <a:bodyPr wrap="square">
            <a:spAutoFit/>
          </a:bodyPr>
          <a:lstStyle/>
          <a:p>
            <a:pPr algn="ctr"/>
            <a:r>
              <a:rPr lang="en-US" sz="4400" b="1" i="0" dirty="0">
                <a:solidFill>
                  <a:srgbClr val="FFC000"/>
                </a:solidFill>
                <a:effectLst/>
                <a:latin typeface="Helvetica Neue"/>
              </a:rPr>
              <a:t>A/B testing steps</a:t>
            </a:r>
          </a:p>
        </p:txBody>
      </p:sp>
      <p:sp>
        <p:nvSpPr>
          <p:cNvPr id="14" name="TextBox 13">
            <a:extLst>
              <a:ext uri="{FF2B5EF4-FFF2-40B4-BE49-F238E27FC236}">
                <a16:creationId xmlns:a16="http://schemas.microsoft.com/office/drawing/2014/main" id="{7A5B111D-49BC-F5A6-7A69-616EF9492FA0}"/>
              </a:ext>
            </a:extLst>
          </p:cNvPr>
          <p:cNvSpPr txBox="1"/>
          <p:nvPr/>
        </p:nvSpPr>
        <p:spPr>
          <a:xfrm>
            <a:off x="3953311" y="1939532"/>
            <a:ext cx="6094602" cy="1292662"/>
          </a:xfrm>
          <a:prstGeom prst="rect">
            <a:avLst/>
          </a:prstGeom>
          <a:noFill/>
        </p:spPr>
        <p:txBody>
          <a:bodyPr wrap="square">
            <a:spAutoFit/>
          </a:bodyPr>
          <a:lstStyle/>
          <a:p>
            <a:pPr marL="342900" indent="-342900">
              <a:buFont typeface="+mj-lt"/>
              <a:buAutoNum type="arabicPeriod"/>
            </a:pPr>
            <a:r>
              <a:rPr lang="en-US" b="1" dirty="0">
                <a:solidFill>
                  <a:srgbClr val="FFFF00"/>
                </a:solidFill>
              </a:rPr>
              <a:t>Designing our experiment</a:t>
            </a:r>
          </a:p>
          <a:p>
            <a:pPr marL="800100" lvl="1" indent="-342900">
              <a:buFont typeface="+mj-lt"/>
              <a:buAutoNum type="alphaLcParenR"/>
            </a:pPr>
            <a:r>
              <a:rPr lang="en-US" sz="1400" b="1" i="0" dirty="0">
                <a:solidFill>
                  <a:srgbClr val="FFFF00"/>
                </a:solidFill>
                <a:effectLst/>
                <a:latin typeface="Helvetica Neue"/>
              </a:rPr>
              <a:t>Formulating a hypothesis</a:t>
            </a:r>
          </a:p>
          <a:p>
            <a:pPr marL="800100" lvl="1" indent="-342900">
              <a:buFont typeface="+mj-lt"/>
              <a:buAutoNum type="alphaLcParenR"/>
            </a:pPr>
            <a:r>
              <a:rPr lang="en-US" sz="1400" b="1" i="0" dirty="0">
                <a:solidFill>
                  <a:schemeClr val="tx1">
                    <a:lumMod val="65000"/>
                  </a:schemeClr>
                </a:solidFill>
                <a:effectLst/>
                <a:latin typeface="Helvetica Neue"/>
              </a:rPr>
              <a:t>Choosing the variables</a:t>
            </a:r>
          </a:p>
          <a:p>
            <a:pPr marL="800100" lvl="1" indent="-342900">
              <a:buFont typeface="+mj-lt"/>
              <a:buAutoNum type="alphaLcParenR"/>
            </a:pPr>
            <a:r>
              <a:rPr lang="en-US" sz="1400" b="1" i="0" dirty="0">
                <a:solidFill>
                  <a:schemeClr val="tx1">
                    <a:lumMod val="65000"/>
                  </a:schemeClr>
                </a:solidFill>
                <a:effectLst/>
                <a:latin typeface="Helvetica Neue"/>
              </a:rPr>
              <a:t>Choosing a sample size</a:t>
            </a:r>
          </a:p>
          <a:p>
            <a:pPr marL="342900" indent="-342900">
              <a:buFont typeface="+mj-lt"/>
              <a:buAutoNum type="arabicPeriod"/>
            </a:pPr>
            <a:endParaRPr lang="en-US" dirty="0">
              <a:solidFill>
                <a:srgbClr val="FFFF00"/>
              </a:solidFill>
            </a:endParaRPr>
          </a:p>
        </p:txBody>
      </p:sp>
      <p:pic>
        <p:nvPicPr>
          <p:cNvPr id="3" name="Picture 2">
            <a:extLst>
              <a:ext uri="{FF2B5EF4-FFF2-40B4-BE49-F238E27FC236}">
                <a16:creationId xmlns:a16="http://schemas.microsoft.com/office/drawing/2014/main" id="{807A335E-F24A-A9D9-4107-70D48567A1CB}"/>
              </a:ext>
            </a:extLst>
          </p:cNvPr>
          <p:cNvPicPr>
            <a:picLocks noChangeAspect="1"/>
          </p:cNvPicPr>
          <p:nvPr/>
        </p:nvPicPr>
        <p:blipFill>
          <a:blip r:embed="rId2"/>
          <a:stretch>
            <a:fillRect/>
          </a:stretch>
        </p:blipFill>
        <p:spPr>
          <a:xfrm>
            <a:off x="3839627" y="4053861"/>
            <a:ext cx="1219200" cy="561975"/>
          </a:xfrm>
          <a:prstGeom prst="rect">
            <a:avLst/>
          </a:prstGeom>
        </p:spPr>
      </p:pic>
      <p:sp>
        <p:nvSpPr>
          <p:cNvPr id="4" name="TextBox 3">
            <a:extLst>
              <a:ext uri="{FF2B5EF4-FFF2-40B4-BE49-F238E27FC236}">
                <a16:creationId xmlns:a16="http://schemas.microsoft.com/office/drawing/2014/main" id="{881852D6-226B-5B04-E67A-F2B0EAA9DE8A}"/>
              </a:ext>
            </a:extLst>
          </p:cNvPr>
          <p:cNvSpPr txBox="1"/>
          <p:nvPr/>
        </p:nvSpPr>
        <p:spPr>
          <a:xfrm>
            <a:off x="3624043" y="3487723"/>
            <a:ext cx="2265027" cy="369332"/>
          </a:xfrm>
          <a:prstGeom prst="rect">
            <a:avLst/>
          </a:prstGeom>
          <a:noFill/>
        </p:spPr>
        <p:txBody>
          <a:bodyPr wrap="square" rtlCol="0">
            <a:spAutoFit/>
          </a:bodyPr>
          <a:lstStyle/>
          <a:p>
            <a:r>
              <a:rPr lang="en-US" dirty="0"/>
              <a:t>Two Tailed Test</a:t>
            </a:r>
          </a:p>
        </p:txBody>
      </p:sp>
      <p:sp>
        <p:nvSpPr>
          <p:cNvPr id="8" name="TextBox 7">
            <a:extLst>
              <a:ext uri="{FF2B5EF4-FFF2-40B4-BE49-F238E27FC236}">
                <a16:creationId xmlns:a16="http://schemas.microsoft.com/office/drawing/2014/main" id="{4DAD9D6D-4F35-97E6-0AAB-E44628F226B6}"/>
              </a:ext>
            </a:extLst>
          </p:cNvPr>
          <p:cNvSpPr txBox="1"/>
          <p:nvPr/>
        </p:nvSpPr>
        <p:spPr>
          <a:xfrm>
            <a:off x="6830735" y="3863834"/>
            <a:ext cx="2774658" cy="369332"/>
          </a:xfrm>
          <a:prstGeom prst="rect">
            <a:avLst/>
          </a:prstGeom>
          <a:noFill/>
        </p:spPr>
        <p:txBody>
          <a:bodyPr wrap="square">
            <a:spAutoFit/>
          </a:bodyPr>
          <a:lstStyle/>
          <a:p>
            <a:r>
              <a:rPr lang="en-US" dirty="0"/>
              <a:t>confidence level of 95%</a:t>
            </a:r>
          </a:p>
        </p:txBody>
      </p:sp>
      <p:sp>
        <p:nvSpPr>
          <p:cNvPr id="12" name="TextBox 11">
            <a:extLst>
              <a:ext uri="{FF2B5EF4-FFF2-40B4-BE49-F238E27FC236}">
                <a16:creationId xmlns:a16="http://schemas.microsoft.com/office/drawing/2014/main" id="{DB3E6D86-E0D8-2F1F-93BC-AA5EEB9B2383}"/>
              </a:ext>
            </a:extLst>
          </p:cNvPr>
          <p:cNvSpPr txBox="1"/>
          <p:nvPr/>
        </p:nvSpPr>
        <p:spPr>
          <a:xfrm>
            <a:off x="7506048" y="4526293"/>
            <a:ext cx="1113639" cy="369332"/>
          </a:xfrm>
          <a:prstGeom prst="rect">
            <a:avLst/>
          </a:prstGeom>
          <a:noFill/>
        </p:spPr>
        <p:txBody>
          <a:bodyPr wrap="square">
            <a:spAutoFit/>
          </a:bodyPr>
          <a:lstStyle/>
          <a:p>
            <a:r>
              <a:rPr lang="en-US" dirty="0"/>
              <a:t>𝛼=0.05</a:t>
            </a:r>
          </a:p>
        </p:txBody>
      </p:sp>
      <p:sp>
        <p:nvSpPr>
          <p:cNvPr id="13" name="Rectangle: Rounded Corners 12">
            <a:extLst>
              <a:ext uri="{FF2B5EF4-FFF2-40B4-BE49-F238E27FC236}">
                <a16:creationId xmlns:a16="http://schemas.microsoft.com/office/drawing/2014/main" id="{82FD2A74-2AF2-8FD2-B731-6419497EF94B}"/>
              </a:ext>
            </a:extLst>
          </p:cNvPr>
          <p:cNvSpPr/>
          <p:nvPr/>
        </p:nvSpPr>
        <p:spPr>
          <a:xfrm>
            <a:off x="3590485" y="4849875"/>
            <a:ext cx="1912690" cy="65434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FF00"/>
                </a:solidFill>
              </a:rPr>
              <a:t>15%-13%=2%???</a:t>
            </a:r>
          </a:p>
        </p:txBody>
      </p:sp>
    </p:spTree>
    <p:extLst>
      <p:ext uri="{BB962C8B-B14F-4D97-AF65-F5344CB8AC3E}">
        <p14:creationId xmlns:p14="http://schemas.microsoft.com/office/powerpoint/2010/main" val="11963665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849AAB26-4E11-BA00-8BD3-6A0F5D47351C}"/>
              </a:ext>
            </a:extLst>
          </p:cNvPr>
          <p:cNvSpPr txBox="1"/>
          <p:nvPr/>
        </p:nvSpPr>
        <p:spPr>
          <a:xfrm>
            <a:off x="2919635" y="538451"/>
            <a:ext cx="6096000" cy="769441"/>
          </a:xfrm>
          <a:prstGeom prst="rect">
            <a:avLst/>
          </a:prstGeom>
          <a:noFill/>
        </p:spPr>
        <p:txBody>
          <a:bodyPr wrap="square">
            <a:spAutoFit/>
          </a:bodyPr>
          <a:lstStyle/>
          <a:p>
            <a:pPr algn="ctr"/>
            <a:r>
              <a:rPr lang="en-US" sz="4400" b="1" i="0" dirty="0">
                <a:solidFill>
                  <a:srgbClr val="FFC000"/>
                </a:solidFill>
                <a:effectLst/>
                <a:latin typeface="Helvetica Neue"/>
              </a:rPr>
              <a:t>A/B testing steps</a:t>
            </a:r>
          </a:p>
        </p:txBody>
      </p:sp>
      <p:sp>
        <p:nvSpPr>
          <p:cNvPr id="14" name="TextBox 13">
            <a:extLst>
              <a:ext uri="{FF2B5EF4-FFF2-40B4-BE49-F238E27FC236}">
                <a16:creationId xmlns:a16="http://schemas.microsoft.com/office/drawing/2014/main" id="{7A5B111D-49BC-F5A6-7A69-616EF9492FA0}"/>
              </a:ext>
            </a:extLst>
          </p:cNvPr>
          <p:cNvSpPr txBox="1"/>
          <p:nvPr/>
        </p:nvSpPr>
        <p:spPr>
          <a:xfrm>
            <a:off x="3953311" y="1939532"/>
            <a:ext cx="6094602" cy="1292662"/>
          </a:xfrm>
          <a:prstGeom prst="rect">
            <a:avLst/>
          </a:prstGeom>
          <a:noFill/>
        </p:spPr>
        <p:txBody>
          <a:bodyPr wrap="square">
            <a:spAutoFit/>
          </a:bodyPr>
          <a:lstStyle/>
          <a:p>
            <a:pPr marL="342900" indent="-342900">
              <a:buFont typeface="+mj-lt"/>
              <a:buAutoNum type="arabicPeriod"/>
            </a:pPr>
            <a:r>
              <a:rPr lang="en-US" b="1" dirty="0">
                <a:solidFill>
                  <a:srgbClr val="FFFF00"/>
                </a:solidFill>
              </a:rPr>
              <a:t>Designing our experiment</a:t>
            </a:r>
          </a:p>
          <a:p>
            <a:pPr marL="800100" lvl="1" indent="-342900">
              <a:buFont typeface="+mj-lt"/>
              <a:buAutoNum type="alphaLcParenR"/>
            </a:pPr>
            <a:r>
              <a:rPr lang="en-US" sz="1400" b="1" i="0" dirty="0">
                <a:solidFill>
                  <a:schemeClr val="tx1">
                    <a:lumMod val="65000"/>
                  </a:schemeClr>
                </a:solidFill>
                <a:effectLst/>
                <a:latin typeface="Helvetica Neue"/>
              </a:rPr>
              <a:t>Formulating a hypothesis</a:t>
            </a:r>
          </a:p>
          <a:p>
            <a:pPr marL="800100" lvl="1" indent="-342900">
              <a:buFont typeface="+mj-lt"/>
              <a:buAutoNum type="alphaLcParenR"/>
            </a:pPr>
            <a:r>
              <a:rPr lang="en-US" sz="1400" b="1" i="0" dirty="0">
                <a:solidFill>
                  <a:srgbClr val="FFFF00"/>
                </a:solidFill>
                <a:effectLst/>
                <a:latin typeface="Helvetica Neue"/>
              </a:rPr>
              <a:t>Choosing the variables</a:t>
            </a:r>
          </a:p>
          <a:p>
            <a:pPr marL="800100" lvl="1" indent="-342900">
              <a:buFont typeface="+mj-lt"/>
              <a:buAutoNum type="alphaLcParenR"/>
            </a:pPr>
            <a:r>
              <a:rPr lang="en-US" sz="1400" b="1" i="0" dirty="0">
                <a:solidFill>
                  <a:schemeClr val="tx1">
                    <a:lumMod val="65000"/>
                  </a:schemeClr>
                </a:solidFill>
                <a:effectLst/>
                <a:latin typeface="Helvetica Neue"/>
              </a:rPr>
              <a:t>Choosing a sample size</a:t>
            </a:r>
          </a:p>
          <a:p>
            <a:pPr marL="342900" indent="-342900">
              <a:buFont typeface="+mj-lt"/>
              <a:buAutoNum type="arabicPeriod"/>
            </a:pPr>
            <a:endParaRPr lang="en-US" dirty="0">
              <a:solidFill>
                <a:srgbClr val="FFFF00"/>
              </a:solidFill>
            </a:endParaRPr>
          </a:p>
        </p:txBody>
      </p:sp>
      <p:sp>
        <p:nvSpPr>
          <p:cNvPr id="10" name="TextBox 9">
            <a:extLst>
              <a:ext uri="{FF2B5EF4-FFF2-40B4-BE49-F238E27FC236}">
                <a16:creationId xmlns:a16="http://schemas.microsoft.com/office/drawing/2014/main" id="{CD6E8D4D-4DDC-D8F8-F2AC-EE413EE04C89}"/>
              </a:ext>
            </a:extLst>
          </p:cNvPr>
          <p:cNvSpPr txBox="1"/>
          <p:nvPr/>
        </p:nvSpPr>
        <p:spPr>
          <a:xfrm>
            <a:off x="1321266" y="4200922"/>
            <a:ext cx="5450747" cy="461665"/>
          </a:xfrm>
          <a:prstGeom prst="rect">
            <a:avLst/>
          </a:prstGeom>
          <a:noFill/>
        </p:spPr>
        <p:txBody>
          <a:bodyPr wrap="square">
            <a:spAutoFit/>
          </a:bodyPr>
          <a:lstStyle/>
          <a:p>
            <a:r>
              <a:rPr lang="en-US" sz="1200" dirty="0"/>
              <a:t>A control group - They'll be shown the old design</a:t>
            </a:r>
          </a:p>
          <a:p>
            <a:r>
              <a:rPr lang="en-US" sz="1200" dirty="0"/>
              <a:t>A treatment (or experimental) group - They'll be shown the new design</a:t>
            </a:r>
          </a:p>
        </p:txBody>
      </p:sp>
      <p:sp>
        <p:nvSpPr>
          <p:cNvPr id="15" name="TextBox 14">
            <a:extLst>
              <a:ext uri="{FF2B5EF4-FFF2-40B4-BE49-F238E27FC236}">
                <a16:creationId xmlns:a16="http://schemas.microsoft.com/office/drawing/2014/main" id="{F251F4B0-9178-3468-6778-3BA5451414D0}"/>
              </a:ext>
            </a:extLst>
          </p:cNvPr>
          <p:cNvSpPr txBox="1"/>
          <p:nvPr/>
        </p:nvSpPr>
        <p:spPr>
          <a:xfrm>
            <a:off x="1170262" y="3679168"/>
            <a:ext cx="5146648" cy="369332"/>
          </a:xfrm>
          <a:prstGeom prst="rect">
            <a:avLst/>
          </a:prstGeom>
          <a:noFill/>
        </p:spPr>
        <p:txBody>
          <a:bodyPr wrap="square">
            <a:spAutoFit/>
          </a:bodyPr>
          <a:lstStyle/>
          <a:p>
            <a:r>
              <a:rPr lang="en-US" dirty="0"/>
              <a:t>Independent Variable(Group, assigned randomly)</a:t>
            </a:r>
          </a:p>
        </p:txBody>
      </p:sp>
      <p:sp>
        <p:nvSpPr>
          <p:cNvPr id="16" name="TextBox 15">
            <a:extLst>
              <a:ext uri="{FF2B5EF4-FFF2-40B4-BE49-F238E27FC236}">
                <a16:creationId xmlns:a16="http://schemas.microsoft.com/office/drawing/2014/main" id="{BB90CCFD-E41A-6045-786A-52D09225F4A2}"/>
              </a:ext>
            </a:extLst>
          </p:cNvPr>
          <p:cNvSpPr txBox="1"/>
          <p:nvPr/>
        </p:nvSpPr>
        <p:spPr>
          <a:xfrm>
            <a:off x="7657667" y="3595655"/>
            <a:ext cx="3357078" cy="369332"/>
          </a:xfrm>
          <a:prstGeom prst="rect">
            <a:avLst/>
          </a:prstGeom>
          <a:noFill/>
        </p:spPr>
        <p:txBody>
          <a:bodyPr wrap="square">
            <a:spAutoFit/>
          </a:bodyPr>
          <a:lstStyle/>
          <a:p>
            <a:r>
              <a:rPr lang="en-US" dirty="0"/>
              <a:t>Dependent Variable(converted)</a:t>
            </a:r>
          </a:p>
        </p:txBody>
      </p:sp>
      <p:sp>
        <p:nvSpPr>
          <p:cNvPr id="17" name="TextBox 16">
            <a:extLst>
              <a:ext uri="{FF2B5EF4-FFF2-40B4-BE49-F238E27FC236}">
                <a16:creationId xmlns:a16="http://schemas.microsoft.com/office/drawing/2014/main" id="{289759C6-E921-C255-C7A4-F8B9EDFF6C47}"/>
              </a:ext>
            </a:extLst>
          </p:cNvPr>
          <p:cNvSpPr txBox="1"/>
          <p:nvPr/>
        </p:nvSpPr>
        <p:spPr>
          <a:xfrm>
            <a:off x="7409577" y="4174774"/>
            <a:ext cx="4284677" cy="461665"/>
          </a:xfrm>
          <a:prstGeom prst="rect">
            <a:avLst/>
          </a:prstGeom>
          <a:noFill/>
        </p:spPr>
        <p:txBody>
          <a:bodyPr wrap="square">
            <a:spAutoFit/>
          </a:bodyPr>
          <a:lstStyle/>
          <a:p>
            <a:r>
              <a:rPr lang="en-US" sz="1200" dirty="0"/>
              <a:t>0 - The user did not buy the product during this user session</a:t>
            </a:r>
          </a:p>
          <a:p>
            <a:r>
              <a:rPr lang="en-US" sz="1200" dirty="0"/>
              <a:t>1 - The user bought the product during this user session</a:t>
            </a:r>
          </a:p>
        </p:txBody>
      </p:sp>
      <p:sp>
        <p:nvSpPr>
          <p:cNvPr id="11" name="TextBox 10">
            <a:extLst>
              <a:ext uri="{FF2B5EF4-FFF2-40B4-BE49-F238E27FC236}">
                <a16:creationId xmlns:a16="http://schemas.microsoft.com/office/drawing/2014/main" id="{CDB4B123-6017-0165-84CB-40BB6CEFCE24}"/>
              </a:ext>
            </a:extLst>
          </p:cNvPr>
          <p:cNvSpPr txBox="1"/>
          <p:nvPr/>
        </p:nvSpPr>
        <p:spPr>
          <a:xfrm>
            <a:off x="4118994" y="5276675"/>
            <a:ext cx="4395832" cy="646331"/>
          </a:xfrm>
          <a:prstGeom prst="rect">
            <a:avLst/>
          </a:prstGeom>
          <a:noFill/>
        </p:spPr>
        <p:txBody>
          <a:bodyPr wrap="square" rtlCol="0">
            <a:spAutoFit/>
          </a:bodyPr>
          <a:lstStyle/>
          <a:p>
            <a:r>
              <a:rPr lang="en-US" dirty="0">
                <a:solidFill>
                  <a:srgbClr val="FFFF00"/>
                </a:solidFill>
              </a:rPr>
              <a:t>Is there a relationship between Independent Variable and Dependent Variable?</a:t>
            </a:r>
          </a:p>
        </p:txBody>
      </p:sp>
    </p:spTree>
    <p:extLst>
      <p:ext uri="{BB962C8B-B14F-4D97-AF65-F5344CB8AC3E}">
        <p14:creationId xmlns:p14="http://schemas.microsoft.com/office/powerpoint/2010/main" val="24601236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849AAB26-4E11-BA00-8BD3-6A0F5D47351C}"/>
              </a:ext>
            </a:extLst>
          </p:cNvPr>
          <p:cNvSpPr txBox="1"/>
          <p:nvPr/>
        </p:nvSpPr>
        <p:spPr>
          <a:xfrm>
            <a:off x="2950897" y="73353"/>
            <a:ext cx="6096000" cy="769441"/>
          </a:xfrm>
          <a:prstGeom prst="rect">
            <a:avLst/>
          </a:prstGeom>
          <a:noFill/>
        </p:spPr>
        <p:txBody>
          <a:bodyPr wrap="square">
            <a:spAutoFit/>
          </a:bodyPr>
          <a:lstStyle/>
          <a:p>
            <a:pPr algn="ctr"/>
            <a:r>
              <a:rPr lang="en-US" sz="4400" b="1" i="0" dirty="0">
                <a:solidFill>
                  <a:srgbClr val="FFC000"/>
                </a:solidFill>
                <a:effectLst/>
                <a:latin typeface="Helvetica Neue"/>
              </a:rPr>
              <a:t>A/B testing steps</a:t>
            </a:r>
          </a:p>
        </p:txBody>
      </p:sp>
      <p:sp>
        <p:nvSpPr>
          <p:cNvPr id="14" name="TextBox 13">
            <a:extLst>
              <a:ext uri="{FF2B5EF4-FFF2-40B4-BE49-F238E27FC236}">
                <a16:creationId xmlns:a16="http://schemas.microsoft.com/office/drawing/2014/main" id="{7A5B111D-49BC-F5A6-7A69-616EF9492FA0}"/>
              </a:ext>
            </a:extLst>
          </p:cNvPr>
          <p:cNvSpPr txBox="1"/>
          <p:nvPr/>
        </p:nvSpPr>
        <p:spPr>
          <a:xfrm>
            <a:off x="3976758" y="1117004"/>
            <a:ext cx="6094602" cy="1292662"/>
          </a:xfrm>
          <a:prstGeom prst="rect">
            <a:avLst/>
          </a:prstGeom>
          <a:noFill/>
        </p:spPr>
        <p:txBody>
          <a:bodyPr wrap="square">
            <a:spAutoFit/>
          </a:bodyPr>
          <a:lstStyle/>
          <a:p>
            <a:pPr marL="342900" indent="-342900">
              <a:buFont typeface="+mj-lt"/>
              <a:buAutoNum type="arabicPeriod"/>
            </a:pPr>
            <a:r>
              <a:rPr lang="en-US" b="1" dirty="0">
                <a:solidFill>
                  <a:srgbClr val="FFFF00"/>
                </a:solidFill>
              </a:rPr>
              <a:t>Designing our experiment</a:t>
            </a:r>
          </a:p>
          <a:p>
            <a:pPr marL="800100" lvl="1" indent="-342900">
              <a:buFont typeface="+mj-lt"/>
              <a:buAutoNum type="alphaLcParenR"/>
            </a:pPr>
            <a:r>
              <a:rPr lang="en-US" sz="1400" b="1" i="0" dirty="0">
                <a:solidFill>
                  <a:schemeClr val="tx1">
                    <a:lumMod val="65000"/>
                  </a:schemeClr>
                </a:solidFill>
                <a:effectLst/>
                <a:latin typeface="Helvetica Neue"/>
              </a:rPr>
              <a:t>Formulating a hypothesis</a:t>
            </a:r>
          </a:p>
          <a:p>
            <a:pPr marL="800100" lvl="1" indent="-342900">
              <a:buFont typeface="+mj-lt"/>
              <a:buAutoNum type="alphaLcParenR"/>
            </a:pPr>
            <a:r>
              <a:rPr lang="en-US" sz="1400" b="1" i="0" dirty="0">
                <a:solidFill>
                  <a:schemeClr val="tx1">
                    <a:lumMod val="75000"/>
                  </a:schemeClr>
                </a:solidFill>
                <a:effectLst/>
                <a:latin typeface="Helvetica Neue"/>
              </a:rPr>
              <a:t>Choosing the variables</a:t>
            </a:r>
          </a:p>
          <a:p>
            <a:pPr marL="800100" lvl="1" indent="-342900">
              <a:buFont typeface="+mj-lt"/>
              <a:buAutoNum type="alphaLcParenR"/>
            </a:pPr>
            <a:r>
              <a:rPr lang="en-US" sz="1400" b="1" i="0" dirty="0">
                <a:solidFill>
                  <a:srgbClr val="FFFF00"/>
                </a:solidFill>
                <a:effectLst/>
                <a:latin typeface="Helvetica Neue"/>
              </a:rPr>
              <a:t>Choosing a sample size</a:t>
            </a:r>
          </a:p>
          <a:p>
            <a:pPr marL="342900" indent="-342900">
              <a:buFont typeface="+mj-lt"/>
              <a:buAutoNum type="arabicPeriod"/>
            </a:pPr>
            <a:endParaRPr lang="en-US" dirty="0">
              <a:solidFill>
                <a:srgbClr val="FFFF00"/>
              </a:solidFill>
            </a:endParaRPr>
          </a:p>
        </p:txBody>
      </p:sp>
      <p:sp>
        <p:nvSpPr>
          <p:cNvPr id="12" name="TextBox 11">
            <a:extLst>
              <a:ext uri="{FF2B5EF4-FFF2-40B4-BE49-F238E27FC236}">
                <a16:creationId xmlns:a16="http://schemas.microsoft.com/office/drawing/2014/main" id="{92D83A75-00F0-4DDB-F89C-F05C3EFD1BD0}"/>
              </a:ext>
            </a:extLst>
          </p:cNvPr>
          <p:cNvSpPr txBox="1"/>
          <p:nvPr/>
        </p:nvSpPr>
        <p:spPr>
          <a:xfrm>
            <a:off x="3253180" y="3925114"/>
            <a:ext cx="5685639" cy="1815882"/>
          </a:xfrm>
          <a:prstGeom prst="rect">
            <a:avLst/>
          </a:prstGeom>
          <a:noFill/>
        </p:spPr>
        <p:txBody>
          <a:bodyPr wrap="square">
            <a:spAutoFit/>
          </a:bodyPr>
          <a:lstStyle/>
          <a:p>
            <a:r>
              <a:rPr lang="en-US" sz="1200" dirty="0"/>
              <a:t>So how many people should we have in each group?</a:t>
            </a:r>
          </a:p>
          <a:p>
            <a:endParaRPr lang="en-US" sz="1200" dirty="0"/>
          </a:p>
          <a:p>
            <a:r>
              <a:rPr lang="en-US" sz="1600" b="1" dirty="0">
                <a:solidFill>
                  <a:srgbClr val="FFFF00"/>
                </a:solidFill>
              </a:rPr>
              <a:t>Power analysis:</a:t>
            </a:r>
          </a:p>
          <a:p>
            <a:pPr marL="171450" indent="-171450">
              <a:buFont typeface="Arial" panose="020B0604020202020204" pitchFamily="34" charset="0"/>
              <a:buChar char="•"/>
            </a:pPr>
            <a:r>
              <a:rPr lang="en-US" sz="1200" dirty="0">
                <a:solidFill>
                  <a:srgbClr val="FFFF00"/>
                </a:solidFill>
              </a:rPr>
              <a:t>Power of the test ( 1−𝛽 ) </a:t>
            </a:r>
            <a:r>
              <a:rPr lang="en-US" sz="1200" dirty="0"/>
              <a:t>- This represents the probability of finding a statistical difference between the groups in our test when a difference is actually present. This is usually set at 0.8 as a convention</a:t>
            </a:r>
          </a:p>
          <a:p>
            <a:pPr marL="171450" indent="-171450">
              <a:buFont typeface="Arial" panose="020B0604020202020204" pitchFamily="34" charset="0"/>
              <a:buChar char="•"/>
            </a:pPr>
            <a:r>
              <a:rPr lang="en-US" sz="1200" dirty="0">
                <a:solidFill>
                  <a:srgbClr val="FFFF00"/>
                </a:solidFill>
              </a:rPr>
              <a:t>Alpha value ( 𝛼 ) </a:t>
            </a:r>
            <a:r>
              <a:rPr lang="en-US" sz="1200" dirty="0"/>
              <a:t>- The critical value we set earlier to 0.05</a:t>
            </a:r>
          </a:p>
          <a:p>
            <a:pPr marL="171450" indent="-171450">
              <a:buFont typeface="Arial" panose="020B0604020202020204" pitchFamily="34" charset="0"/>
              <a:buChar char="•"/>
            </a:pPr>
            <a:r>
              <a:rPr lang="en-US" sz="1200" dirty="0">
                <a:solidFill>
                  <a:srgbClr val="FFFF00"/>
                </a:solidFill>
              </a:rPr>
              <a:t>Effect size </a:t>
            </a:r>
            <a:r>
              <a:rPr lang="en-US" sz="1200" dirty="0"/>
              <a:t>- How big of a difference we expect there to be between the conversion rates: 15%-13%=2%</a:t>
            </a:r>
          </a:p>
        </p:txBody>
      </p:sp>
      <p:sp>
        <p:nvSpPr>
          <p:cNvPr id="13" name="TextBox 12">
            <a:extLst>
              <a:ext uri="{FF2B5EF4-FFF2-40B4-BE49-F238E27FC236}">
                <a16:creationId xmlns:a16="http://schemas.microsoft.com/office/drawing/2014/main" id="{757273DB-DB3E-6AD7-5866-45B8ADA3228E}"/>
              </a:ext>
            </a:extLst>
          </p:cNvPr>
          <p:cNvSpPr txBox="1"/>
          <p:nvPr/>
        </p:nvSpPr>
        <p:spPr>
          <a:xfrm>
            <a:off x="3047999" y="2560213"/>
            <a:ext cx="6096000" cy="900246"/>
          </a:xfrm>
          <a:prstGeom prst="rect">
            <a:avLst/>
          </a:prstGeom>
          <a:noFill/>
        </p:spPr>
        <p:txBody>
          <a:bodyPr wrap="square">
            <a:spAutoFit/>
          </a:bodyPr>
          <a:lstStyle/>
          <a:p>
            <a:r>
              <a:rPr lang="en-US" sz="1050" dirty="0">
                <a:solidFill>
                  <a:srgbClr val="FFFF00"/>
                </a:solidFill>
              </a:rPr>
              <a:t>It is important to note that since we won't test the whole user base (our population), the conversion rates that we'll get will inevitably be only estimates of the true rates.</a:t>
            </a:r>
          </a:p>
          <a:p>
            <a:endParaRPr lang="en-US" sz="1050" dirty="0"/>
          </a:p>
          <a:p>
            <a:r>
              <a:rPr lang="en-US" sz="1050" dirty="0">
                <a:solidFill>
                  <a:srgbClr val="FFFF00"/>
                </a:solidFill>
              </a:rPr>
              <a:t>the larger the sample size, the more precise our estimates ,the higher the chance to detect a difference in the two groups, if present.</a:t>
            </a:r>
          </a:p>
        </p:txBody>
      </p:sp>
    </p:spTree>
    <p:extLst>
      <p:ext uri="{BB962C8B-B14F-4D97-AF65-F5344CB8AC3E}">
        <p14:creationId xmlns:p14="http://schemas.microsoft.com/office/powerpoint/2010/main" val="11737421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849AAB26-4E11-BA00-8BD3-6A0F5D47351C}"/>
              </a:ext>
            </a:extLst>
          </p:cNvPr>
          <p:cNvSpPr txBox="1"/>
          <p:nvPr/>
        </p:nvSpPr>
        <p:spPr>
          <a:xfrm>
            <a:off x="2969969" y="303560"/>
            <a:ext cx="6096000" cy="769441"/>
          </a:xfrm>
          <a:prstGeom prst="rect">
            <a:avLst/>
          </a:prstGeom>
          <a:noFill/>
        </p:spPr>
        <p:txBody>
          <a:bodyPr wrap="square">
            <a:spAutoFit/>
          </a:bodyPr>
          <a:lstStyle/>
          <a:p>
            <a:pPr algn="ctr"/>
            <a:r>
              <a:rPr lang="en-US" sz="4400" b="1" i="0" dirty="0">
                <a:solidFill>
                  <a:srgbClr val="FFC000"/>
                </a:solidFill>
                <a:effectLst/>
                <a:latin typeface="Helvetica Neue"/>
              </a:rPr>
              <a:t>A/B testing steps</a:t>
            </a:r>
          </a:p>
        </p:txBody>
      </p:sp>
      <p:sp>
        <p:nvSpPr>
          <p:cNvPr id="14" name="TextBox 13">
            <a:extLst>
              <a:ext uri="{FF2B5EF4-FFF2-40B4-BE49-F238E27FC236}">
                <a16:creationId xmlns:a16="http://schemas.microsoft.com/office/drawing/2014/main" id="{7A5B111D-49BC-F5A6-7A69-616EF9492FA0}"/>
              </a:ext>
            </a:extLst>
          </p:cNvPr>
          <p:cNvSpPr txBox="1"/>
          <p:nvPr/>
        </p:nvSpPr>
        <p:spPr>
          <a:xfrm>
            <a:off x="3944922" y="1515878"/>
            <a:ext cx="6094602" cy="1477328"/>
          </a:xfrm>
          <a:prstGeom prst="rect">
            <a:avLst/>
          </a:prstGeom>
          <a:noFill/>
        </p:spPr>
        <p:txBody>
          <a:bodyPr wrap="square">
            <a:spAutoFit/>
          </a:bodyPr>
          <a:lstStyle/>
          <a:p>
            <a:pPr marL="342900" indent="-342900">
              <a:buFont typeface="+mj-lt"/>
              <a:buAutoNum type="arabicPeriod"/>
            </a:pPr>
            <a:r>
              <a:rPr lang="en-US" dirty="0">
                <a:solidFill>
                  <a:schemeClr val="tx1">
                    <a:lumMod val="50000"/>
                  </a:schemeClr>
                </a:solidFill>
              </a:rPr>
              <a:t>Designing our experiment</a:t>
            </a:r>
          </a:p>
          <a:p>
            <a:pPr marL="342900" indent="-342900">
              <a:buFont typeface="+mj-lt"/>
              <a:buAutoNum type="arabicPeriod"/>
            </a:pPr>
            <a:r>
              <a:rPr lang="en-US" dirty="0">
                <a:solidFill>
                  <a:srgbClr val="FFFF00"/>
                </a:solidFill>
              </a:rPr>
              <a:t>Collecting and preparing the data</a:t>
            </a:r>
          </a:p>
          <a:p>
            <a:pPr marL="342900" indent="-342900">
              <a:buFont typeface="+mj-lt"/>
              <a:buAutoNum type="arabicPeriod"/>
            </a:pPr>
            <a:r>
              <a:rPr lang="en-US" dirty="0">
                <a:solidFill>
                  <a:schemeClr val="tx1">
                    <a:lumMod val="50000"/>
                  </a:schemeClr>
                </a:solidFill>
              </a:rPr>
              <a:t>Visualizing the results</a:t>
            </a:r>
          </a:p>
          <a:p>
            <a:pPr marL="342900" indent="-342900">
              <a:buFont typeface="+mj-lt"/>
              <a:buAutoNum type="arabicPeriod"/>
            </a:pPr>
            <a:r>
              <a:rPr lang="en-US" dirty="0">
                <a:solidFill>
                  <a:schemeClr val="tx1">
                    <a:lumMod val="50000"/>
                  </a:schemeClr>
                </a:solidFill>
              </a:rPr>
              <a:t>Testing the hypothesis</a:t>
            </a:r>
          </a:p>
          <a:p>
            <a:pPr marL="342900" indent="-342900">
              <a:buFont typeface="+mj-lt"/>
              <a:buAutoNum type="arabicPeriod"/>
            </a:pPr>
            <a:r>
              <a:rPr lang="en-US" dirty="0">
                <a:solidFill>
                  <a:schemeClr val="tx1">
                    <a:lumMod val="50000"/>
                  </a:schemeClr>
                </a:solidFill>
              </a:rPr>
              <a:t>Drawing conclusions</a:t>
            </a:r>
          </a:p>
        </p:txBody>
      </p:sp>
      <p:pic>
        <p:nvPicPr>
          <p:cNvPr id="3" name="Picture 2">
            <a:extLst>
              <a:ext uri="{FF2B5EF4-FFF2-40B4-BE49-F238E27FC236}">
                <a16:creationId xmlns:a16="http://schemas.microsoft.com/office/drawing/2014/main" id="{4E5DDE7C-2F2C-9DCA-921B-F4702DB12B8E}"/>
              </a:ext>
            </a:extLst>
          </p:cNvPr>
          <p:cNvPicPr>
            <a:picLocks noChangeAspect="1"/>
          </p:cNvPicPr>
          <p:nvPr/>
        </p:nvPicPr>
        <p:blipFill>
          <a:blip r:embed="rId2"/>
          <a:stretch>
            <a:fillRect/>
          </a:stretch>
        </p:blipFill>
        <p:spPr>
          <a:xfrm>
            <a:off x="3689106" y="3294771"/>
            <a:ext cx="4657725" cy="1762125"/>
          </a:xfrm>
          <a:prstGeom prst="rect">
            <a:avLst/>
          </a:prstGeom>
        </p:spPr>
      </p:pic>
      <p:sp>
        <p:nvSpPr>
          <p:cNvPr id="2" name="TextBox 1">
            <a:extLst>
              <a:ext uri="{FF2B5EF4-FFF2-40B4-BE49-F238E27FC236}">
                <a16:creationId xmlns:a16="http://schemas.microsoft.com/office/drawing/2014/main" id="{38859120-98F6-3884-2089-59577A3A91BF}"/>
              </a:ext>
            </a:extLst>
          </p:cNvPr>
          <p:cNvSpPr txBox="1"/>
          <p:nvPr/>
        </p:nvSpPr>
        <p:spPr>
          <a:xfrm>
            <a:off x="3531765" y="5469622"/>
            <a:ext cx="5385732" cy="369332"/>
          </a:xfrm>
          <a:prstGeom prst="rect">
            <a:avLst/>
          </a:prstGeom>
          <a:noFill/>
        </p:spPr>
        <p:txBody>
          <a:bodyPr wrap="square" rtlCol="0">
            <a:spAutoFit/>
          </a:bodyPr>
          <a:lstStyle/>
          <a:p>
            <a:r>
              <a:rPr lang="en-US" dirty="0"/>
              <a:t>Make sure we have enough samples for each group</a:t>
            </a:r>
          </a:p>
        </p:txBody>
      </p:sp>
    </p:spTree>
    <p:extLst>
      <p:ext uri="{BB962C8B-B14F-4D97-AF65-F5344CB8AC3E}">
        <p14:creationId xmlns:p14="http://schemas.microsoft.com/office/powerpoint/2010/main" val="41064958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849AAB26-4E11-BA00-8BD3-6A0F5D47351C}"/>
              </a:ext>
            </a:extLst>
          </p:cNvPr>
          <p:cNvSpPr txBox="1"/>
          <p:nvPr/>
        </p:nvSpPr>
        <p:spPr>
          <a:xfrm>
            <a:off x="2969969" y="303560"/>
            <a:ext cx="6096000" cy="769441"/>
          </a:xfrm>
          <a:prstGeom prst="rect">
            <a:avLst/>
          </a:prstGeom>
          <a:noFill/>
        </p:spPr>
        <p:txBody>
          <a:bodyPr wrap="square">
            <a:spAutoFit/>
          </a:bodyPr>
          <a:lstStyle/>
          <a:p>
            <a:pPr algn="ctr"/>
            <a:r>
              <a:rPr lang="en-US" sz="4400" b="1" i="0" dirty="0">
                <a:solidFill>
                  <a:srgbClr val="FFC000"/>
                </a:solidFill>
                <a:effectLst/>
                <a:latin typeface="Helvetica Neue"/>
              </a:rPr>
              <a:t>A/B testing steps</a:t>
            </a:r>
          </a:p>
        </p:txBody>
      </p:sp>
      <p:sp>
        <p:nvSpPr>
          <p:cNvPr id="14" name="TextBox 13">
            <a:extLst>
              <a:ext uri="{FF2B5EF4-FFF2-40B4-BE49-F238E27FC236}">
                <a16:creationId xmlns:a16="http://schemas.microsoft.com/office/drawing/2014/main" id="{7A5B111D-49BC-F5A6-7A69-616EF9492FA0}"/>
              </a:ext>
            </a:extLst>
          </p:cNvPr>
          <p:cNvSpPr txBox="1"/>
          <p:nvPr/>
        </p:nvSpPr>
        <p:spPr>
          <a:xfrm>
            <a:off x="3944922" y="1515878"/>
            <a:ext cx="6094602" cy="1477328"/>
          </a:xfrm>
          <a:prstGeom prst="rect">
            <a:avLst/>
          </a:prstGeom>
          <a:noFill/>
        </p:spPr>
        <p:txBody>
          <a:bodyPr wrap="square">
            <a:spAutoFit/>
          </a:bodyPr>
          <a:lstStyle/>
          <a:p>
            <a:pPr marL="342900" indent="-342900">
              <a:buFont typeface="+mj-lt"/>
              <a:buAutoNum type="arabicPeriod"/>
            </a:pPr>
            <a:r>
              <a:rPr lang="en-US" dirty="0">
                <a:solidFill>
                  <a:schemeClr val="tx1">
                    <a:lumMod val="50000"/>
                  </a:schemeClr>
                </a:solidFill>
              </a:rPr>
              <a:t>Designing our experiment</a:t>
            </a:r>
          </a:p>
          <a:p>
            <a:pPr marL="342900" indent="-342900">
              <a:buFont typeface="+mj-lt"/>
              <a:buAutoNum type="arabicPeriod"/>
            </a:pPr>
            <a:r>
              <a:rPr lang="en-US" dirty="0">
                <a:solidFill>
                  <a:schemeClr val="tx1">
                    <a:lumMod val="50000"/>
                  </a:schemeClr>
                </a:solidFill>
              </a:rPr>
              <a:t>Collecting and preparing the data</a:t>
            </a:r>
          </a:p>
          <a:p>
            <a:pPr marL="342900" indent="-342900">
              <a:buFont typeface="+mj-lt"/>
              <a:buAutoNum type="arabicPeriod"/>
            </a:pPr>
            <a:r>
              <a:rPr lang="en-US" dirty="0">
                <a:solidFill>
                  <a:srgbClr val="FFFF00"/>
                </a:solidFill>
              </a:rPr>
              <a:t>Visualizing the results</a:t>
            </a:r>
          </a:p>
          <a:p>
            <a:pPr marL="342900" indent="-342900">
              <a:buFont typeface="+mj-lt"/>
              <a:buAutoNum type="arabicPeriod"/>
            </a:pPr>
            <a:r>
              <a:rPr lang="en-US" dirty="0">
                <a:solidFill>
                  <a:schemeClr val="tx1">
                    <a:lumMod val="50000"/>
                  </a:schemeClr>
                </a:solidFill>
              </a:rPr>
              <a:t>Testing the hypothesis</a:t>
            </a:r>
          </a:p>
          <a:p>
            <a:pPr marL="342900" indent="-342900">
              <a:buFont typeface="+mj-lt"/>
              <a:buAutoNum type="arabicPeriod"/>
            </a:pPr>
            <a:r>
              <a:rPr lang="en-US" dirty="0">
                <a:solidFill>
                  <a:schemeClr val="tx1">
                    <a:lumMod val="50000"/>
                  </a:schemeClr>
                </a:solidFill>
              </a:rPr>
              <a:t>Drawing conclusions</a:t>
            </a:r>
          </a:p>
        </p:txBody>
      </p:sp>
      <p:pic>
        <p:nvPicPr>
          <p:cNvPr id="5" name="Picture 4">
            <a:extLst>
              <a:ext uri="{FF2B5EF4-FFF2-40B4-BE49-F238E27FC236}">
                <a16:creationId xmlns:a16="http://schemas.microsoft.com/office/drawing/2014/main" id="{6E58F2B5-340B-EA42-E8DF-DEA2E39AA235}"/>
              </a:ext>
            </a:extLst>
          </p:cNvPr>
          <p:cNvPicPr>
            <a:picLocks noChangeAspect="1"/>
          </p:cNvPicPr>
          <p:nvPr/>
        </p:nvPicPr>
        <p:blipFill>
          <a:blip r:embed="rId2"/>
          <a:stretch>
            <a:fillRect/>
          </a:stretch>
        </p:blipFill>
        <p:spPr>
          <a:xfrm>
            <a:off x="3668442" y="3285429"/>
            <a:ext cx="4241901" cy="2477808"/>
          </a:xfrm>
          <a:prstGeom prst="rect">
            <a:avLst/>
          </a:prstGeom>
        </p:spPr>
      </p:pic>
    </p:spTree>
    <p:extLst>
      <p:ext uri="{BB962C8B-B14F-4D97-AF65-F5344CB8AC3E}">
        <p14:creationId xmlns:p14="http://schemas.microsoft.com/office/powerpoint/2010/main" val="31466845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849AAB26-4E11-BA00-8BD3-6A0F5D47351C}"/>
              </a:ext>
            </a:extLst>
          </p:cNvPr>
          <p:cNvSpPr txBox="1"/>
          <p:nvPr/>
        </p:nvSpPr>
        <p:spPr>
          <a:xfrm>
            <a:off x="2936413" y="239367"/>
            <a:ext cx="6096000" cy="769441"/>
          </a:xfrm>
          <a:prstGeom prst="rect">
            <a:avLst/>
          </a:prstGeom>
          <a:noFill/>
        </p:spPr>
        <p:txBody>
          <a:bodyPr wrap="square">
            <a:spAutoFit/>
          </a:bodyPr>
          <a:lstStyle/>
          <a:p>
            <a:pPr algn="ctr"/>
            <a:r>
              <a:rPr lang="en-US" sz="4400" b="1" i="0" dirty="0">
                <a:solidFill>
                  <a:srgbClr val="FFC000"/>
                </a:solidFill>
                <a:effectLst/>
                <a:latin typeface="Helvetica Neue"/>
              </a:rPr>
              <a:t>A/B testing steps</a:t>
            </a:r>
          </a:p>
        </p:txBody>
      </p:sp>
      <p:sp>
        <p:nvSpPr>
          <p:cNvPr id="14" name="TextBox 13">
            <a:extLst>
              <a:ext uri="{FF2B5EF4-FFF2-40B4-BE49-F238E27FC236}">
                <a16:creationId xmlns:a16="http://schemas.microsoft.com/office/drawing/2014/main" id="{7A5B111D-49BC-F5A6-7A69-616EF9492FA0}"/>
              </a:ext>
            </a:extLst>
          </p:cNvPr>
          <p:cNvSpPr txBox="1"/>
          <p:nvPr/>
        </p:nvSpPr>
        <p:spPr>
          <a:xfrm>
            <a:off x="3995256" y="1008808"/>
            <a:ext cx="6094602" cy="1477328"/>
          </a:xfrm>
          <a:prstGeom prst="rect">
            <a:avLst/>
          </a:prstGeom>
          <a:noFill/>
        </p:spPr>
        <p:txBody>
          <a:bodyPr wrap="square">
            <a:spAutoFit/>
          </a:bodyPr>
          <a:lstStyle/>
          <a:p>
            <a:pPr marL="342900" indent="-342900">
              <a:buFont typeface="+mj-lt"/>
              <a:buAutoNum type="arabicPeriod"/>
            </a:pPr>
            <a:r>
              <a:rPr lang="en-US" dirty="0">
                <a:solidFill>
                  <a:schemeClr val="tx1">
                    <a:lumMod val="50000"/>
                  </a:schemeClr>
                </a:solidFill>
              </a:rPr>
              <a:t>Designing our experiment</a:t>
            </a:r>
          </a:p>
          <a:p>
            <a:pPr marL="342900" indent="-342900">
              <a:buFont typeface="+mj-lt"/>
              <a:buAutoNum type="arabicPeriod"/>
            </a:pPr>
            <a:r>
              <a:rPr lang="en-US" dirty="0">
                <a:solidFill>
                  <a:schemeClr val="tx1">
                    <a:lumMod val="50000"/>
                  </a:schemeClr>
                </a:solidFill>
              </a:rPr>
              <a:t>Collecting and preparing the data</a:t>
            </a:r>
          </a:p>
          <a:p>
            <a:pPr marL="342900" indent="-342900">
              <a:buFont typeface="+mj-lt"/>
              <a:buAutoNum type="arabicPeriod"/>
            </a:pPr>
            <a:r>
              <a:rPr lang="en-US" dirty="0">
                <a:solidFill>
                  <a:schemeClr val="tx1">
                    <a:lumMod val="50000"/>
                  </a:schemeClr>
                </a:solidFill>
              </a:rPr>
              <a:t>Visualizing the results</a:t>
            </a:r>
          </a:p>
          <a:p>
            <a:pPr marL="342900" indent="-342900">
              <a:buFont typeface="+mj-lt"/>
              <a:buAutoNum type="arabicPeriod"/>
            </a:pPr>
            <a:r>
              <a:rPr lang="en-US" dirty="0">
                <a:solidFill>
                  <a:srgbClr val="FFFF00"/>
                </a:solidFill>
              </a:rPr>
              <a:t>Testing the hypothesis</a:t>
            </a:r>
          </a:p>
          <a:p>
            <a:pPr marL="342900" indent="-342900">
              <a:buFont typeface="+mj-lt"/>
              <a:buAutoNum type="arabicPeriod"/>
            </a:pPr>
            <a:r>
              <a:rPr lang="en-US" dirty="0">
                <a:solidFill>
                  <a:schemeClr val="tx1">
                    <a:lumMod val="50000"/>
                  </a:schemeClr>
                </a:solidFill>
              </a:rPr>
              <a:t>Drawing conclusions</a:t>
            </a:r>
          </a:p>
        </p:txBody>
      </p:sp>
      <p:sp>
        <p:nvSpPr>
          <p:cNvPr id="7" name="TextBox 6">
            <a:extLst>
              <a:ext uri="{FF2B5EF4-FFF2-40B4-BE49-F238E27FC236}">
                <a16:creationId xmlns:a16="http://schemas.microsoft.com/office/drawing/2014/main" id="{5038C4EA-746E-A25E-87A3-6ABD9D620718}"/>
              </a:ext>
            </a:extLst>
          </p:cNvPr>
          <p:cNvSpPr txBox="1"/>
          <p:nvPr/>
        </p:nvSpPr>
        <p:spPr>
          <a:xfrm>
            <a:off x="1927371" y="4080892"/>
            <a:ext cx="4473429" cy="1200329"/>
          </a:xfrm>
          <a:prstGeom prst="rect">
            <a:avLst/>
          </a:prstGeom>
          <a:noFill/>
        </p:spPr>
        <p:txBody>
          <a:bodyPr wrap="square">
            <a:spAutoFit/>
          </a:bodyPr>
          <a:lstStyle/>
          <a:p>
            <a:pPr marL="285750" indent="-285750">
              <a:buFont typeface="Arial" panose="020B0604020202020204" pitchFamily="34" charset="0"/>
              <a:buChar char="•"/>
            </a:pPr>
            <a:r>
              <a:rPr lang="en-US" dirty="0">
                <a:solidFill>
                  <a:srgbClr val="FFFF00"/>
                </a:solidFill>
              </a:rPr>
              <a:t>z statistic: -0.34</a:t>
            </a:r>
          </a:p>
          <a:p>
            <a:pPr marL="285750" indent="-285750">
              <a:buFont typeface="Arial" panose="020B0604020202020204" pitchFamily="34" charset="0"/>
              <a:buChar char="•"/>
            </a:pPr>
            <a:r>
              <a:rPr lang="en-US" dirty="0">
                <a:solidFill>
                  <a:srgbClr val="FFFF00"/>
                </a:solidFill>
              </a:rPr>
              <a:t>p-value: 0.732</a:t>
            </a:r>
          </a:p>
          <a:p>
            <a:pPr marL="285750" indent="-285750">
              <a:buFont typeface="Arial" panose="020B0604020202020204" pitchFamily="34" charset="0"/>
              <a:buChar char="•"/>
            </a:pPr>
            <a:r>
              <a:rPr lang="en-US" dirty="0">
                <a:solidFill>
                  <a:srgbClr val="FFFF00"/>
                </a:solidFill>
              </a:rPr>
              <a:t>ci 95% for control group: [0.114, 0.133]</a:t>
            </a:r>
          </a:p>
          <a:p>
            <a:pPr marL="285750" indent="-285750">
              <a:buFont typeface="Arial" panose="020B0604020202020204" pitchFamily="34" charset="0"/>
              <a:buChar char="•"/>
            </a:pPr>
            <a:r>
              <a:rPr lang="en-US" dirty="0">
                <a:solidFill>
                  <a:srgbClr val="FFFF00"/>
                </a:solidFill>
              </a:rPr>
              <a:t>ci 95% for treatment group: [0.116, 0.135]</a:t>
            </a:r>
          </a:p>
        </p:txBody>
      </p:sp>
      <p:sp>
        <p:nvSpPr>
          <p:cNvPr id="3" name="TextBox 2">
            <a:extLst>
              <a:ext uri="{FF2B5EF4-FFF2-40B4-BE49-F238E27FC236}">
                <a16:creationId xmlns:a16="http://schemas.microsoft.com/office/drawing/2014/main" id="{6A1CFDC4-3EC3-6167-95D2-8155431F8C2F}"/>
              </a:ext>
            </a:extLst>
          </p:cNvPr>
          <p:cNvSpPr txBox="1"/>
          <p:nvPr/>
        </p:nvSpPr>
        <p:spPr>
          <a:xfrm>
            <a:off x="2097248" y="3244334"/>
            <a:ext cx="2986480" cy="646331"/>
          </a:xfrm>
          <a:prstGeom prst="rect">
            <a:avLst/>
          </a:prstGeom>
          <a:noFill/>
        </p:spPr>
        <p:txBody>
          <a:bodyPr wrap="square" rtlCol="0">
            <a:spAutoFit/>
          </a:bodyPr>
          <a:lstStyle/>
          <a:p>
            <a:r>
              <a:rPr lang="en-US" dirty="0">
                <a:solidFill>
                  <a:srgbClr val="FFFF00"/>
                </a:solidFill>
              </a:rPr>
              <a:t>Test Result(using z-Test for Proportions, Two Samples)</a:t>
            </a:r>
          </a:p>
        </p:txBody>
      </p:sp>
      <p:pic>
        <p:nvPicPr>
          <p:cNvPr id="4" name="Picture 3">
            <a:extLst>
              <a:ext uri="{FF2B5EF4-FFF2-40B4-BE49-F238E27FC236}">
                <a16:creationId xmlns:a16="http://schemas.microsoft.com/office/drawing/2014/main" id="{E4394A20-C900-E3FD-7A63-EE97DC6F51B0}"/>
              </a:ext>
            </a:extLst>
          </p:cNvPr>
          <p:cNvPicPr>
            <a:picLocks noChangeAspect="1"/>
          </p:cNvPicPr>
          <p:nvPr/>
        </p:nvPicPr>
        <p:blipFill>
          <a:blip r:embed="rId2"/>
          <a:stretch>
            <a:fillRect/>
          </a:stretch>
        </p:blipFill>
        <p:spPr>
          <a:xfrm>
            <a:off x="6857625" y="3070646"/>
            <a:ext cx="4958005" cy="2338549"/>
          </a:xfrm>
          <a:prstGeom prst="rect">
            <a:avLst/>
          </a:prstGeom>
        </p:spPr>
      </p:pic>
    </p:spTree>
    <p:extLst>
      <p:ext uri="{BB962C8B-B14F-4D97-AF65-F5344CB8AC3E}">
        <p14:creationId xmlns:p14="http://schemas.microsoft.com/office/powerpoint/2010/main" val="8303237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849AAB26-4E11-BA00-8BD3-6A0F5D47351C}"/>
              </a:ext>
            </a:extLst>
          </p:cNvPr>
          <p:cNvSpPr txBox="1"/>
          <p:nvPr/>
        </p:nvSpPr>
        <p:spPr>
          <a:xfrm>
            <a:off x="2936413" y="239367"/>
            <a:ext cx="6096000" cy="769441"/>
          </a:xfrm>
          <a:prstGeom prst="rect">
            <a:avLst/>
          </a:prstGeom>
          <a:noFill/>
        </p:spPr>
        <p:txBody>
          <a:bodyPr wrap="square">
            <a:spAutoFit/>
          </a:bodyPr>
          <a:lstStyle/>
          <a:p>
            <a:pPr algn="ctr"/>
            <a:r>
              <a:rPr lang="en-US" sz="4400" b="1" i="0" dirty="0">
                <a:solidFill>
                  <a:srgbClr val="FFC000"/>
                </a:solidFill>
                <a:effectLst/>
                <a:latin typeface="Helvetica Neue"/>
              </a:rPr>
              <a:t>A/B testing steps</a:t>
            </a:r>
          </a:p>
        </p:txBody>
      </p:sp>
      <p:sp>
        <p:nvSpPr>
          <p:cNvPr id="14" name="TextBox 13">
            <a:extLst>
              <a:ext uri="{FF2B5EF4-FFF2-40B4-BE49-F238E27FC236}">
                <a16:creationId xmlns:a16="http://schemas.microsoft.com/office/drawing/2014/main" id="{7A5B111D-49BC-F5A6-7A69-616EF9492FA0}"/>
              </a:ext>
            </a:extLst>
          </p:cNvPr>
          <p:cNvSpPr txBox="1"/>
          <p:nvPr/>
        </p:nvSpPr>
        <p:spPr>
          <a:xfrm>
            <a:off x="3995256" y="1008808"/>
            <a:ext cx="6094602" cy="1477328"/>
          </a:xfrm>
          <a:prstGeom prst="rect">
            <a:avLst/>
          </a:prstGeom>
          <a:noFill/>
        </p:spPr>
        <p:txBody>
          <a:bodyPr wrap="square">
            <a:spAutoFit/>
          </a:bodyPr>
          <a:lstStyle/>
          <a:p>
            <a:pPr marL="342900" indent="-342900">
              <a:buFont typeface="+mj-lt"/>
              <a:buAutoNum type="arabicPeriod"/>
            </a:pPr>
            <a:r>
              <a:rPr lang="en-US" dirty="0">
                <a:solidFill>
                  <a:schemeClr val="tx1">
                    <a:lumMod val="50000"/>
                  </a:schemeClr>
                </a:solidFill>
              </a:rPr>
              <a:t>Designing our experiment</a:t>
            </a:r>
          </a:p>
          <a:p>
            <a:pPr marL="342900" indent="-342900">
              <a:buFont typeface="+mj-lt"/>
              <a:buAutoNum type="arabicPeriod"/>
            </a:pPr>
            <a:r>
              <a:rPr lang="en-US" dirty="0">
                <a:solidFill>
                  <a:schemeClr val="tx1">
                    <a:lumMod val="50000"/>
                  </a:schemeClr>
                </a:solidFill>
              </a:rPr>
              <a:t>Collecting and preparing the data</a:t>
            </a:r>
          </a:p>
          <a:p>
            <a:pPr marL="342900" indent="-342900">
              <a:buFont typeface="+mj-lt"/>
              <a:buAutoNum type="arabicPeriod"/>
            </a:pPr>
            <a:r>
              <a:rPr lang="en-US" dirty="0">
                <a:solidFill>
                  <a:schemeClr val="tx1">
                    <a:lumMod val="50000"/>
                  </a:schemeClr>
                </a:solidFill>
              </a:rPr>
              <a:t>Visualizing the results</a:t>
            </a:r>
          </a:p>
          <a:p>
            <a:pPr marL="342900" indent="-342900">
              <a:buFont typeface="+mj-lt"/>
              <a:buAutoNum type="arabicPeriod"/>
            </a:pPr>
            <a:r>
              <a:rPr lang="en-US" dirty="0">
                <a:solidFill>
                  <a:srgbClr val="FFFF00"/>
                </a:solidFill>
              </a:rPr>
              <a:t>Testing the hypothesis</a:t>
            </a:r>
          </a:p>
          <a:p>
            <a:pPr marL="342900" indent="-342900">
              <a:buFont typeface="+mj-lt"/>
              <a:buAutoNum type="arabicPeriod"/>
            </a:pPr>
            <a:r>
              <a:rPr lang="en-US" dirty="0">
                <a:solidFill>
                  <a:schemeClr val="tx1">
                    <a:lumMod val="50000"/>
                  </a:schemeClr>
                </a:solidFill>
              </a:rPr>
              <a:t>Drawing conclusions</a:t>
            </a:r>
          </a:p>
        </p:txBody>
      </p:sp>
      <p:sp>
        <p:nvSpPr>
          <p:cNvPr id="7" name="TextBox 6">
            <a:extLst>
              <a:ext uri="{FF2B5EF4-FFF2-40B4-BE49-F238E27FC236}">
                <a16:creationId xmlns:a16="http://schemas.microsoft.com/office/drawing/2014/main" id="{5038C4EA-746E-A25E-87A3-6ABD9D620718}"/>
              </a:ext>
            </a:extLst>
          </p:cNvPr>
          <p:cNvSpPr txBox="1"/>
          <p:nvPr/>
        </p:nvSpPr>
        <p:spPr>
          <a:xfrm>
            <a:off x="1927371" y="4080892"/>
            <a:ext cx="6094602" cy="1200329"/>
          </a:xfrm>
          <a:prstGeom prst="rect">
            <a:avLst/>
          </a:prstGeom>
          <a:noFill/>
        </p:spPr>
        <p:txBody>
          <a:bodyPr wrap="square">
            <a:spAutoFit/>
          </a:bodyPr>
          <a:lstStyle/>
          <a:p>
            <a:pPr marL="285750" indent="-285750">
              <a:buFont typeface="Arial" panose="020B0604020202020204" pitchFamily="34" charset="0"/>
              <a:buChar char="•"/>
            </a:pPr>
            <a:r>
              <a:rPr lang="en-US" dirty="0">
                <a:solidFill>
                  <a:srgbClr val="FFFF00"/>
                </a:solidFill>
              </a:rPr>
              <a:t>z statistic: -0.34</a:t>
            </a:r>
          </a:p>
          <a:p>
            <a:pPr marL="285750" indent="-285750">
              <a:buFont typeface="Arial" panose="020B0604020202020204" pitchFamily="34" charset="0"/>
              <a:buChar char="•"/>
            </a:pPr>
            <a:r>
              <a:rPr lang="en-US" dirty="0">
                <a:solidFill>
                  <a:srgbClr val="FFFF00"/>
                </a:solidFill>
              </a:rPr>
              <a:t>p-value: 0.732</a:t>
            </a:r>
          </a:p>
          <a:p>
            <a:pPr marL="285750" indent="-285750">
              <a:buFont typeface="Arial" panose="020B0604020202020204" pitchFamily="34" charset="0"/>
              <a:buChar char="•"/>
            </a:pPr>
            <a:r>
              <a:rPr lang="en-US" dirty="0">
                <a:solidFill>
                  <a:srgbClr val="FFFF00"/>
                </a:solidFill>
              </a:rPr>
              <a:t>ci 95% for control group: [0.114, 0.133]</a:t>
            </a:r>
          </a:p>
          <a:p>
            <a:pPr marL="285750" indent="-285750">
              <a:buFont typeface="Arial" panose="020B0604020202020204" pitchFamily="34" charset="0"/>
              <a:buChar char="•"/>
            </a:pPr>
            <a:r>
              <a:rPr lang="en-US" dirty="0">
                <a:solidFill>
                  <a:srgbClr val="FFFF00"/>
                </a:solidFill>
              </a:rPr>
              <a:t>ci 95% for treatment group: [0.116, 0.135]</a:t>
            </a:r>
          </a:p>
        </p:txBody>
      </p:sp>
      <p:sp>
        <p:nvSpPr>
          <p:cNvPr id="3" name="TextBox 2">
            <a:extLst>
              <a:ext uri="{FF2B5EF4-FFF2-40B4-BE49-F238E27FC236}">
                <a16:creationId xmlns:a16="http://schemas.microsoft.com/office/drawing/2014/main" id="{6A1CFDC4-3EC3-6167-95D2-8155431F8C2F}"/>
              </a:ext>
            </a:extLst>
          </p:cNvPr>
          <p:cNvSpPr txBox="1"/>
          <p:nvPr/>
        </p:nvSpPr>
        <p:spPr>
          <a:xfrm>
            <a:off x="2097248" y="3244334"/>
            <a:ext cx="2986480" cy="646331"/>
          </a:xfrm>
          <a:prstGeom prst="rect">
            <a:avLst/>
          </a:prstGeom>
          <a:noFill/>
        </p:spPr>
        <p:txBody>
          <a:bodyPr wrap="square" rtlCol="0">
            <a:spAutoFit/>
          </a:bodyPr>
          <a:lstStyle/>
          <a:p>
            <a:r>
              <a:rPr lang="en-US" dirty="0">
                <a:solidFill>
                  <a:srgbClr val="FFFF00"/>
                </a:solidFill>
              </a:rPr>
              <a:t>Test Result(using z-Test for Proportions, Two Samples)</a:t>
            </a:r>
          </a:p>
        </p:txBody>
      </p:sp>
      <p:pic>
        <p:nvPicPr>
          <p:cNvPr id="8" name="Picture 7">
            <a:extLst>
              <a:ext uri="{FF2B5EF4-FFF2-40B4-BE49-F238E27FC236}">
                <a16:creationId xmlns:a16="http://schemas.microsoft.com/office/drawing/2014/main" id="{2B62B9EA-DD93-282B-A1CF-D1451A09968E}"/>
              </a:ext>
            </a:extLst>
          </p:cNvPr>
          <p:cNvPicPr>
            <a:picLocks noChangeAspect="1"/>
          </p:cNvPicPr>
          <p:nvPr/>
        </p:nvPicPr>
        <p:blipFill>
          <a:blip r:embed="rId2"/>
          <a:stretch>
            <a:fillRect/>
          </a:stretch>
        </p:blipFill>
        <p:spPr>
          <a:xfrm>
            <a:off x="6916138" y="2741312"/>
            <a:ext cx="4828449" cy="3261105"/>
          </a:xfrm>
          <a:prstGeom prst="rect">
            <a:avLst/>
          </a:prstGeom>
        </p:spPr>
      </p:pic>
    </p:spTree>
    <p:extLst>
      <p:ext uri="{BB962C8B-B14F-4D97-AF65-F5344CB8AC3E}">
        <p14:creationId xmlns:p14="http://schemas.microsoft.com/office/powerpoint/2010/main" val="41196530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849AAB26-4E11-BA00-8BD3-6A0F5D47351C}"/>
              </a:ext>
            </a:extLst>
          </p:cNvPr>
          <p:cNvSpPr txBox="1"/>
          <p:nvPr/>
        </p:nvSpPr>
        <p:spPr>
          <a:xfrm>
            <a:off x="2936413" y="239367"/>
            <a:ext cx="6096000" cy="769441"/>
          </a:xfrm>
          <a:prstGeom prst="rect">
            <a:avLst/>
          </a:prstGeom>
          <a:noFill/>
        </p:spPr>
        <p:txBody>
          <a:bodyPr wrap="square">
            <a:spAutoFit/>
          </a:bodyPr>
          <a:lstStyle/>
          <a:p>
            <a:pPr algn="ctr"/>
            <a:r>
              <a:rPr lang="en-US" sz="4400" b="1" i="0" dirty="0">
                <a:solidFill>
                  <a:srgbClr val="FFC000"/>
                </a:solidFill>
                <a:effectLst/>
                <a:latin typeface="Helvetica Neue"/>
              </a:rPr>
              <a:t>A/B testing steps</a:t>
            </a:r>
          </a:p>
        </p:txBody>
      </p:sp>
      <p:sp>
        <p:nvSpPr>
          <p:cNvPr id="14" name="TextBox 13">
            <a:extLst>
              <a:ext uri="{FF2B5EF4-FFF2-40B4-BE49-F238E27FC236}">
                <a16:creationId xmlns:a16="http://schemas.microsoft.com/office/drawing/2014/main" id="{7A5B111D-49BC-F5A6-7A69-616EF9492FA0}"/>
              </a:ext>
            </a:extLst>
          </p:cNvPr>
          <p:cNvSpPr txBox="1"/>
          <p:nvPr/>
        </p:nvSpPr>
        <p:spPr>
          <a:xfrm>
            <a:off x="3995256" y="1008808"/>
            <a:ext cx="6094602" cy="1477328"/>
          </a:xfrm>
          <a:prstGeom prst="rect">
            <a:avLst/>
          </a:prstGeom>
          <a:noFill/>
        </p:spPr>
        <p:txBody>
          <a:bodyPr wrap="square">
            <a:spAutoFit/>
          </a:bodyPr>
          <a:lstStyle/>
          <a:p>
            <a:pPr marL="342900" indent="-342900">
              <a:buFont typeface="+mj-lt"/>
              <a:buAutoNum type="arabicPeriod"/>
            </a:pPr>
            <a:r>
              <a:rPr lang="en-US" dirty="0">
                <a:solidFill>
                  <a:schemeClr val="tx1">
                    <a:lumMod val="50000"/>
                  </a:schemeClr>
                </a:solidFill>
              </a:rPr>
              <a:t>Designing our experiment</a:t>
            </a:r>
          </a:p>
          <a:p>
            <a:pPr marL="342900" indent="-342900">
              <a:buFont typeface="+mj-lt"/>
              <a:buAutoNum type="arabicPeriod"/>
            </a:pPr>
            <a:r>
              <a:rPr lang="en-US" dirty="0">
                <a:solidFill>
                  <a:schemeClr val="tx1">
                    <a:lumMod val="50000"/>
                  </a:schemeClr>
                </a:solidFill>
              </a:rPr>
              <a:t>Collecting and preparing the data</a:t>
            </a:r>
          </a:p>
          <a:p>
            <a:pPr marL="342900" indent="-342900">
              <a:buFont typeface="+mj-lt"/>
              <a:buAutoNum type="arabicPeriod"/>
            </a:pPr>
            <a:r>
              <a:rPr lang="en-US" dirty="0">
                <a:solidFill>
                  <a:schemeClr val="tx1">
                    <a:lumMod val="50000"/>
                  </a:schemeClr>
                </a:solidFill>
              </a:rPr>
              <a:t>Visualizing the results</a:t>
            </a:r>
          </a:p>
          <a:p>
            <a:pPr marL="342900" indent="-342900">
              <a:buFont typeface="+mj-lt"/>
              <a:buAutoNum type="arabicPeriod"/>
            </a:pPr>
            <a:r>
              <a:rPr lang="en-US" dirty="0">
                <a:solidFill>
                  <a:srgbClr val="FFFF00"/>
                </a:solidFill>
              </a:rPr>
              <a:t>Testing the hypothesis</a:t>
            </a:r>
          </a:p>
          <a:p>
            <a:pPr marL="342900" indent="-342900">
              <a:buFont typeface="+mj-lt"/>
              <a:buAutoNum type="arabicPeriod"/>
            </a:pPr>
            <a:r>
              <a:rPr lang="en-US" dirty="0">
                <a:solidFill>
                  <a:schemeClr val="tx1">
                    <a:lumMod val="50000"/>
                  </a:schemeClr>
                </a:solidFill>
              </a:rPr>
              <a:t>Drawing conclusions</a:t>
            </a:r>
          </a:p>
        </p:txBody>
      </p:sp>
      <p:sp>
        <p:nvSpPr>
          <p:cNvPr id="7" name="TextBox 6">
            <a:extLst>
              <a:ext uri="{FF2B5EF4-FFF2-40B4-BE49-F238E27FC236}">
                <a16:creationId xmlns:a16="http://schemas.microsoft.com/office/drawing/2014/main" id="{5038C4EA-746E-A25E-87A3-6ABD9D620718}"/>
              </a:ext>
            </a:extLst>
          </p:cNvPr>
          <p:cNvSpPr txBox="1"/>
          <p:nvPr/>
        </p:nvSpPr>
        <p:spPr>
          <a:xfrm>
            <a:off x="1927371" y="4080892"/>
            <a:ext cx="6094602" cy="1200329"/>
          </a:xfrm>
          <a:prstGeom prst="rect">
            <a:avLst/>
          </a:prstGeom>
          <a:noFill/>
        </p:spPr>
        <p:txBody>
          <a:bodyPr wrap="square">
            <a:spAutoFit/>
          </a:bodyPr>
          <a:lstStyle/>
          <a:p>
            <a:pPr marL="285750" indent="-285750">
              <a:buFont typeface="Arial" panose="020B0604020202020204" pitchFamily="34" charset="0"/>
              <a:buChar char="•"/>
            </a:pPr>
            <a:r>
              <a:rPr lang="en-US" dirty="0">
                <a:solidFill>
                  <a:srgbClr val="FFFF00"/>
                </a:solidFill>
              </a:rPr>
              <a:t>z statistic: -0.34</a:t>
            </a:r>
          </a:p>
          <a:p>
            <a:pPr marL="285750" indent="-285750">
              <a:buFont typeface="Arial" panose="020B0604020202020204" pitchFamily="34" charset="0"/>
              <a:buChar char="•"/>
            </a:pPr>
            <a:r>
              <a:rPr lang="en-US" dirty="0">
                <a:solidFill>
                  <a:srgbClr val="FFFF00"/>
                </a:solidFill>
              </a:rPr>
              <a:t>p-value: 0.732</a:t>
            </a:r>
          </a:p>
          <a:p>
            <a:pPr marL="285750" indent="-285750">
              <a:buFont typeface="Arial" panose="020B0604020202020204" pitchFamily="34" charset="0"/>
              <a:buChar char="•"/>
            </a:pPr>
            <a:r>
              <a:rPr lang="en-US" dirty="0">
                <a:solidFill>
                  <a:srgbClr val="FFFF00"/>
                </a:solidFill>
              </a:rPr>
              <a:t>ci 95% for control group: [0.114, 0.133]</a:t>
            </a:r>
          </a:p>
          <a:p>
            <a:pPr marL="285750" indent="-285750">
              <a:buFont typeface="Arial" panose="020B0604020202020204" pitchFamily="34" charset="0"/>
              <a:buChar char="•"/>
            </a:pPr>
            <a:r>
              <a:rPr lang="en-US" dirty="0">
                <a:solidFill>
                  <a:srgbClr val="FFFF00"/>
                </a:solidFill>
              </a:rPr>
              <a:t>ci 95% for treatment group: [0.116, 0.135]</a:t>
            </a:r>
          </a:p>
        </p:txBody>
      </p:sp>
      <p:sp>
        <p:nvSpPr>
          <p:cNvPr id="3" name="TextBox 2">
            <a:extLst>
              <a:ext uri="{FF2B5EF4-FFF2-40B4-BE49-F238E27FC236}">
                <a16:creationId xmlns:a16="http://schemas.microsoft.com/office/drawing/2014/main" id="{6A1CFDC4-3EC3-6167-95D2-8155431F8C2F}"/>
              </a:ext>
            </a:extLst>
          </p:cNvPr>
          <p:cNvSpPr txBox="1"/>
          <p:nvPr/>
        </p:nvSpPr>
        <p:spPr>
          <a:xfrm>
            <a:off x="2097248" y="3244334"/>
            <a:ext cx="2986480" cy="646331"/>
          </a:xfrm>
          <a:prstGeom prst="rect">
            <a:avLst/>
          </a:prstGeom>
          <a:noFill/>
        </p:spPr>
        <p:txBody>
          <a:bodyPr wrap="square" rtlCol="0">
            <a:spAutoFit/>
          </a:bodyPr>
          <a:lstStyle/>
          <a:p>
            <a:r>
              <a:rPr lang="en-US" dirty="0">
                <a:solidFill>
                  <a:srgbClr val="FFFF00"/>
                </a:solidFill>
              </a:rPr>
              <a:t>Test Result(using z-Test for Proportions, Two Samples)</a:t>
            </a:r>
          </a:p>
        </p:txBody>
      </p:sp>
      <p:sp>
        <p:nvSpPr>
          <p:cNvPr id="9" name="TextBox 8">
            <a:extLst>
              <a:ext uri="{FF2B5EF4-FFF2-40B4-BE49-F238E27FC236}">
                <a16:creationId xmlns:a16="http://schemas.microsoft.com/office/drawing/2014/main" id="{C1A9CBDB-1D3D-C92E-BF09-BBC502042E80}"/>
              </a:ext>
            </a:extLst>
          </p:cNvPr>
          <p:cNvSpPr txBox="1"/>
          <p:nvPr/>
        </p:nvSpPr>
        <p:spPr>
          <a:xfrm>
            <a:off x="5984413" y="3567499"/>
            <a:ext cx="6094602" cy="830997"/>
          </a:xfrm>
          <a:prstGeom prst="rect">
            <a:avLst/>
          </a:prstGeom>
          <a:noFill/>
        </p:spPr>
        <p:txBody>
          <a:bodyPr wrap="square">
            <a:spAutoFit/>
          </a:bodyPr>
          <a:lstStyle/>
          <a:p>
            <a:r>
              <a:rPr lang="en-US" sz="1200" dirty="0">
                <a:solidFill>
                  <a:srgbClr val="FFFF00"/>
                </a:solidFill>
              </a:rPr>
              <a:t>A confidence interval (CI) is the mean of your estimate plus and minus the variation in that estimate. This is the range of values you expect your estimate to fall between if you redo your test, within a certain level of confidence. Confidence, in statistics, is another way to describe probability</a:t>
            </a:r>
          </a:p>
        </p:txBody>
      </p:sp>
    </p:spTree>
    <p:extLst>
      <p:ext uri="{BB962C8B-B14F-4D97-AF65-F5344CB8AC3E}">
        <p14:creationId xmlns:p14="http://schemas.microsoft.com/office/powerpoint/2010/main" val="30886205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849AAB26-4E11-BA00-8BD3-6A0F5D47351C}"/>
              </a:ext>
            </a:extLst>
          </p:cNvPr>
          <p:cNvSpPr txBox="1"/>
          <p:nvPr/>
        </p:nvSpPr>
        <p:spPr>
          <a:xfrm>
            <a:off x="2969969" y="303560"/>
            <a:ext cx="6096000" cy="769441"/>
          </a:xfrm>
          <a:prstGeom prst="rect">
            <a:avLst/>
          </a:prstGeom>
          <a:noFill/>
        </p:spPr>
        <p:txBody>
          <a:bodyPr wrap="square">
            <a:spAutoFit/>
          </a:bodyPr>
          <a:lstStyle/>
          <a:p>
            <a:pPr algn="ctr"/>
            <a:r>
              <a:rPr lang="en-US" sz="4400" b="1" i="0" dirty="0">
                <a:solidFill>
                  <a:srgbClr val="FFC000"/>
                </a:solidFill>
                <a:effectLst/>
                <a:latin typeface="Helvetica Neue"/>
              </a:rPr>
              <a:t>A/B testing steps</a:t>
            </a:r>
          </a:p>
        </p:txBody>
      </p:sp>
      <p:sp>
        <p:nvSpPr>
          <p:cNvPr id="14" name="TextBox 13">
            <a:extLst>
              <a:ext uri="{FF2B5EF4-FFF2-40B4-BE49-F238E27FC236}">
                <a16:creationId xmlns:a16="http://schemas.microsoft.com/office/drawing/2014/main" id="{7A5B111D-49BC-F5A6-7A69-616EF9492FA0}"/>
              </a:ext>
            </a:extLst>
          </p:cNvPr>
          <p:cNvSpPr txBox="1"/>
          <p:nvPr/>
        </p:nvSpPr>
        <p:spPr>
          <a:xfrm>
            <a:off x="3944922" y="1515878"/>
            <a:ext cx="6094602" cy="1477328"/>
          </a:xfrm>
          <a:prstGeom prst="rect">
            <a:avLst/>
          </a:prstGeom>
          <a:noFill/>
        </p:spPr>
        <p:txBody>
          <a:bodyPr wrap="square">
            <a:spAutoFit/>
          </a:bodyPr>
          <a:lstStyle/>
          <a:p>
            <a:pPr marL="342900" indent="-342900">
              <a:buFont typeface="+mj-lt"/>
              <a:buAutoNum type="arabicPeriod"/>
            </a:pPr>
            <a:r>
              <a:rPr lang="en-US" dirty="0">
                <a:solidFill>
                  <a:schemeClr val="tx1">
                    <a:lumMod val="50000"/>
                  </a:schemeClr>
                </a:solidFill>
              </a:rPr>
              <a:t>Designing our experiment</a:t>
            </a:r>
          </a:p>
          <a:p>
            <a:pPr marL="342900" indent="-342900">
              <a:buFont typeface="+mj-lt"/>
              <a:buAutoNum type="arabicPeriod"/>
            </a:pPr>
            <a:r>
              <a:rPr lang="en-US" dirty="0">
                <a:solidFill>
                  <a:schemeClr val="tx1">
                    <a:lumMod val="50000"/>
                  </a:schemeClr>
                </a:solidFill>
              </a:rPr>
              <a:t>Collecting and preparing the data</a:t>
            </a:r>
          </a:p>
          <a:p>
            <a:pPr marL="342900" indent="-342900">
              <a:buFont typeface="+mj-lt"/>
              <a:buAutoNum type="arabicPeriod"/>
            </a:pPr>
            <a:r>
              <a:rPr lang="en-US" dirty="0">
                <a:solidFill>
                  <a:schemeClr val="tx1">
                    <a:lumMod val="50000"/>
                  </a:schemeClr>
                </a:solidFill>
              </a:rPr>
              <a:t>Visualizing the results</a:t>
            </a:r>
          </a:p>
          <a:p>
            <a:pPr marL="342900" indent="-342900">
              <a:buFont typeface="+mj-lt"/>
              <a:buAutoNum type="arabicPeriod"/>
            </a:pPr>
            <a:r>
              <a:rPr lang="en-US" dirty="0">
                <a:solidFill>
                  <a:schemeClr val="tx1">
                    <a:lumMod val="50000"/>
                  </a:schemeClr>
                </a:solidFill>
              </a:rPr>
              <a:t>Testing the hypothesis</a:t>
            </a:r>
          </a:p>
          <a:p>
            <a:pPr marL="342900" indent="-342900">
              <a:buFont typeface="+mj-lt"/>
              <a:buAutoNum type="arabicPeriod"/>
            </a:pPr>
            <a:r>
              <a:rPr lang="en-US" dirty="0">
                <a:solidFill>
                  <a:srgbClr val="FFFF00"/>
                </a:solidFill>
              </a:rPr>
              <a:t>Drawing conclusions</a:t>
            </a:r>
          </a:p>
        </p:txBody>
      </p:sp>
      <p:sp>
        <p:nvSpPr>
          <p:cNvPr id="8" name="TextBox 7">
            <a:extLst>
              <a:ext uri="{FF2B5EF4-FFF2-40B4-BE49-F238E27FC236}">
                <a16:creationId xmlns:a16="http://schemas.microsoft.com/office/drawing/2014/main" id="{0E9688BC-49B4-0A83-7280-809D36A2C766}"/>
              </a:ext>
            </a:extLst>
          </p:cNvPr>
          <p:cNvSpPr txBox="1"/>
          <p:nvPr/>
        </p:nvSpPr>
        <p:spPr>
          <a:xfrm>
            <a:off x="3198303" y="3429000"/>
            <a:ext cx="6094602" cy="1615827"/>
          </a:xfrm>
          <a:prstGeom prst="rect">
            <a:avLst/>
          </a:prstGeom>
          <a:noFill/>
        </p:spPr>
        <p:txBody>
          <a:bodyPr wrap="square">
            <a:spAutoFit/>
          </a:bodyPr>
          <a:lstStyle/>
          <a:p>
            <a:r>
              <a:rPr lang="en-US" sz="1100" dirty="0"/>
              <a:t>Since our 𝑝-value=0.732 is way above our 𝛼=0.05, we cannot reject the null hypothesis 𝐻0, which means that our new design did not perform significantly different (let alone better) than our old one </a:t>
            </a:r>
          </a:p>
          <a:p>
            <a:r>
              <a:rPr lang="en-US" sz="1100" dirty="0"/>
              <a:t>Additionally, if we look at the confidence interval for the treatment group ([0.116, 0.135], i.e. 11.6-13.5%) we notice </a:t>
            </a:r>
            <a:r>
              <a:rPr lang="en-US" sz="1100" dirty="0" err="1"/>
              <a:t>that:It</a:t>
            </a:r>
            <a:r>
              <a:rPr lang="en-US" sz="1100" dirty="0"/>
              <a:t> includes our baseline value of 13% conversion </a:t>
            </a:r>
            <a:r>
              <a:rPr lang="en-US" sz="1100" dirty="0" err="1"/>
              <a:t>rate.It</a:t>
            </a:r>
            <a:r>
              <a:rPr lang="en-US" sz="1100" dirty="0"/>
              <a:t> does not include our target value of 15% (the 2% uplift we were aiming for)</a:t>
            </a:r>
          </a:p>
          <a:p>
            <a:r>
              <a:rPr lang="en-US" sz="1100" dirty="0"/>
              <a:t>What this means is that it is more likely that the true conversion rate of the new design is similar to our baseline, rather than the 15% target we had hoped for. This is further proof that our new design is not likely to be an improvement on our old design, so the conclusion is that the </a:t>
            </a:r>
            <a:r>
              <a:rPr lang="en-US" sz="1100" b="1" u="sng" dirty="0">
                <a:solidFill>
                  <a:srgbClr val="FFFF00"/>
                </a:solidFill>
              </a:rPr>
              <a:t>new web page didn’t make a difference.</a:t>
            </a:r>
          </a:p>
        </p:txBody>
      </p:sp>
    </p:spTree>
    <p:extLst>
      <p:ext uri="{BB962C8B-B14F-4D97-AF65-F5344CB8AC3E}">
        <p14:creationId xmlns:p14="http://schemas.microsoft.com/office/powerpoint/2010/main" val="982958517"/>
      </p:ext>
    </p:extLst>
  </p:cSld>
  <p:clrMapOvr>
    <a:masterClrMapping/>
  </p:clrMapOvr>
</p:sld>
</file>

<file path=ppt/theme/theme1.xml><?xml version="1.0" encoding="utf-8"?>
<a:theme xmlns:a="http://schemas.openxmlformats.org/drawingml/2006/main" name="Depth">
  <a:themeElements>
    <a:clrScheme name="Depth">
      <a:dk1>
        <a:sysClr val="windowText" lastClr="000000"/>
      </a:dk1>
      <a:lt1>
        <a:sysClr val="window" lastClr="FFFFFF"/>
      </a:lt1>
      <a:dk2>
        <a:srgbClr val="455F51"/>
      </a:dk2>
      <a:lt2>
        <a:srgbClr val="94D7E4"/>
      </a:lt2>
      <a:accent1>
        <a:srgbClr val="41AEBD"/>
      </a:accent1>
      <a:accent2>
        <a:srgbClr val="97E9D5"/>
      </a:accent2>
      <a:accent3>
        <a:srgbClr val="A2CF49"/>
      </a:accent3>
      <a:accent4>
        <a:srgbClr val="608F3D"/>
      </a:accent4>
      <a:accent5>
        <a:srgbClr val="F4DE3A"/>
      </a:accent5>
      <a:accent6>
        <a:srgbClr val="FCB11C"/>
      </a:accent6>
      <a:hlink>
        <a:srgbClr val="FBCA98"/>
      </a:hlink>
      <a:folHlink>
        <a:srgbClr val="D3B86D"/>
      </a:folHlink>
    </a:clrScheme>
    <a:fontScheme name="Depth">
      <a:majorFont>
        <a:latin typeface="Corbel" panose="020B0503020204020204"/>
        <a:ea typeface=""/>
        <a:cs typeface=""/>
        <a:font script="Jpan" typeface="メイリオ"/>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メイリオ"/>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epth">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epth" id="{7BEAFC2A-325C-49C4-AC08-2B765DA903F9}" vid="{1735E755-43E6-43AA-ABA2-C989ECC79AF5}"/>
    </a:ext>
  </a:extLst>
</a:theme>
</file>

<file path=docProps/app.xml><?xml version="1.0" encoding="utf-8"?>
<Properties xmlns="http://schemas.openxmlformats.org/officeDocument/2006/extended-properties" xmlns:vt="http://schemas.openxmlformats.org/officeDocument/2006/docPropsVTypes">
  <Template>Depth</Template>
  <TotalTime>201</TotalTime>
  <Words>887</Words>
  <Application>Microsoft Office PowerPoint</Application>
  <PresentationFormat>Widescreen</PresentationFormat>
  <Paragraphs>111</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Helvetica Neue</vt:lpstr>
      <vt:lpstr>Tiempos Text</vt:lpstr>
      <vt:lpstr>Arial</vt:lpstr>
      <vt:lpstr>Corbel</vt:lpstr>
      <vt:lpstr>Depth</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Frank Z</dc:creator>
  <cp:lastModifiedBy>Frank Z</cp:lastModifiedBy>
  <cp:revision>8</cp:revision>
  <dcterms:created xsi:type="dcterms:W3CDTF">2022-06-12T18:00:59Z</dcterms:created>
  <dcterms:modified xsi:type="dcterms:W3CDTF">2022-06-12T21:22:24Z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2022-06-12T18:00:59Z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b755fd11-79f6-449b-a04d-e691c22931c0</vt:lpwstr>
  </property>
  <property fmtid="{D5CDD505-2E9C-101B-9397-08002B2CF9AE}" pid="7" name="MSIP_Label_defa4170-0d19-0005-0004-bc88714345d2_ActionId">
    <vt:lpwstr>2b8ca7b1-6735-4218-9c89-77e1f4405491</vt:lpwstr>
  </property>
  <property fmtid="{D5CDD505-2E9C-101B-9397-08002B2CF9AE}" pid="8" name="MSIP_Label_defa4170-0d19-0005-0004-bc88714345d2_ContentBits">
    <vt:lpwstr>0</vt:lpwstr>
  </property>
</Properties>
</file>