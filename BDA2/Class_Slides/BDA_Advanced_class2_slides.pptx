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528" r:id="rId3"/>
    <p:sldId id="529" r:id="rId4"/>
    <p:sldId id="530" r:id="rId5"/>
    <p:sldId id="531" r:id="rId6"/>
    <p:sldId id="532" r:id="rId7"/>
    <p:sldId id="413" r:id="rId8"/>
    <p:sldId id="386" r:id="rId9"/>
    <p:sldId id="387" r:id="rId10"/>
    <p:sldId id="414" r:id="rId11"/>
    <p:sldId id="389" r:id="rId12"/>
    <p:sldId id="417" r:id="rId13"/>
    <p:sldId id="415" r:id="rId14"/>
    <p:sldId id="391" r:id="rId15"/>
    <p:sldId id="418" r:id="rId16"/>
    <p:sldId id="416" r:id="rId17"/>
    <p:sldId id="394" r:id="rId18"/>
    <p:sldId id="395" r:id="rId19"/>
    <p:sldId id="419" r:id="rId20"/>
    <p:sldId id="396" r:id="rId21"/>
    <p:sldId id="397" r:id="rId22"/>
    <p:sldId id="398" r:id="rId23"/>
    <p:sldId id="399" r:id="rId24"/>
    <p:sldId id="400" r:id="rId25"/>
    <p:sldId id="401" r:id="rId26"/>
    <p:sldId id="402" r:id="rId27"/>
    <p:sldId id="403" r:id="rId28"/>
    <p:sldId id="410" r:id="rId29"/>
    <p:sldId id="407" r:id="rId30"/>
    <p:sldId id="408" r:id="rId31"/>
    <p:sldId id="409" r:id="rId32"/>
    <p:sldId id="404" r:id="rId33"/>
    <p:sldId id="405" r:id="rId34"/>
    <p:sldId id="546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66234747797602"/>
          <c:y val="0.28852716389235294"/>
          <c:w val="0.77917192704699856"/>
          <c:h val="0.518015990572599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Sheet2!$F$1</c:f>
              <c:strCache>
                <c:ptCount val="1"/>
                <c:pt idx="0">
                  <c:v>Average 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Sheet2!$E$2:$E$3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Sheet2!$F$2:$F$3</c:f>
              <c:numCache>
                <c:formatCode>General</c:formatCode>
                <c:ptCount val="2"/>
                <c:pt idx="0">
                  <c:v>26.5</c:v>
                </c:pt>
                <c:pt idx="1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51-4C6E-ADC4-73E1CC046B9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26348512"/>
        <c:axId val="1026350808"/>
      </c:barChart>
      <c:catAx>
        <c:axId val="1026348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6350808"/>
        <c:crosses val="autoZero"/>
        <c:auto val="1"/>
        <c:lblAlgn val="ctr"/>
        <c:lblOffset val="100"/>
        <c:noMultiLvlLbl val="0"/>
      </c:catAx>
      <c:valAx>
        <c:axId val="1026350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6348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484A-4ABD-FE66-2314-D0FFEE0D40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333372-3B2D-B774-E91D-DC31632F4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E1FCE-98DB-131F-438A-5017295D1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EAE82-0C1A-4454-8D7B-310789FE9A40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B486C-56AF-4F61-E9A3-29559D19B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0CBA8-D959-AEB0-4B82-548558EFC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21941-095D-4A64-9BFF-27509CBEE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471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D0458-D2DC-9D32-2652-007479D5E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C838D-FFB0-5D61-9F41-A6AF6A5A5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5C098-A33E-1064-0890-8534E00B3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EAE82-0C1A-4454-8D7B-310789FE9A40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B4770-B39B-4BF7-BBFB-B6DF4FFEE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5DC90-B6D9-10EC-C5CD-CF905CC61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21941-095D-4A64-9BFF-27509CBEE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755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900E7-E95F-997D-F4D0-C355B1EA8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0D729-18BD-F72B-97E3-62DD69DFE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984D3-50CE-D3DD-A95D-733904932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EAE82-0C1A-4454-8D7B-310789FE9A40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3E7A1-0DDD-ED5B-713A-404180849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8BA71-538A-94AB-75B6-123D3129C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21941-095D-4A64-9BFF-27509CBEE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20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D5B97-4A93-69AC-C42F-51E685530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33850-F4D3-381F-A401-DB23924A56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5F44A-3D61-54FF-3362-D9BB2E57A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9FB065-C66B-FDEA-3907-AC4E8AB1A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EAE82-0C1A-4454-8D7B-310789FE9A40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9866B-65B6-60A8-E588-D0FDBF782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AA1FB-B9B2-ED12-FAD7-589F9805E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21941-095D-4A64-9BFF-27509CBEE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236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1B3FD-3A36-DEA5-AD24-EFDDBB861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1EC26-0889-829D-0CEC-A34A9E973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FA0D28-1CAA-BF18-1210-99D37929E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5816AC-2483-8C55-DF5E-409D99972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96F411-4D6F-BFEA-E479-ACB894A9F9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80F08A-1AC2-21A7-FF53-821594737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EAE82-0C1A-4454-8D7B-310789FE9A40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41BE99-08CC-C9AA-84AA-97F8551CB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F54F2A-73CF-2F50-CD78-A4A76BFA7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21941-095D-4A64-9BFF-27509CBEE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216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87F7F-1616-EB5B-0F82-F60DFED82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97A968-21E1-8940-A258-DECD5CD40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EAE82-0C1A-4454-8D7B-310789FE9A40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476166-541B-6DA0-1C48-608D246B2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0A154F-8E0C-9CF7-C428-FE96427D9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21941-095D-4A64-9BFF-27509CBEE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47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1E0B8C-DE5C-A06F-95B5-596329710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EAE82-0C1A-4454-8D7B-310789FE9A40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B1EF2A-830B-47A4-B360-3CE892266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4ED26-4FCF-7EF9-20B4-73E0B27F2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21941-095D-4A64-9BFF-27509CBEE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127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9E49E-5EC3-C2B0-78EA-EA1CDDB63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04F7A-9DD5-FA7C-343A-EEB26392D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7C8D18-498F-59C6-A7C9-C722B48EA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4CB29-6C1B-D890-8C24-ED41A1027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EAE82-0C1A-4454-8D7B-310789FE9A40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7F786-65BE-679C-6AC0-16A93A5D1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38BEB-9DA3-31D6-C556-01A55DC0F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21941-095D-4A64-9BFF-27509CBEE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684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DC989-F5C0-22AF-664A-252DBA39A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E8A33-F15F-185B-B3E5-30EDF2426D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A306DA-E2A9-8D8F-B4D6-8AB985B58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AB225-FCAB-00C6-3CDA-72F711D8B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EAE82-0C1A-4454-8D7B-310789FE9A40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55B9AD-D2EA-1391-0156-A0A2D97E7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6ADECE-5006-A397-D725-02787F1D3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21941-095D-4A64-9BFF-27509CBEE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879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D85DE-CB04-AEB7-3DAF-43E8C6980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73FB6-B17B-8712-A089-C5E849D8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1BBDC-B677-243F-B979-79DF34F55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EAE82-0C1A-4454-8D7B-310789FE9A40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D1874-807C-B8FA-1043-1F40A31AC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DF8EC-4D2D-24BA-D57D-EB9FE217F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21941-095D-4A64-9BFF-27509CBEE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871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A8A3FF-213F-279F-7166-22E326469F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2C0580-C6B6-F901-15AD-0728641867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5FB12-F9E3-7449-5B9F-680F380F7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EAE82-0C1A-4454-8D7B-310789FE9A40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38AC7-4CC8-E2A9-B4E6-1FF04EEC6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91442-97FA-94C8-0D1B-4ACF22CC7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21941-095D-4A64-9BFF-27509CBEE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339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40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50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1828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5975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167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9895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956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877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599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7969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6064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01092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8703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7310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0446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3413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15BD4-B16E-4AC9-9811-6ED0603FEAC9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96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75114D-5251-E27E-E4C1-4E89B1862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64447-CC8C-AD19-1756-EAA37EC28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99ADF-1DAE-D442-3ECE-D67C23B45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2EAE82-0C1A-4454-8D7B-310789FE9A40}" type="datetimeFigureOut">
              <a:rPr lang="en-US" smtClean="0"/>
              <a:t>7/16/2022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ACB19-A058-177A-573F-7C98B7AE8B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3D15C-537D-F8E4-0EE1-AA21EFD32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21941-095D-4A64-9BFF-27509CBEE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458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D2A15BD4-B16E-4AC9-9811-6ED0603FEAC9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A3E132B4-4221-40DE-8395-CEAE3274D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247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747CB-13EF-4E02-9CD6-43266BAB1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理论：到底什么是数据分析？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02D671-8456-46FA-81A4-83BF1DABA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729" y="2317640"/>
            <a:ext cx="2638508" cy="17400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A5F50E-F609-488B-99D2-1EAB933B2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71" y="2220832"/>
            <a:ext cx="2276066" cy="19336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36E4FA-B0BF-46A0-9D77-A3695035A5A8}"/>
              </a:ext>
            </a:extLst>
          </p:cNvPr>
          <p:cNvSpPr txBox="1"/>
          <p:nvPr/>
        </p:nvSpPr>
        <p:spPr>
          <a:xfrm>
            <a:off x="4019744" y="4684617"/>
            <a:ext cx="512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Entropy High(no info)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  <a:sym typeface="Wingdings" panose="05000000000000000000" pitchFamily="2" charset="2"/>
              </a:rPr>
              <a:t> Low(more info)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E623619-8D14-4D2C-B09A-DCC2ACDFC614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>
            <a:off x="3364637" y="3187654"/>
            <a:ext cx="10190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48E90B5D-4B5E-433E-A805-9404016D1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2475" y="2576081"/>
            <a:ext cx="2244663" cy="122314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57AABA8-DF3C-40A8-9814-0CFF67F87106}"/>
              </a:ext>
            </a:extLst>
          </p:cNvPr>
          <p:cNvSpPr txBox="1"/>
          <p:nvPr/>
        </p:nvSpPr>
        <p:spPr>
          <a:xfrm>
            <a:off x="7572652" y="2864486"/>
            <a:ext cx="1722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Good Quality or Bad Quality?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907AC6F-707E-4E58-A1D8-88B250C33F0E}"/>
              </a:ext>
            </a:extLst>
          </p:cNvPr>
          <p:cNvCxnSpPr>
            <a:stCxn id="4" idx="3"/>
          </p:cNvCxnSpPr>
          <p:nvPr/>
        </p:nvCxnSpPr>
        <p:spPr>
          <a:xfrm flipV="1">
            <a:off x="7022237" y="3187652"/>
            <a:ext cx="665825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A9DCBBC-D5FC-412F-B21A-CFB038FA114B}"/>
              </a:ext>
            </a:extLst>
          </p:cNvPr>
          <p:cNvCxnSpPr>
            <a:stCxn id="19" idx="3"/>
            <a:endCxn id="14" idx="1"/>
          </p:cNvCxnSpPr>
          <p:nvPr/>
        </p:nvCxnSpPr>
        <p:spPr>
          <a:xfrm>
            <a:off x="9294920" y="3187652"/>
            <a:ext cx="5275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580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3B614-F134-4021-BB64-FBC6A8F3A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到底什么是数据分析？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B51B89-4468-4335-BA5B-71E303067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568" y="2704268"/>
            <a:ext cx="3057525" cy="1790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21AA9D-C6CC-4007-9535-7520CF068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508" y="2704268"/>
            <a:ext cx="2438400" cy="1762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4BB96C-5ECE-4562-9E2E-482A0ABAA6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2192" y="2973760"/>
            <a:ext cx="2244663" cy="122314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0F1DE8E-FAF4-4677-9E95-F1057D101A9A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4192093" y="3585331"/>
            <a:ext cx="1369415" cy="14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82B9632-2B72-485D-8CBA-B8D915FDEEEE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999908" y="3585331"/>
            <a:ext cx="11922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C80DE6C-1F7B-405D-9611-CA169BA91BD9}"/>
              </a:ext>
            </a:extLst>
          </p:cNvPr>
          <p:cNvSpPr txBox="1"/>
          <p:nvPr/>
        </p:nvSpPr>
        <p:spPr>
          <a:xfrm>
            <a:off x="2663331" y="4864900"/>
            <a:ext cx="512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Entropy High(no info)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  <a:sym typeface="Wingdings" panose="05000000000000000000" pitchFamily="2" charset="2"/>
              </a:rPr>
              <a:t> Low(more info)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4006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BC83A-AF97-41EC-AFF0-F190B7171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3560" y="953850"/>
            <a:ext cx="10131425" cy="1438878"/>
          </a:xfrm>
        </p:spPr>
        <p:txBody>
          <a:bodyPr>
            <a:normAutofit fontScale="90000"/>
          </a:bodyPr>
          <a:lstStyle/>
          <a:p>
            <a:r>
              <a:rPr lang="en-US" dirty="0"/>
              <a:t>Dimension/Categorical  vs Measure/Numerical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D6833C-1381-4502-8195-8BC94881E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672" y="3065016"/>
            <a:ext cx="1876425" cy="16978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C7E817-DA5E-466A-B24A-789B5D8787C8}"/>
              </a:ext>
            </a:extLst>
          </p:cNvPr>
          <p:cNvSpPr txBox="1"/>
          <p:nvPr/>
        </p:nvSpPr>
        <p:spPr>
          <a:xfrm>
            <a:off x="541538" y="2254031"/>
            <a:ext cx="2459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Dimension/Categorical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3F63132-A282-4C2B-843C-826C9928D53D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1771141" y="2623363"/>
            <a:ext cx="1182950" cy="489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EF7B118-8711-4A6C-9651-1D1A00063CC9}"/>
              </a:ext>
            </a:extLst>
          </p:cNvPr>
          <p:cNvSpPr txBox="1"/>
          <p:nvPr/>
        </p:nvSpPr>
        <p:spPr>
          <a:xfrm>
            <a:off x="3076997" y="2177178"/>
            <a:ext cx="2125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Measure/Numerical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89CDBBA-0072-46C8-9046-BC968A6B9DF4}"/>
              </a:ext>
            </a:extLst>
          </p:cNvPr>
          <p:cNvCxnSpPr>
            <a:stCxn id="4" idx="0"/>
            <a:endCxn id="8" idx="2"/>
          </p:cNvCxnSpPr>
          <p:nvPr/>
        </p:nvCxnSpPr>
        <p:spPr>
          <a:xfrm flipV="1">
            <a:off x="3713885" y="2546510"/>
            <a:ext cx="425978" cy="518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1EE3AC1-0E35-4158-92E1-25118139E982}"/>
              </a:ext>
            </a:extLst>
          </p:cNvPr>
          <p:cNvCxnSpPr>
            <a:endCxn id="5" idx="2"/>
          </p:cNvCxnSpPr>
          <p:nvPr/>
        </p:nvCxnSpPr>
        <p:spPr>
          <a:xfrm flipH="1" flipV="1">
            <a:off x="1771141" y="2623363"/>
            <a:ext cx="2490140" cy="489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400B25C-1683-4016-85C8-FD42BC944955}"/>
              </a:ext>
            </a:extLst>
          </p:cNvPr>
          <p:cNvGraphicFramePr>
            <a:graphicFrameLocks noGrp="1"/>
          </p:cNvGraphicFramePr>
          <p:nvPr/>
        </p:nvGraphicFramePr>
        <p:xfrm>
          <a:off x="5687627" y="3628206"/>
          <a:ext cx="1422400" cy="571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6125255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9123019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Gender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Average Age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966984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female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26.5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005342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male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48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6737099"/>
                  </a:ext>
                </a:extLst>
              </a:tr>
            </a:tbl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6CE7EEC9-0260-4F56-AC05-8C98C0347D0C}"/>
              </a:ext>
            </a:extLst>
          </p:cNvPr>
          <p:cNvGraphicFramePr>
            <a:graphicFrameLocks/>
          </p:cNvGraphicFramePr>
          <p:nvPr/>
        </p:nvGraphicFramePr>
        <p:xfrm>
          <a:off x="8145557" y="2846830"/>
          <a:ext cx="2676322" cy="21342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EBABD14-465A-4EE0-88C3-F9575BA65D99}"/>
              </a:ext>
            </a:extLst>
          </p:cNvPr>
          <p:cNvCxnSpPr>
            <a:stCxn id="4" idx="3"/>
            <a:endCxn id="15" idx="1"/>
          </p:cNvCxnSpPr>
          <p:nvPr/>
        </p:nvCxnSpPr>
        <p:spPr>
          <a:xfrm>
            <a:off x="4652097" y="3913956"/>
            <a:ext cx="10355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DF9B8CD-F06C-45D7-B687-8C8DB176755B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7110027" y="3913956"/>
            <a:ext cx="10355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C71B75C-FD62-4874-A5E0-0ED97A85D3CF}"/>
              </a:ext>
            </a:extLst>
          </p:cNvPr>
          <p:cNvSpPr txBox="1"/>
          <p:nvPr/>
        </p:nvSpPr>
        <p:spPr>
          <a:xfrm>
            <a:off x="4474872" y="6040479"/>
            <a:ext cx="512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Entropy High(no info)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  <a:sym typeface="Wingdings" panose="05000000000000000000" pitchFamily="2" charset="2"/>
              </a:rPr>
              <a:t> Low(more info)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BA5DA7-E14E-4617-9F5F-F0532019A5DA}"/>
              </a:ext>
            </a:extLst>
          </p:cNvPr>
          <p:cNvSpPr txBox="1"/>
          <p:nvPr/>
        </p:nvSpPr>
        <p:spPr>
          <a:xfrm>
            <a:off x="2775672" y="4891596"/>
            <a:ext cx="2009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Data Preparation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906EB3-BB05-4BE2-BD85-6CE7BA390F98}"/>
              </a:ext>
            </a:extLst>
          </p:cNvPr>
          <p:cNvSpPr txBox="1"/>
          <p:nvPr/>
        </p:nvSpPr>
        <p:spPr>
          <a:xfrm>
            <a:off x="5643593" y="4863980"/>
            <a:ext cx="2009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Data Analysis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BE1D1E-D640-4840-85DD-B84CFA28C5C2}"/>
              </a:ext>
            </a:extLst>
          </p:cNvPr>
          <p:cNvSpPr txBox="1"/>
          <p:nvPr/>
        </p:nvSpPr>
        <p:spPr>
          <a:xfrm>
            <a:off x="8705049" y="4891596"/>
            <a:ext cx="2009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597391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18CF44-8BCA-47A0-A059-0EC1DC204C46}"/>
              </a:ext>
            </a:extLst>
          </p:cNvPr>
          <p:cNvSpPr txBox="1"/>
          <p:nvPr/>
        </p:nvSpPr>
        <p:spPr>
          <a:xfrm>
            <a:off x="2477317" y="-30777"/>
            <a:ext cx="6858000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</a:b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技术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三板斧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BCF93A-7D27-4C3A-80DB-96A2E0B95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117" y="2295308"/>
            <a:ext cx="5102399" cy="22673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7EFB24-A626-42EB-851D-66B9040FD3C4}"/>
              </a:ext>
            </a:extLst>
          </p:cNvPr>
          <p:cNvSpPr txBox="1"/>
          <p:nvPr/>
        </p:nvSpPr>
        <p:spPr>
          <a:xfrm>
            <a:off x="2874372" y="5565050"/>
            <a:ext cx="60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三板斧：切，统计总和，比较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1474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918CF44-8BCA-47A0-A059-0EC1DC204C46}"/>
              </a:ext>
            </a:extLst>
          </p:cNvPr>
          <p:cNvSpPr txBox="1"/>
          <p:nvPr/>
        </p:nvSpPr>
        <p:spPr>
          <a:xfrm>
            <a:off x="2477317" y="0"/>
            <a:ext cx="6858000" cy="15081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</a:b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技术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三板斧（面团版）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pic>
        <p:nvPicPr>
          <p:cNvPr id="12" name="Picture 11" descr="A Good Way to Portion Dough for Rolls | Cook&amp;#39;s Illustrated">
            <a:extLst>
              <a:ext uri="{FF2B5EF4-FFF2-40B4-BE49-F238E27FC236}">
                <a16:creationId xmlns:a16="http://schemas.microsoft.com/office/drawing/2014/main" id="{ABBF53F2-BBD5-4525-9129-FC6CB71B8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43" y="2463722"/>
            <a:ext cx="1949838" cy="1949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7EFB24-A626-42EB-851D-66B9040FD3C4}"/>
              </a:ext>
            </a:extLst>
          </p:cNvPr>
          <p:cNvSpPr txBox="1"/>
          <p:nvPr/>
        </p:nvSpPr>
        <p:spPr>
          <a:xfrm>
            <a:off x="2874372" y="5565050"/>
            <a:ext cx="60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三板斧：切，统计总和，比较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pic>
        <p:nvPicPr>
          <p:cNvPr id="6" name="Picture 2" descr="吃货最爱！细数全球最美味的各种面食，中国占了三种！">
            <a:extLst>
              <a:ext uri="{FF2B5EF4-FFF2-40B4-BE49-F238E27FC236}">
                <a16:creationId xmlns:a16="http://schemas.microsoft.com/office/drawing/2014/main" id="{963E5BC8-B7EC-4D37-9FD4-A31329C62B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2" t="17940" r="1972" b="5288"/>
          <a:stretch/>
        </p:blipFill>
        <p:spPr bwMode="auto">
          <a:xfrm>
            <a:off x="9015115" y="2622592"/>
            <a:ext cx="2590799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009AE73E-2918-4828-A822-4F7384257840}"/>
              </a:ext>
            </a:extLst>
          </p:cNvPr>
          <p:cNvSpPr/>
          <p:nvPr/>
        </p:nvSpPr>
        <p:spPr>
          <a:xfrm>
            <a:off x="3245629" y="3113419"/>
            <a:ext cx="755614" cy="3902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pic>
        <p:nvPicPr>
          <p:cNvPr id="1026" name="Picture 2" descr="如何正确快速地将面团解冻？ - 提示2022">
            <a:extLst>
              <a:ext uri="{FF2B5EF4-FFF2-40B4-BE49-F238E27FC236}">
                <a16:creationId xmlns:a16="http://schemas.microsoft.com/office/drawing/2014/main" id="{19AC6FB7-2A1E-49B7-B4CC-F25BC8450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348" y="2524097"/>
            <a:ext cx="2590800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DCF96CCC-B910-486D-BFFB-C97CB1343783}"/>
              </a:ext>
            </a:extLst>
          </p:cNvPr>
          <p:cNvSpPr/>
          <p:nvPr/>
        </p:nvSpPr>
        <p:spPr>
          <a:xfrm>
            <a:off x="7793860" y="3210042"/>
            <a:ext cx="755614" cy="3902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6200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17837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Data analysis</a:t>
            </a:r>
            <a:r>
              <a:rPr lang="en-US" altLang="zh-CN" dirty="0"/>
              <a:t>/</a:t>
            </a:r>
            <a:r>
              <a:rPr lang="zh-CN" altLang="en-US" dirty="0"/>
              <a:t>商业数据分析</a:t>
            </a:r>
            <a:br>
              <a:rPr lang="en-US" dirty="0"/>
            </a:br>
            <a:endParaRPr lang="en-US" sz="3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5526" y="2267903"/>
            <a:ext cx="10131425" cy="3344332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Sales</a:t>
            </a:r>
            <a:r>
              <a:rPr lang="en-US" altLang="zh-CN" sz="2800" dirty="0"/>
              <a:t>/</a:t>
            </a:r>
            <a:r>
              <a:rPr lang="zh-CN" altLang="en-US" sz="2800" dirty="0"/>
              <a:t>销售</a:t>
            </a:r>
            <a:r>
              <a:rPr lang="en-US" sz="2800" dirty="0"/>
              <a:t> </a:t>
            </a:r>
          </a:p>
          <a:p>
            <a:pPr algn="ctr"/>
            <a:r>
              <a:rPr lang="en-US" sz="2800" dirty="0"/>
              <a:t>Marketing</a:t>
            </a:r>
            <a:r>
              <a:rPr lang="en-US" altLang="zh-CN" sz="2800" dirty="0"/>
              <a:t>/</a:t>
            </a:r>
            <a:r>
              <a:rPr lang="zh-CN" altLang="en-US" sz="2800" dirty="0"/>
              <a:t>营销</a:t>
            </a:r>
            <a:r>
              <a:rPr lang="en-US" sz="2800" dirty="0"/>
              <a:t> </a:t>
            </a:r>
          </a:p>
          <a:p>
            <a:pPr algn="ctr"/>
            <a:r>
              <a:rPr lang="en-US" sz="2800" dirty="0"/>
              <a:t>Internal Audit/Risk</a:t>
            </a:r>
            <a:r>
              <a:rPr lang="en-US" altLang="zh-CN" sz="2800" dirty="0"/>
              <a:t>/</a:t>
            </a:r>
            <a:r>
              <a:rPr lang="zh-CN" altLang="en-US" sz="2800" dirty="0"/>
              <a:t>风控</a:t>
            </a:r>
            <a:endParaRPr lang="en-US" sz="2800" dirty="0"/>
          </a:p>
          <a:p>
            <a:pPr algn="ctr"/>
            <a:r>
              <a:rPr lang="en-US" sz="2800" dirty="0"/>
              <a:t>Credit</a:t>
            </a:r>
            <a:r>
              <a:rPr lang="en-US" altLang="zh-CN" sz="2800" dirty="0"/>
              <a:t>/</a:t>
            </a:r>
            <a:r>
              <a:rPr lang="zh-CN" altLang="en-US" sz="2800" dirty="0"/>
              <a:t>信用</a:t>
            </a:r>
            <a:endParaRPr lang="en-US" sz="2800" dirty="0"/>
          </a:p>
          <a:p>
            <a:pPr algn="ctr"/>
            <a:r>
              <a:rPr lang="en-US" sz="2800" dirty="0"/>
              <a:t>HR</a:t>
            </a:r>
            <a:r>
              <a:rPr lang="en-US" altLang="zh-CN" sz="2800" dirty="0"/>
              <a:t>/</a:t>
            </a:r>
            <a:r>
              <a:rPr lang="zh-CN" altLang="en-US" sz="2800" dirty="0"/>
              <a:t>人事</a:t>
            </a: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48393" y="1332291"/>
            <a:ext cx="10131425" cy="80977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36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</a:br>
            <a:r>
              <a:rPr kumimoji="0" lang="en-US" sz="24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Category of jobs </a:t>
            </a:r>
            <a:r>
              <a:rPr kumimoji="0" lang="en-US" altLang="zh-CN" sz="24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/</a:t>
            </a:r>
            <a:r>
              <a:rPr kumimoji="0" lang="zh-CN" altLang="en-US" sz="24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银行招聘数据分析的部门分类</a:t>
            </a:r>
            <a:endParaRPr kumimoji="0" lang="en-US" sz="2400" b="0" i="0" u="none" strike="noStrike" kern="1200" cap="all" spc="0" normalizeH="0" baseline="0" noProof="0" dirty="0">
              <a:ln w="3175" cmpd="sng"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5265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99E00-73C7-43EE-9418-BFB31E752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/>
              <a:t>Business problems 1:Sales performance </a:t>
            </a:r>
            <a:r>
              <a:rPr lang="en-US" sz="3200" dirty="0" err="1"/>
              <a:t>kpi</a:t>
            </a:r>
            <a:br>
              <a:rPr lang="en-US" sz="3200" dirty="0"/>
            </a:br>
            <a:r>
              <a:rPr lang="zh-CN" altLang="en-US" sz="3200" dirty="0"/>
              <a:t>银行销售业务问题</a:t>
            </a:r>
            <a:r>
              <a:rPr lang="en-US" altLang="zh-CN" sz="3200" dirty="0"/>
              <a:t>1</a:t>
            </a:r>
            <a:r>
              <a:rPr lang="zh-CN" altLang="en-US" sz="3200" dirty="0"/>
              <a:t>：怎么提高销售业绩</a:t>
            </a:r>
            <a:endParaRPr lang="en-US" sz="3200" dirty="0"/>
          </a:p>
        </p:txBody>
      </p:sp>
      <p:sp>
        <p:nvSpPr>
          <p:cNvPr id="6" name="AutoShape 10">
            <a:extLst>
              <a:ext uri="{FF2B5EF4-FFF2-40B4-BE49-F238E27FC236}">
                <a16:creationId xmlns:a16="http://schemas.microsoft.com/office/drawing/2014/main" id="{3FC9AEFC-F5ED-4286-9E57-5CD4A8DD19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D03CD2-B80E-499A-A3AA-4EE992D3BE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979"/>
          <a:stretch/>
        </p:blipFill>
        <p:spPr>
          <a:xfrm>
            <a:off x="2406941" y="2871054"/>
            <a:ext cx="7378117" cy="192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197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99E00-73C7-43EE-9418-BFB31E752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Sales conversion rate</a:t>
            </a:r>
            <a:br>
              <a:rPr lang="en-US" dirty="0"/>
            </a:br>
            <a:r>
              <a:rPr lang="zh-CN" altLang="en-US" dirty="0"/>
              <a:t>销售人员客户转换率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61FEF1-98B9-4419-A308-1F3FB1847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345" y="2196440"/>
            <a:ext cx="5864860" cy="370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371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7839" y="282676"/>
            <a:ext cx="8689976" cy="602156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Funnel analysis</a:t>
            </a:r>
            <a:br>
              <a:rPr lang="en-US" sz="2800" dirty="0"/>
            </a:br>
            <a:r>
              <a:rPr lang="zh-CN" altLang="en-US" sz="2800" dirty="0"/>
              <a:t>过滤分析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3842361" y="5214191"/>
            <a:ext cx="57912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Analysis</a:t>
            </a:r>
            <a:r>
              <a:rPr kumimoji="0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/</a:t>
            </a:r>
            <a:r>
              <a:rPr kumimoji="0" lang="zh-CN" alt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分析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: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Primary onboard rate is around 62% and Primary with secondary accounts rate is around 37% and 31% of Primary actively using the product. Once secondary open accounts, their retention rate is much higher.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Recommendations</a:t>
            </a:r>
            <a:r>
              <a:rPr kumimoji="0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/</a:t>
            </a:r>
            <a:r>
              <a:rPr kumimoji="0" lang="zh-CN" alt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推荐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: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Compare the 31% retention rate with benchmark and direct marketing efforts accordingly.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3FE299-CE0B-4B85-B627-8C67F5BA0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503" y="1125162"/>
            <a:ext cx="7120647" cy="394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89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1247" y="769237"/>
            <a:ext cx="8689976" cy="602156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Business problems 2: customer relationship</a:t>
            </a:r>
            <a:br>
              <a:rPr lang="en-US" sz="3200" dirty="0"/>
            </a:br>
            <a:r>
              <a:rPr lang="zh-CN" altLang="en-US" sz="3200" dirty="0"/>
              <a:t>业务问题</a:t>
            </a:r>
            <a:r>
              <a:rPr lang="en-US" altLang="zh-CN" sz="3200" dirty="0"/>
              <a:t>2</a:t>
            </a:r>
            <a:r>
              <a:rPr lang="zh-CN" altLang="en-US" sz="3200" dirty="0"/>
              <a:t>：客户关系</a:t>
            </a:r>
            <a:endParaRPr lang="en-US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171CF6-C524-4792-94BF-C3B06DF33C25}"/>
              </a:ext>
            </a:extLst>
          </p:cNvPr>
          <p:cNvSpPr txBox="1"/>
          <p:nvPr/>
        </p:nvSpPr>
        <p:spPr>
          <a:xfrm>
            <a:off x="2310181" y="1856999"/>
            <a:ext cx="783210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The true success of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sales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is in building a customer relationship that spans for as long as possible.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销售业绩与客户关系的成功与否密切相关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That makes customer retention a high-priority goal.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留住客户是优先目标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Why should sales focus on customer retention as a metric for measuring sales success?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销售应该把留在客户作为一个标的来评测销售的成功与否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new customer acquisition is five times more costly when compared to the cost of retaining existing customers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获得新客户成本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倍高于留住一个老客户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5983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9A0B1-9AA3-477A-BAED-8E24BE823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Cohort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2C80-120E-41DE-814F-1D0E6F37F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803" y="1965899"/>
            <a:ext cx="10131425" cy="2650066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 cohort is a group of users who share a common characteristic over a certain period of time. Cohort analysis is the study of the common characteristics of these users over a specific period. </a:t>
            </a:r>
          </a:p>
          <a:p>
            <a:r>
              <a:rPr lang="zh-CN" altLang="en-US" dirty="0"/>
              <a:t>一组有相同特征的在一段时间内的客户。</a:t>
            </a:r>
            <a:r>
              <a:rPr lang="en-US" altLang="zh-CN" dirty="0"/>
              <a:t>Cohort</a:t>
            </a:r>
            <a:r>
              <a:rPr lang="zh-CN" altLang="en-US" dirty="0"/>
              <a:t>是学习这些客户的特征</a:t>
            </a:r>
            <a:endParaRPr lang="en-US" dirty="0"/>
          </a:p>
          <a:p>
            <a:r>
              <a:rPr lang="en-US" dirty="0"/>
              <a:t> cohort analysis is commonly used to identify reasons why customers leave and what can be done to prevent them from leaving</a:t>
            </a:r>
          </a:p>
          <a:p>
            <a:r>
              <a:rPr lang="en-US" dirty="0"/>
              <a:t>Cohort </a:t>
            </a:r>
            <a:r>
              <a:rPr lang="zh-CN" altLang="en-US" dirty="0"/>
              <a:t>通常是用于找到客户为什么离开的原因</a:t>
            </a:r>
            <a:endParaRPr lang="en-US" dirty="0"/>
          </a:p>
          <a:p>
            <a:r>
              <a:rPr lang="en-US" dirty="0"/>
              <a:t>Acquisition Cohorts: This cohort divides users based on when they were acquired or signed up for a product. Depending on your product, user acquisition could be tracked daily, weekly, or monthly. </a:t>
            </a:r>
          </a:p>
          <a:p>
            <a:r>
              <a:rPr lang="zh-CN" altLang="en-US" dirty="0"/>
              <a:t>一种</a:t>
            </a:r>
            <a:r>
              <a:rPr lang="en-US" altLang="zh-CN" dirty="0"/>
              <a:t>cohort </a:t>
            </a:r>
            <a:r>
              <a:rPr lang="zh-CN" altLang="en-US" dirty="0"/>
              <a:t>分析是按照开户时间来分析他们的行为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108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7839" y="416900"/>
            <a:ext cx="8689976" cy="602156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Cohort analysis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29" y="1138504"/>
            <a:ext cx="9902113" cy="41378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72186" y="5395783"/>
            <a:ext cx="5791200" cy="1284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Assumptions: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The Retention Rates were calculated based on “User Login Month”.</a:t>
            </a:r>
            <a:endParaRPr kumimoji="0" 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Analysis: 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The Retention Rates (Onboard June – Nov.)  for primary accounts range from 16.8% to 26.3% . The rates tend to stabilize after 2-3 months.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Recommendations: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time the marketing efforts based on the time window. 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8412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1232E-4C11-4A2B-918C-41D570ADB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dirty="0"/>
              <a:t>Business problems 3 :Marketing campaigns</a:t>
            </a:r>
            <a:br>
              <a:rPr lang="en-US" sz="3600" dirty="0"/>
            </a:br>
            <a:r>
              <a:rPr lang="zh-CN" altLang="en-US" sz="3600" dirty="0"/>
              <a:t>业务问题</a:t>
            </a:r>
            <a:r>
              <a:rPr lang="en-US" altLang="zh-CN" sz="3600" dirty="0"/>
              <a:t>3</a:t>
            </a:r>
            <a:r>
              <a:rPr lang="zh-CN" altLang="en-US" sz="3600" dirty="0"/>
              <a:t>：怎么提高促销有效率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B04EC-40B8-4405-925F-13C8F686D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287" y="2376259"/>
            <a:ext cx="10131425" cy="200279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Marketing campaigns promote products through different types of media, such as television, radio, print, and online platforms.</a:t>
            </a:r>
          </a:p>
          <a:p>
            <a:r>
              <a:rPr lang="zh-CN" altLang="en-US" dirty="0"/>
              <a:t>促销活动通过不同的平台，比如电视，广播，网络，手机等平台</a:t>
            </a:r>
            <a:endParaRPr lang="en-US" dirty="0"/>
          </a:p>
          <a:p>
            <a:r>
              <a:rPr lang="en-US" dirty="0"/>
              <a:t>How to improve Marketing campaigns efficiency?  Less investment more customers ? </a:t>
            </a:r>
          </a:p>
          <a:p>
            <a:r>
              <a:rPr lang="zh-CN" altLang="en-US" dirty="0"/>
              <a:t>怎么提高促销活动的效率，少花钱多办事？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797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3350" y="851906"/>
            <a:ext cx="8689976" cy="60215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RFM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0D27D0-83E9-4042-88C1-DD57EA963677}"/>
              </a:ext>
            </a:extLst>
          </p:cNvPr>
          <p:cNvSpPr txBox="1"/>
          <p:nvPr/>
        </p:nvSpPr>
        <p:spPr>
          <a:xfrm>
            <a:off x="3322466" y="2726313"/>
            <a:ext cx="655837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RFM analysis is a powerful tool in marketing that helps marketers make the best of their advertising budget.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RFM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分析是一个分析有力的工具来帮助营销来优化广告预算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Recency, Frequency, Monetary Value (RFM)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RFM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是指新近度，频率，消费价值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6528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7839" y="416900"/>
            <a:ext cx="8689976" cy="602156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RFM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527" y="1181433"/>
            <a:ext cx="5791087" cy="23528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576" y="3720686"/>
            <a:ext cx="4239217" cy="15242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43303" y="5338118"/>
            <a:ext cx="57912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Analysis: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From the RFM of  heatmap (upper figure)we can see there are some segments with high R and high F with low M. Also in high R and low F and high M. Lower figure shows the segments based on the RFM.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Recommendations: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direct the marketing efforts based on the segments. For examples aggressive incentives to Inactive customers. 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0522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616" y="902073"/>
            <a:ext cx="10538669" cy="117837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Data analysis</a:t>
            </a:r>
            <a:r>
              <a:rPr lang="en-US" altLang="zh-CN" dirty="0"/>
              <a:t>/</a:t>
            </a:r>
            <a:r>
              <a:rPr lang="zh-CN" altLang="en-US" dirty="0"/>
              <a:t>商业数据分析</a:t>
            </a:r>
            <a:br>
              <a:rPr lang="en-US" dirty="0"/>
            </a:br>
            <a:br>
              <a:rPr lang="en-US" dirty="0"/>
            </a:br>
            <a:endParaRPr lang="en-US" sz="3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1251" y="2340016"/>
            <a:ext cx="10131425" cy="3381019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Type of Marketing Campaigns/</a:t>
            </a:r>
            <a:r>
              <a:rPr lang="zh-CN" altLang="en-US" sz="2000" dirty="0"/>
              <a:t>市场营销活动的主要种类</a:t>
            </a:r>
            <a:endParaRPr lang="en-US" altLang="zh-CN" sz="2000" dirty="0"/>
          </a:p>
          <a:p>
            <a:pPr lvl="1"/>
            <a:r>
              <a:rPr lang="en-US" altLang="zh-CN" sz="1800" dirty="0"/>
              <a:t>Product Marketing Campaign/</a:t>
            </a:r>
            <a:r>
              <a:rPr lang="zh-CN" altLang="en-US" sz="1800" dirty="0"/>
              <a:t>产品营销活动</a:t>
            </a:r>
            <a:endParaRPr lang="en-US" altLang="zh-CN" sz="1800" dirty="0"/>
          </a:p>
          <a:p>
            <a:pPr lvl="1"/>
            <a:r>
              <a:rPr lang="en-US" altLang="zh-CN" sz="1800" dirty="0"/>
              <a:t>Acquisition Marketing Campaign/</a:t>
            </a:r>
            <a:r>
              <a:rPr lang="zh-CN" altLang="en-US" sz="1800" dirty="0"/>
              <a:t>客户获得</a:t>
            </a:r>
            <a:endParaRPr lang="en-US" altLang="zh-CN" sz="1800" dirty="0"/>
          </a:p>
          <a:p>
            <a:pPr lvl="1"/>
            <a:r>
              <a:rPr lang="en-US" altLang="zh-CN" sz="1800" dirty="0">
                <a:solidFill>
                  <a:srgbClr val="FFC000"/>
                </a:solidFill>
              </a:rPr>
              <a:t>Customer retention Campaign/</a:t>
            </a:r>
            <a:r>
              <a:rPr lang="zh-CN" altLang="en-US" sz="1800" dirty="0">
                <a:solidFill>
                  <a:srgbClr val="FFC000"/>
                </a:solidFill>
              </a:rPr>
              <a:t>客户挽留</a:t>
            </a:r>
            <a:endParaRPr lang="en-US" altLang="zh-CN" sz="1800" dirty="0">
              <a:solidFill>
                <a:srgbClr val="FFC000"/>
              </a:solidFill>
            </a:endParaRPr>
          </a:p>
          <a:p>
            <a:r>
              <a:rPr lang="en-US" altLang="zh-CN" sz="2000" dirty="0">
                <a:solidFill>
                  <a:srgbClr val="FFC000"/>
                </a:solidFill>
              </a:rPr>
              <a:t>Budget/</a:t>
            </a:r>
            <a:r>
              <a:rPr lang="zh-CN" altLang="en-US" sz="2000" dirty="0">
                <a:solidFill>
                  <a:srgbClr val="FFC000"/>
                </a:solidFill>
              </a:rPr>
              <a:t>预算</a:t>
            </a:r>
            <a:r>
              <a:rPr lang="en-US" altLang="zh-CN" sz="2000" dirty="0">
                <a:solidFill>
                  <a:srgbClr val="FFC000"/>
                </a:solidFill>
              </a:rPr>
              <a:t>: </a:t>
            </a:r>
            <a:r>
              <a:rPr lang="en-US" altLang="zh-CN" sz="2000" dirty="0"/>
              <a:t>Not all marketing campaigns require an incremental budget, but many still do. Factor in the agency, advertising, and freelance costs, if appropriate, and factor these numbers into any </a:t>
            </a:r>
            <a:r>
              <a:rPr lang="en-US" altLang="zh-CN" sz="2000" dirty="0">
                <a:solidFill>
                  <a:srgbClr val="FFC000"/>
                </a:solidFill>
              </a:rPr>
              <a:t>ROI analysis/</a:t>
            </a:r>
            <a:r>
              <a:rPr lang="zh-CN" altLang="en-US" sz="2000" dirty="0">
                <a:solidFill>
                  <a:srgbClr val="FFC000"/>
                </a:solidFill>
              </a:rPr>
              <a:t>投资回报分析</a:t>
            </a:r>
            <a:r>
              <a:rPr lang="en-US" altLang="zh-CN" sz="2000" dirty="0">
                <a:solidFill>
                  <a:srgbClr val="FFC000"/>
                </a:solidFill>
              </a:rPr>
              <a:t> </a:t>
            </a:r>
            <a:r>
              <a:rPr lang="en-US" altLang="zh-CN" sz="2000" dirty="0"/>
              <a:t>for your campaign.</a:t>
            </a:r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74616" y="1493239"/>
            <a:ext cx="10131425" cy="58721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4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</a:br>
            <a:r>
              <a:rPr kumimoji="0" 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MARKETING/</a:t>
            </a:r>
            <a:r>
              <a:rPr kumimoji="0" lang="zh-CN" alt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市场营销部门项目</a:t>
            </a:r>
            <a:endParaRPr kumimoji="0" lang="en-US" sz="1600" b="0" i="0" u="none" strike="noStrike" kern="1200" cap="all" spc="0" normalizeH="0" baseline="0" noProof="0" dirty="0">
              <a:ln w="3175" cmpd="sng"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40564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616" y="902073"/>
            <a:ext cx="10538669" cy="117837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Data analysis </a:t>
            </a:r>
            <a:r>
              <a:rPr lang="en-US" altLang="zh-CN" dirty="0"/>
              <a:t>/</a:t>
            </a:r>
            <a:r>
              <a:rPr lang="zh-CN" altLang="en-US" dirty="0"/>
              <a:t>商业数据分析</a:t>
            </a:r>
            <a:br>
              <a:rPr lang="en-US" dirty="0"/>
            </a:br>
            <a:br>
              <a:rPr lang="en-US" dirty="0"/>
            </a:br>
            <a:endParaRPr lang="en-US" sz="3200" dirty="0">
              <a:latin typeface="+mn-lt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74616" y="1493239"/>
            <a:ext cx="10131425" cy="58721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4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</a:br>
            <a:r>
              <a:rPr kumimoji="0" 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MARKETING/</a:t>
            </a:r>
            <a:r>
              <a:rPr kumimoji="0" lang="zh-CN" alt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市场营销部门项目</a:t>
            </a:r>
            <a:endParaRPr kumimoji="0" lang="en-US" sz="1600" b="0" i="0" u="none" strike="noStrike" kern="1200" cap="all" spc="0" normalizeH="0" baseline="0" noProof="0" dirty="0">
              <a:ln w="3175" cmpd="sng"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j-ea"/>
              <a:cs typeface="+mj-cs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50E31C6-AF9C-4D19-87CB-4EDE027378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4037" y="2832027"/>
            <a:ext cx="6219825" cy="1781175"/>
          </a:xfr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81D4F9C-8951-4999-9452-7C6C52B11E48}"/>
              </a:ext>
            </a:extLst>
          </p:cNvPr>
          <p:cNvSpPr txBox="1">
            <a:spLocks/>
          </p:cNvSpPr>
          <p:nvPr/>
        </p:nvSpPr>
        <p:spPr>
          <a:xfrm>
            <a:off x="810238" y="5071154"/>
            <a:ext cx="10131425" cy="58721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4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</a:br>
            <a:r>
              <a:rPr kumimoji="0" lang="zh-CN" alt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怎么算促销活动的回报？</a:t>
            </a:r>
            <a:endParaRPr kumimoji="0" lang="en-US" sz="1600" b="0" i="0" u="none" strike="noStrike" kern="1200" cap="all" spc="0" normalizeH="0" baseline="0" noProof="0" dirty="0">
              <a:ln w="3175" cmpd="sng"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52385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665" y="754027"/>
            <a:ext cx="10538669" cy="117837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Data analysis </a:t>
            </a:r>
            <a:r>
              <a:rPr lang="en-US" altLang="zh-CN" dirty="0"/>
              <a:t>/</a:t>
            </a:r>
            <a:r>
              <a:rPr lang="zh-CN" altLang="en-US" dirty="0"/>
              <a:t>商业数据分析</a:t>
            </a:r>
            <a:br>
              <a:rPr lang="en-US" dirty="0"/>
            </a:br>
            <a:br>
              <a:rPr lang="en-US" dirty="0"/>
            </a:br>
            <a:endParaRPr lang="en-US" sz="3200" dirty="0">
              <a:latin typeface="+mn-lt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030286" y="1754496"/>
            <a:ext cx="10131425" cy="58721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4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</a:br>
            <a:r>
              <a:rPr kumimoji="0" 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ROI F</a:t>
            </a:r>
            <a:r>
              <a:rPr kumimoji="0" lang="en-US" altLang="zh-CN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inancial analysis</a:t>
            </a:r>
            <a:endParaRPr kumimoji="0" lang="en-US" sz="1600" b="0" i="0" u="none" strike="noStrike" kern="1200" cap="all" spc="0" normalizeH="0" baseline="0" noProof="0" dirty="0">
              <a:ln w="3175" cmpd="sng"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3BD4F0-658E-48AF-9962-A0F8784F6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593" y="2703850"/>
            <a:ext cx="9953652" cy="344175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7AFD88D-AEBA-4761-9AAC-2E238302809E}"/>
              </a:ext>
            </a:extLst>
          </p:cNvPr>
          <p:cNvSpPr/>
          <p:nvPr/>
        </p:nvSpPr>
        <p:spPr>
          <a:xfrm>
            <a:off x="3222171" y="3683726"/>
            <a:ext cx="391886" cy="2438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2C0A89-43A4-480F-8C4F-45A3A91C21F0}"/>
              </a:ext>
            </a:extLst>
          </p:cNvPr>
          <p:cNvSpPr/>
          <p:nvPr/>
        </p:nvSpPr>
        <p:spPr>
          <a:xfrm>
            <a:off x="3222171" y="4045867"/>
            <a:ext cx="391886" cy="2438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729ACD-583B-45B1-ABB6-3C74ED300584}"/>
              </a:ext>
            </a:extLst>
          </p:cNvPr>
          <p:cNvSpPr txBox="1"/>
          <p:nvPr/>
        </p:nvSpPr>
        <p:spPr>
          <a:xfrm>
            <a:off x="3074126" y="2159726"/>
            <a:ext cx="83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随机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E59D63C-E3FA-4997-861E-9FAE050FFDDA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 flipH="1">
            <a:off x="3418114" y="2529058"/>
            <a:ext cx="74024" cy="1154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6148416-D8DD-4344-A0AB-0D0805C86EBF}"/>
              </a:ext>
            </a:extLst>
          </p:cNvPr>
          <p:cNvSpPr txBox="1"/>
          <p:nvPr/>
        </p:nvSpPr>
        <p:spPr>
          <a:xfrm>
            <a:off x="2680063" y="5194663"/>
            <a:ext cx="98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非随机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743A44E-581C-46A0-B6D9-2C07EA3CA365}"/>
              </a:ext>
            </a:extLst>
          </p:cNvPr>
          <p:cNvCxnSpPr>
            <a:cxnSpLocks/>
            <a:stCxn id="15" idx="0"/>
            <a:endCxn id="10" idx="2"/>
          </p:cNvCxnSpPr>
          <p:nvPr/>
        </p:nvCxnSpPr>
        <p:spPr>
          <a:xfrm flipV="1">
            <a:off x="3173186" y="4289707"/>
            <a:ext cx="244928" cy="904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805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46" y="830372"/>
            <a:ext cx="4413308" cy="507260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/>
              <a:t>Credit Risk &amp; Credit Losses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B32FEF-4DD4-46FC-9F22-80FD87EE31A4}"/>
              </a:ext>
            </a:extLst>
          </p:cNvPr>
          <p:cNvSpPr txBox="1">
            <a:spLocks/>
          </p:cNvSpPr>
          <p:nvPr/>
        </p:nvSpPr>
        <p:spPr>
          <a:xfrm>
            <a:off x="749261" y="241182"/>
            <a:ext cx="10538669" cy="117837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Business Data analysis </a:t>
            </a:r>
            <a:r>
              <a:rPr kumimoji="0" lang="en-US" altLang="zh-CN" sz="36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/</a:t>
            </a:r>
            <a:r>
              <a:rPr kumimoji="0" lang="zh-CN" altLang="en-US" sz="36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商业数据分析</a:t>
            </a:r>
            <a:br>
              <a:rPr kumimoji="0" lang="en-US" sz="36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</a:br>
            <a:br>
              <a:rPr kumimoji="0" lang="en-US" sz="36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</a:br>
            <a:endParaRPr kumimoji="0" lang="en-US" sz="3200" b="0" i="0" u="none" strike="noStrike" kern="1200" cap="all" spc="0" normalizeH="0" baseline="0" noProof="0" dirty="0">
              <a:ln w="3175" cmpd="sng"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j-ea"/>
              <a:cs typeface="+mj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DDA216-2E06-438F-80F4-C6B7941A3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047" y="1764554"/>
            <a:ext cx="6838950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768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46" y="830372"/>
            <a:ext cx="4413308" cy="507260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/>
              <a:t>Credit Risk &amp; Credit Losses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299" y="1505053"/>
            <a:ext cx="6792273" cy="18722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1299" y="3736738"/>
            <a:ext cx="6785938" cy="261372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B32FEF-4DD4-46FC-9F22-80FD87EE31A4}"/>
              </a:ext>
            </a:extLst>
          </p:cNvPr>
          <p:cNvSpPr txBox="1">
            <a:spLocks/>
          </p:cNvSpPr>
          <p:nvPr/>
        </p:nvSpPr>
        <p:spPr>
          <a:xfrm>
            <a:off x="749261" y="241182"/>
            <a:ext cx="10538669" cy="117837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Business Data analysis </a:t>
            </a:r>
            <a:r>
              <a:rPr kumimoji="0" lang="en-US" altLang="zh-CN" sz="36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/</a:t>
            </a:r>
            <a:r>
              <a:rPr kumimoji="0" lang="zh-CN" altLang="en-US" sz="36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商业数据分析</a:t>
            </a:r>
            <a:br>
              <a:rPr kumimoji="0" lang="en-US" sz="36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</a:br>
            <a:br>
              <a:rPr kumimoji="0" lang="en-US" sz="36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</a:br>
            <a:endParaRPr kumimoji="0" lang="en-US" sz="3200" b="0" i="0" u="none" strike="noStrike" kern="1200" cap="all" spc="0" normalizeH="0" baseline="0" noProof="0" dirty="0">
              <a:ln w="3175" cmpd="sng"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j-ea"/>
              <a:cs typeface="+mj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67A3CB-7A5A-4B45-87DA-D6BC96C86367}"/>
              </a:ext>
            </a:extLst>
          </p:cNvPr>
          <p:cNvSpPr/>
          <p:nvPr/>
        </p:nvSpPr>
        <p:spPr>
          <a:xfrm>
            <a:off x="3212984" y="2215049"/>
            <a:ext cx="1619075" cy="15100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18F1BD-FB93-4F22-BC67-1DD759D791C7}"/>
              </a:ext>
            </a:extLst>
          </p:cNvPr>
          <p:cNvSpPr/>
          <p:nvPr/>
        </p:nvSpPr>
        <p:spPr>
          <a:xfrm>
            <a:off x="3061299" y="4613945"/>
            <a:ext cx="1113273" cy="99032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3875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46" y="830372"/>
            <a:ext cx="4413308" cy="507260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/>
              <a:t>Credit Risk &amp; Credit Losses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62174" y="4095807"/>
            <a:ext cx="62846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Can we implement data-driven strategy to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1, Prevent Credit Losses?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怎么防止信用借贷损失？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2, Mitigate Credit Risk (and better PCL estimation)?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减轻信用借贷风险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3, Improve Portfolio Performance?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怎么提高借贷组合业绩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B32FEF-4DD4-46FC-9F22-80FD87EE31A4}"/>
              </a:ext>
            </a:extLst>
          </p:cNvPr>
          <p:cNvSpPr txBox="1">
            <a:spLocks/>
          </p:cNvSpPr>
          <p:nvPr/>
        </p:nvSpPr>
        <p:spPr>
          <a:xfrm>
            <a:off x="749261" y="241182"/>
            <a:ext cx="10538669" cy="117837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Business Data analysis </a:t>
            </a:r>
            <a:r>
              <a:rPr kumimoji="0" lang="en-US" altLang="zh-CN" sz="36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/</a:t>
            </a:r>
            <a:r>
              <a:rPr kumimoji="0" lang="zh-CN" altLang="en-US" sz="36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商业数据分析</a:t>
            </a:r>
            <a:br>
              <a:rPr kumimoji="0" lang="en-US" sz="36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</a:br>
            <a:br>
              <a:rPr kumimoji="0" lang="en-US" sz="36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</a:br>
            <a:endParaRPr kumimoji="0" lang="en-US" sz="3200" b="0" i="0" u="none" strike="noStrike" kern="1200" cap="all" spc="0" normalizeH="0" baseline="0" noProof="0" dirty="0">
              <a:ln w="3175" cmpd="sng"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668C7F-9D6B-46E8-86AA-2FA46DCE6F97}"/>
              </a:ext>
            </a:extLst>
          </p:cNvPr>
          <p:cNvSpPr txBox="1"/>
          <p:nvPr/>
        </p:nvSpPr>
        <p:spPr>
          <a:xfrm>
            <a:off x="3147968" y="1880521"/>
            <a:ext cx="609460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Credit risk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refers to the potential for loss due to the failure of a borrower to make a payment when it is due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信贷风险是指客户还不起钱的风险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华文楷体" panose="0201060004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redit losses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: losses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from delinquent and bad debt or other credit.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风险发生后，信贷风险变成信贷损失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0794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993" y="527604"/>
            <a:ext cx="10538669" cy="92672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Data analysis</a:t>
            </a:r>
            <a:r>
              <a:rPr lang="en-US" altLang="zh-CN" dirty="0"/>
              <a:t>/</a:t>
            </a:r>
            <a:r>
              <a:rPr lang="zh-CN" altLang="en-US" dirty="0"/>
              <a:t>商业数据分析</a:t>
            </a:r>
            <a:br>
              <a:rPr lang="en-US" dirty="0"/>
            </a:br>
            <a:br>
              <a:rPr lang="en-US" dirty="0"/>
            </a:br>
            <a:endParaRPr lang="en-US" sz="32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1447C0-FE99-4302-8575-755989C0B127}"/>
              </a:ext>
            </a:extLst>
          </p:cNvPr>
          <p:cNvSpPr txBox="1"/>
          <p:nvPr/>
        </p:nvSpPr>
        <p:spPr>
          <a:xfrm>
            <a:off x="2002973" y="2572129"/>
            <a:ext cx="8621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银行内部审计和风险控制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20896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993" y="527604"/>
            <a:ext cx="10538669" cy="92672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Data analysis</a:t>
            </a:r>
            <a:r>
              <a:rPr lang="en-US" altLang="zh-CN" dirty="0"/>
              <a:t>/</a:t>
            </a:r>
            <a:r>
              <a:rPr lang="zh-CN" altLang="en-US" dirty="0"/>
              <a:t>商业数据分析</a:t>
            </a:r>
            <a:br>
              <a:rPr lang="en-US" dirty="0"/>
            </a:br>
            <a:br>
              <a:rPr lang="en-US" dirty="0"/>
            </a:br>
            <a:endParaRPr lang="en-US" sz="32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1447C0-FE99-4302-8575-755989C0B127}"/>
              </a:ext>
            </a:extLst>
          </p:cNvPr>
          <p:cNvSpPr txBox="1"/>
          <p:nvPr/>
        </p:nvSpPr>
        <p:spPr>
          <a:xfrm>
            <a:off x="2412276" y="5376289"/>
            <a:ext cx="86214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Business Problem statement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风险控制对银行的成功与失败至关重要！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pic>
        <p:nvPicPr>
          <p:cNvPr id="4098" name="Picture 2" descr="uploads///Bank risk">
            <a:extLst>
              <a:ext uri="{FF2B5EF4-FFF2-40B4-BE49-F238E27FC236}">
                <a16:creationId xmlns:a16="http://schemas.microsoft.com/office/drawing/2014/main" id="{3F92B0D2-C94E-40A0-B522-CF2B3839F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346" y="1105988"/>
            <a:ext cx="5745307" cy="401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84215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993" y="527604"/>
            <a:ext cx="10538669" cy="92672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Data analysis</a:t>
            </a:r>
            <a:r>
              <a:rPr lang="en-US" altLang="zh-CN" dirty="0"/>
              <a:t>/</a:t>
            </a:r>
            <a:r>
              <a:rPr lang="zh-CN" altLang="en-US" dirty="0"/>
              <a:t>商业数据分析</a:t>
            </a:r>
            <a:br>
              <a:rPr lang="en-US" dirty="0"/>
            </a:br>
            <a:br>
              <a:rPr lang="en-US" dirty="0"/>
            </a:br>
            <a:endParaRPr lang="en-US" sz="320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2FC78B-AE55-4D5F-AB11-F200B91D5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958" y="2571750"/>
            <a:ext cx="5638800" cy="704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E989C-CA43-4997-AC1A-3F8B7EC4A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958" y="3712302"/>
            <a:ext cx="5562600" cy="571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AD982E-4363-41F3-8E2C-76624D7DC91B}"/>
              </a:ext>
            </a:extLst>
          </p:cNvPr>
          <p:cNvSpPr/>
          <p:nvPr/>
        </p:nvSpPr>
        <p:spPr>
          <a:xfrm>
            <a:off x="8194766" y="3998052"/>
            <a:ext cx="574765" cy="2168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209467-92B7-4100-AA06-82C016678B25}"/>
              </a:ext>
            </a:extLst>
          </p:cNvPr>
          <p:cNvSpPr txBox="1"/>
          <p:nvPr/>
        </p:nvSpPr>
        <p:spPr>
          <a:xfrm>
            <a:off x="4798424" y="1628423"/>
            <a:ext cx="3117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工作机会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98407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616" y="902073"/>
            <a:ext cx="10538669" cy="117837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Data analysis</a:t>
            </a:r>
            <a:r>
              <a:rPr lang="en-US" altLang="zh-CN" dirty="0"/>
              <a:t>/</a:t>
            </a:r>
            <a:r>
              <a:rPr lang="zh-CN" altLang="en-US" dirty="0"/>
              <a:t>商业数据分析</a:t>
            </a:r>
            <a:br>
              <a:rPr lang="en-US" dirty="0"/>
            </a:br>
            <a:br>
              <a:rPr lang="en-US" dirty="0"/>
            </a:br>
            <a:endParaRPr lang="en-US" sz="3200" dirty="0">
              <a:latin typeface="+mn-lt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78237" y="1786845"/>
            <a:ext cx="10131425" cy="58721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4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</a:br>
            <a:r>
              <a:rPr kumimoji="0" 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internal audit  </a:t>
            </a:r>
            <a:r>
              <a:rPr kumimoji="0" lang="en-US" altLang="zh-CN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&amp; </a:t>
            </a:r>
            <a:r>
              <a:rPr kumimoji="0" 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RISK/</a:t>
            </a:r>
            <a:r>
              <a:rPr kumimoji="0" lang="zh-CN" alt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风险和内部审计</a:t>
            </a:r>
            <a:endParaRPr kumimoji="0" lang="en-US" sz="1600" b="0" i="0" u="none" strike="noStrike" kern="1200" cap="all" spc="0" normalizeH="0" baseline="0" noProof="0" dirty="0">
              <a:ln w="3175" cmpd="sng"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DECA51-7EA6-42BF-BB06-B1E7B0EFFA02}"/>
              </a:ext>
            </a:extLst>
          </p:cNvPr>
          <p:cNvSpPr txBox="1"/>
          <p:nvPr/>
        </p:nvSpPr>
        <p:spPr>
          <a:xfrm>
            <a:off x="2560669" y="2915457"/>
            <a:ext cx="75848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+mn-cs"/>
              </a:rPr>
              <a:t>内部审计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internal audit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+mn-cs"/>
              </a:rPr>
              <a:t>，是一种独立、客观的确认和咨询活动，它通过运用系统、规范的方法，审查和评价组织的业务活动、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+mn-cs"/>
              </a:rPr>
              <a:t>内部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+mn-cs"/>
              </a:rPr>
              <a:t>控制和风险管理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+mn-cs"/>
              </a:rPr>
              <a:t>risk management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+mn-cs"/>
              </a:rPr>
              <a:t>的适当性和有效性，以促进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+mn-cs"/>
              </a:rPr>
              <a:t>组织完善治理、增加价值和实现目标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内部审计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internal audit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在商业银行风险管理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risk management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中的作用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客观识别和评估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风险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综合分析和计量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风险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风险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预警</a:t>
            </a:r>
          </a:p>
        </p:txBody>
      </p:sp>
    </p:spTree>
    <p:extLst>
      <p:ext uri="{BB962C8B-B14F-4D97-AF65-F5344CB8AC3E}">
        <p14:creationId xmlns:p14="http://schemas.microsoft.com/office/powerpoint/2010/main" val="13076436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279" y="902072"/>
            <a:ext cx="10538669" cy="117837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Data analysis</a:t>
            </a:r>
            <a:r>
              <a:rPr lang="en-US" altLang="zh-CN" dirty="0"/>
              <a:t>/</a:t>
            </a:r>
            <a:r>
              <a:rPr lang="zh-CN" altLang="en-US" dirty="0"/>
              <a:t>商业数据分析</a:t>
            </a:r>
            <a:br>
              <a:rPr lang="en-US" dirty="0"/>
            </a:br>
            <a:br>
              <a:rPr lang="en-US" dirty="0"/>
            </a:br>
            <a:endParaRPr lang="en-US" sz="3200" dirty="0">
              <a:latin typeface="+mn-lt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118052" y="1633484"/>
            <a:ext cx="10131425" cy="58721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4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</a:br>
            <a:r>
              <a:rPr kumimoji="0" 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internal audit  and</a:t>
            </a:r>
            <a:r>
              <a:rPr kumimoji="0" lang="zh-CN" alt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 </a:t>
            </a:r>
            <a:r>
              <a:rPr kumimoji="0" lang="en-US" altLang="zh-CN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DATA</a:t>
            </a:r>
            <a:r>
              <a:rPr kumimoji="0" lang="zh-CN" alt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 </a:t>
            </a:r>
            <a:r>
              <a:rPr kumimoji="0" 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/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风险和内部审计与数据的关系</a:t>
            </a:r>
            <a:endParaRPr kumimoji="0" lang="en-US" sz="1600" b="0" i="0" u="none" strike="noStrike" kern="1200" cap="all" spc="0" normalizeH="0" baseline="0" noProof="0" dirty="0">
              <a:ln w="3175" cmpd="sng"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D14986-96D8-47C3-99BB-D1D4E926646E}"/>
              </a:ext>
            </a:extLst>
          </p:cNvPr>
          <p:cNvSpPr txBox="1"/>
          <p:nvPr/>
        </p:nvSpPr>
        <p:spPr>
          <a:xfrm>
            <a:off x="3361508" y="4948378"/>
            <a:ext cx="648788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oswaldregular"/>
                <a:ea typeface="+mn-ea"/>
                <a:cs typeface="+mn-cs"/>
              </a:rPr>
              <a:t>Data Analytics Transforms Internal Auditors Into Strategic Advisors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oswaldregular"/>
                <a:ea typeface="华文楷体" panose="02010600040101010101" pitchFamily="2" charset="-122"/>
                <a:cs typeface="+mn-cs"/>
              </a:rPr>
              <a:t>策略顾问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oswaldregular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D82E51-19AF-4986-96B6-68BDC5148FAA}"/>
              </a:ext>
            </a:extLst>
          </p:cNvPr>
          <p:cNvSpPr txBox="1"/>
          <p:nvPr/>
        </p:nvSpPr>
        <p:spPr>
          <a:xfrm>
            <a:off x="3274423" y="2786062"/>
            <a:ext cx="642692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Internal audit in the age of data analytics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数据时代下的内部审计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Fast-evolving technologies that generate-increasing amounts of data have created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an opportunity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机会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for internal audit departments to leverage data to evaluate risk and drive audit insight. As a result, data analytics is increasingly becoming an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indispensable element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不可分割的元素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of the internal audit toolset.</a:t>
            </a:r>
          </a:p>
        </p:txBody>
      </p:sp>
    </p:spTree>
    <p:extLst>
      <p:ext uri="{BB962C8B-B14F-4D97-AF65-F5344CB8AC3E}">
        <p14:creationId xmlns:p14="http://schemas.microsoft.com/office/powerpoint/2010/main" val="32533763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279" y="902072"/>
            <a:ext cx="10538669" cy="117837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Data analysis</a:t>
            </a:r>
            <a:r>
              <a:rPr lang="en-US" altLang="zh-CN" dirty="0"/>
              <a:t>/</a:t>
            </a:r>
            <a:r>
              <a:rPr lang="zh-CN" altLang="en-US" dirty="0"/>
              <a:t>商业数据分析</a:t>
            </a:r>
            <a:br>
              <a:rPr lang="en-US" dirty="0"/>
            </a:br>
            <a:br>
              <a:rPr lang="en-US" dirty="0"/>
            </a:br>
            <a:endParaRPr lang="en-US" sz="3200" dirty="0">
              <a:latin typeface="+mn-lt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118052" y="1633484"/>
            <a:ext cx="10131425" cy="58721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4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</a:br>
            <a:r>
              <a:rPr kumimoji="0" 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internal audit  and</a:t>
            </a:r>
            <a:r>
              <a:rPr kumimoji="0" lang="zh-CN" alt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 </a:t>
            </a:r>
            <a:r>
              <a:rPr kumimoji="0" lang="en-US" altLang="zh-CN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DATA</a:t>
            </a:r>
            <a:r>
              <a:rPr kumimoji="0" lang="zh-CN" alt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 </a:t>
            </a:r>
            <a:r>
              <a:rPr kumimoji="0" 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/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风险和内部审计与数据的关系</a:t>
            </a:r>
            <a:endParaRPr kumimoji="0" lang="en-US" sz="1600" b="0" i="0" u="none" strike="noStrike" kern="1200" cap="all" spc="0" normalizeH="0" baseline="0" noProof="0" dirty="0">
              <a:ln w="3175" cmpd="sng"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45EEC7-3131-4ADB-B875-BE5BE0618A0D}"/>
              </a:ext>
            </a:extLst>
          </p:cNvPr>
          <p:cNvSpPr txBox="1"/>
          <p:nvPr/>
        </p:nvSpPr>
        <p:spPr>
          <a:xfrm>
            <a:off x="1759131" y="3348613"/>
            <a:ext cx="87259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Audit Analytics &amp; F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inancial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Fraud Risk Analysis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审计分析和金融欺诈风险分析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27409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279" y="902072"/>
            <a:ext cx="10538669" cy="117837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Data analysis</a:t>
            </a:r>
            <a:r>
              <a:rPr lang="en-US" altLang="zh-CN" dirty="0"/>
              <a:t>/</a:t>
            </a:r>
            <a:r>
              <a:rPr lang="zh-CN" altLang="en-US" dirty="0"/>
              <a:t>商业数据分析</a:t>
            </a:r>
            <a:br>
              <a:rPr lang="en-US" dirty="0"/>
            </a:br>
            <a:br>
              <a:rPr lang="en-US" dirty="0"/>
            </a:br>
            <a:endParaRPr lang="en-US" sz="3200" dirty="0">
              <a:latin typeface="+mn-lt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118052" y="1633484"/>
            <a:ext cx="10131425" cy="58721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4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</a:br>
            <a:r>
              <a:rPr kumimoji="0" 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internal audit  and</a:t>
            </a:r>
            <a:r>
              <a:rPr kumimoji="0" lang="zh-CN" alt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 </a:t>
            </a:r>
            <a:r>
              <a:rPr kumimoji="0" lang="en-US" altLang="zh-CN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DATA</a:t>
            </a:r>
            <a:r>
              <a:rPr kumimoji="0" lang="zh-CN" alt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 </a:t>
            </a:r>
            <a:r>
              <a:rPr kumimoji="0" 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/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风险和内部审计与数据的关系</a:t>
            </a:r>
            <a:endParaRPr kumimoji="0" lang="en-US" sz="1600" b="0" i="0" u="none" strike="noStrike" kern="1200" cap="all" spc="0" normalizeH="0" baseline="0" noProof="0" dirty="0">
              <a:ln w="3175" cmpd="sng"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j-ea"/>
              <a:cs typeface="+mj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43ABA8F-A45C-473F-989F-F046D2B0A4B6}"/>
              </a:ext>
            </a:extLst>
          </p:cNvPr>
          <p:cNvGrpSpPr/>
          <p:nvPr/>
        </p:nvGrpSpPr>
        <p:grpSpPr>
          <a:xfrm>
            <a:off x="4164636" y="2868494"/>
            <a:ext cx="4941119" cy="1768810"/>
            <a:chOff x="3296872" y="2881510"/>
            <a:chExt cx="4941119" cy="176881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5811E33-3E6C-4722-93D1-AB7F85934D9F}"/>
                </a:ext>
              </a:extLst>
            </p:cNvPr>
            <p:cNvSpPr txBox="1"/>
            <p:nvPr/>
          </p:nvSpPr>
          <p:spPr>
            <a:xfrm>
              <a:off x="3296873" y="2894202"/>
              <a:ext cx="1627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Findings 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86FCA4-1AF1-4D6B-BB74-C03A30A48A1E}"/>
                </a:ext>
              </a:extLst>
            </p:cNvPr>
            <p:cNvSpPr txBox="1"/>
            <p:nvPr/>
          </p:nvSpPr>
          <p:spPr>
            <a:xfrm>
              <a:off x="6551803" y="2881510"/>
              <a:ext cx="1627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Fraud Risk?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C941BB5-6006-4142-A11D-77CBB5CECA6E}"/>
                </a:ext>
              </a:extLst>
            </p:cNvPr>
            <p:cNvSpPr txBox="1"/>
            <p:nvPr/>
          </p:nvSpPr>
          <p:spPr>
            <a:xfrm>
              <a:off x="3296873" y="4280988"/>
              <a:ext cx="1627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Findings 10000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90C5CB8-2669-4C38-B4E2-1D75DF369660}"/>
                </a:ext>
              </a:extLst>
            </p:cNvPr>
            <p:cNvSpPr txBox="1"/>
            <p:nvPr/>
          </p:nvSpPr>
          <p:spPr>
            <a:xfrm>
              <a:off x="3296872" y="3754399"/>
              <a:ext cx="1627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…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ADE2AD3-AED8-40EB-8A1B-83DED4F12D7C}"/>
                </a:ext>
              </a:extLst>
            </p:cNvPr>
            <p:cNvCxnSpPr>
              <a:cxnSpLocks/>
              <a:stCxn id="3" idx="3"/>
              <a:endCxn id="7" idx="1"/>
            </p:cNvCxnSpPr>
            <p:nvPr/>
          </p:nvCxnSpPr>
          <p:spPr>
            <a:xfrm flipV="1">
              <a:off x="4924338" y="3066176"/>
              <a:ext cx="1627465" cy="126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0BD6C20-72CD-4735-A179-4B66E38EFC58}"/>
                </a:ext>
              </a:extLst>
            </p:cNvPr>
            <p:cNvSpPr txBox="1"/>
            <p:nvPr/>
          </p:nvSpPr>
          <p:spPr>
            <a:xfrm>
              <a:off x="3296872" y="3387863"/>
              <a:ext cx="1627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Findings 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2E17F27-7554-48C4-A774-3346B207E0EC}"/>
                </a:ext>
              </a:extLst>
            </p:cNvPr>
            <p:cNvSpPr txBox="1"/>
            <p:nvPr/>
          </p:nvSpPr>
          <p:spPr>
            <a:xfrm>
              <a:off x="6610526" y="3385067"/>
              <a:ext cx="1627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Fraud Risk?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007D9F1-AEE9-4F42-BA50-71FFA6ACF0B3}"/>
                </a:ext>
              </a:extLst>
            </p:cNvPr>
            <p:cNvCxnSpPr>
              <a:cxnSpLocks/>
              <a:stCxn id="12" idx="3"/>
              <a:endCxn id="15" idx="1"/>
            </p:cNvCxnSpPr>
            <p:nvPr/>
          </p:nvCxnSpPr>
          <p:spPr>
            <a:xfrm flipV="1">
              <a:off x="4924337" y="3569733"/>
              <a:ext cx="1686189" cy="27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51641EE-692D-4448-89FE-8E841988BCD8}"/>
                </a:ext>
              </a:extLst>
            </p:cNvPr>
            <p:cNvSpPr txBox="1"/>
            <p:nvPr/>
          </p:nvSpPr>
          <p:spPr>
            <a:xfrm>
              <a:off x="6610526" y="4230546"/>
              <a:ext cx="1627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Fraud Risk?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E89079B-A791-400C-B482-85E99653ACAC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>
              <a:off x="4961518" y="4415212"/>
              <a:ext cx="16490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705573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279" y="902072"/>
            <a:ext cx="10538669" cy="117837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Data analysis</a:t>
            </a:r>
            <a:r>
              <a:rPr lang="en-US" altLang="zh-CN" dirty="0"/>
              <a:t>/</a:t>
            </a:r>
            <a:r>
              <a:rPr lang="zh-CN" altLang="en-US" dirty="0"/>
              <a:t>商业数据分析</a:t>
            </a:r>
            <a:br>
              <a:rPr lang="en-US" dirty="0"/>
            </a:br>
            <a:br>
              <a:rPr lang="en-US" dirty="0"/>
            </a:br>
            <a:endParaRPr lang="en-US" sz="3200" dirty="0">
              <a:latin typeface="+mn-lt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118052" y="1633484"/>
            <a:ext cx="10131425" cy="58721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4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</a:br>
            <a:r>
              <a:rPr kumimoji="0" 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internal audit  and</a:t>
            </a:r>
            <a:r>
              <a:rPr kumimoji="0" lang="zh-CN" alt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 </a:t>
            </a:r>
            <a:r>
              <a:rPr kumimoji="0" lang="en-US" altLang="zh-CN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DATA</a:t>
            </a:r>
            <a:r>
              <a:rPr kumimoji="0" lang="zh-CN" alt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 </a:t>
            </a:r>
            <a:r>
              <a:rPr kumimoji="0" 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/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风险和内部审计与数据的关系</a:t>
            </a:r>
            <a:endParaRPr kumimoji="0" lang="en-US" sz="1600" b="0" i="0" u="none" strike="noStrike" kern="1200" cap="all" spc="0" normalizeH="0" baseline="0" noProof="0" dirty="0">
              <a:ln w="3175" cmpd="sng"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45EEC7-3131-4ADB-B875-BE5BE0618A0D}"/>
              </a:ext>
            </a:extLst>
          </p:cNvPr>
          <p:cNvSpPr txBox="1"/>
          <p:nvPr/>
        </p:nvSpPr>
        <p:spPr>
          <a:xfrm>
            <a:off x="1759131" y="3348613"/>
            <a:ext cx="87259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Audit Analytics &amp; B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ankruptcy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Analysis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审计分析和破产分析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58971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935872" y="402966"/>
            <a:ext cx="10131425" cy="58721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4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</a:br>
            <a:r>
              <a:rPr kumimoji="0" 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internal audit  </a:t>
            </a:r>
            <a:r>
              <a:rPr kumimoji="0" lang="en-US" altLang="zh-CN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&amp; </a:t>
            </a:r>
            <a:r>
              <a:rPr kumimoji="0" 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RISK/</a:t>
            </a:r>
            <a:r>
              <a:rPr kumimoji="0" lang="zh-CN" alt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风险和内部审计</a:t>
            </a:r>
            <a:endParaRPr kumimoji="0" lang="en-US" sz="1600" b="0" i="0" u="none" strike="noStrike" kern="1200" cap="all" spc="0" normalizeH="0" baseline="0" noProof="0" dirty="0">
              <a:ln w="3175" cmpd="sng"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DECA51-7EA6-42BF-BB06-B1E7B0EFFA02}"/>
              </a:ext>
            </a:extLst>
          </p:cNvPr>
          <p:cNvSpPr txBox="1"/>
          <p:nvPr/>
        </p:nvSpPr>
        <p:spPr>
          <a:xfrm>
            <a:off x="1750423" y="2073271"/>
            <a:ext cx="490598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Internal Risks: 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i.Industry</a:t>
            </a: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 risk (IR)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行业风险</a:t>
            </a: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: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Government policies and International agreements,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Cyclicality,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Degree of competition,			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The price and stability of market supply,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The size and growth of market demand,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The sensitivity to changes in macroeconomic factors,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Domestic and international competitive power,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Product Life Cycle.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ii.Management</a:t>
            </a: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 risk(MR)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管理风险</a:t>
            </a: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: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Ability and competence of management,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Stability of management,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The relationship between management/ owner,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Human resources management,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Growth process/business performance,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Short and long term business planning,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achievement and feasibility.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iii.Financial</a:t>
            </a: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 Flexibility(FF)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金融灵活性</a:t>
            </a: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: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Direct financing,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Indirect financing,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Other financing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メイリオ" panose="020B0604030504040204" pitchFamily="34" charset="-128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2809C3-84F1-44D9-8DB0-78F227A3ED36}"/>
              </a:ext>
            </a:extLst>
          </p:cNvPr>
          <p:cNvSpPr txBox="1"/>
          <p:nvPr/>
        </p:nvSpPr>
        <p:spPr>
          <a:xfrm>
            <a:off x="6426926" y="2257937"/>
            <a:ext cx="455328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Internal Risks: 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iv.Credibility</a:t>
            </a:r>
            <a:r>
              <a:rPr kumimoji="0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 (CR)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可信度（信用）</a:t>
            </a:r>
            <a:r>
              <a:rPr kumimoji="0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: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Credit history,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reliability of information,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The relationship with financial institutes.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v.Competitiveness</a:t>
            </a:r>
            <a:r>
              <a:rPr kumimoji="0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 (CO)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竞争性</a:t>
            </a:r>
            <a:r>
              <a:rPr kumimoji="0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: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Market position,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The level of core capacities,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Differentiated strategy,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vi.Operating</a:t>
            </a:r>
            <a:r>
              <a:rPr kumimoji="0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 Risk (OP)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n-cs"/>
              </a:rPr>
              <a:t>操作风险</a:t>
            </a:r>
            <a:r>
              <a:rPr kumimoji="0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: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The stability and diversity of procurement,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The stability of transaction,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The efficiency of production,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The prospects for demand for product and service,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Sales diversification,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Sales price and settlement condition,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Collection of A/R,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メイリオ" panose="020B0604030504040204" pitchFamily="34" charset="-128"/>
                <a:cs typeface="+mn-cs"/>
              </a:rPr>
              <a:t>	Effectiveness of sale network.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805CD5-DA54-44DF-B719-9818D1841213}"/>
              </a:ext>
            </a:extLst>
          </p:cNvPr>
          <p:cNvSpPr txBox="1"/>
          <p:nvPr/>
        </p:nvSpPr>
        <p:spPr>
          <a:xfrm>
            <a:off x="3795466" y="1222161"/>
            <a:ext cx="4972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+mn-cs"/>
              </a:rPr>
              <a:t>银行破产主要风险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26847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261" y="388293"/>
            <a:ext cx="10538669" cy="117837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Data analysis </a:t>
            </a:r>
            <a:r>
              <a:rPr lang="en-US" altLang="zh-CN" dirty="0"/>
              <a:t>/</a:t>
            </a:r>
            <a:r>
              <a:rPr lang="zh-CN" altLang="en-US" dirty="0"/>
              <a:t>商业数据分析</a:t>
            </a:r>
            <a:br>
              <a:rPr lang="en-US" dirty="0"/>
            </a:br>
            <a:br>
              <a:rPr lang="en-US" dirty="0"/>
            </a:br>
            <a:endParaRPr lang="en-US" sz="3200" dirty="0">
              <a:latin typeface="+mn-lt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49261" y="1059376"/>
            <a:ext cx="10131425" cy="58721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4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</a:br>
            <a:r>
              <a:rPr kumimoji="0" 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HR/</a:t>
            </a:r>
            <a:r>
              <a:rPr kumimoji="0" lang="zh-CN" alt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人事部门数据分析</a:t>
            </a:r>
            <a:endParaRPr kumimoji="0" lang="en-US" sz="1600" b="0" i="0" u="none" strike="noStrike" kern="1200" cap="all" spc="0" normalizeH="0" baseline="0" noProof="0" dirty="0">
              <a:ln w="3175" cmpd="sng"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j-ea"/>
              <a:cs typeface="+mj-cs"/>
            </a:endParaRPr>
          </a:p>
        </p:txBody>
      </p:sp>
      <p:pic>
        <p:nvPicPr>
          <p:cNvPr id="2050" name="Picture 2" descr="HR Analytics: Definition, Example, HR Metrics Dashboard and Predictive HR  Analytics">
            <a:extLst>
              <a:ext uri="{FF2B5EF4-FFF2-40B4-BE49-F238E27FC236}">
                <a16:creationId xmlns:a16="http://schemas.microsoft.com/office/drawing/2014/main" id="{897C6541-6601-4F7D-BF29-F9695B317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0190" y="1790391"/>
            <a:ext cx="7274767" cy="4356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2435AA7-4E38-40EE-8CC9-138A25551C50}"/>
              </a:ext>
            </a:extLst>
          </p:cNvPr>
          <p:cNvSpPr/>
          <p:nvPr/>
        </p:nvSpPr>
        <p:spPr>
          <a:xfrm>
            <a:off x="7860484" y="5578679"/>
            <a:ext cx="1718091" cy="4781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5769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261" y="388293"/>
            <a:ext cx="10538669" cy="117837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Data analysis </a:t>
            </a:r>
            <a:r>
              <a:rPr lang="en-US" altLang="zh-CN" dirty="0"/>
              <a:t>/</a:t>
            </a:r>
            <a:r>
              <a:rPr lang="zh-CN" altLang="en-US" dirty="0"/>
              <a:t>商业数据分析</a:t>
            </a:r>
            <a:br>
              <a:rPr lang="en-US" dirty="0"/>
            </a:br>
            <a:br>
              <a:rPr lang="en-US" dirty="0"/>
            </a:br>
            <a:endParaRPr lang="en-US" sz="3200" dirty="0">
              <a:latin typeface="+mn-lt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49261" y="1059376"/>
            <a:ext cx="10131425" cy="58721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4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</a:br>
            <a:r>
              <a:rPr kumimoji="0" 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HR/</a:t>
            </a:r>
            <a:r>
              <a:rPr kumimoji="0" lang="zh-CN" alt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人事部门数据分析</a:t>
            </a:r>
            <a:endParaRPr kumimoji="0" lang="en-US" sz="1600" b="0" i="0" u="none" strike="noStrike" kern="1200" cap="all" spc="0" normalizeH="0" baseline="0" noProof="0" dirty="0">
              <a:ln w="3175" cmpd="sng"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j-ea"/>
              <a:cs typeface="+mj-cs"/>
            </a:endParaRPr>
          </a:p>
        </p:txBody>
      </p:sp>
      <p:pic>
        <p:nvPicPr>
          <p:cNvPr id="1026" name="Picture 2" descr="What Is HR Analytics? Definition, Importance, Key Metrics, Data  Requirements, and Implementation | Toolbox Hr">
            <a:extLst>
              <a:ext uri="{FF2B5EF4-FFF2-40B4-BE49-F238E27FC236}">
                <a16:creationId xmlns:a16="http://schemas.microsoft.com/office/drawing/2014/main" id="{CEC5E6AB-DD93-4681-AEB3-EF911C93D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167" y="1810376"/>
            <a:ext cx="7087699" cy="4447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73272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261" y="639963"/>
            <a:ext cx="10538669" cy="117837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Business Data analysis </a:t>
            </a:r>
            <a:r>
              <a:rPr lang="en-US" altLang="zh-CN" dirty="0"/>
              <a:t>/</a:t>
            </a:r>
            <a:r>
              <a:rPr lang="zh-CN" altLang="en-US" dirty="0"/>
              <a:t>商业数据分析</a:t>
            </a:r>
            <a:br>
              <a:rPr lang="en-US" dirty="0"/>
            </a:br>
            <a:br>
              <a:rPr lang="en-US" dirty="0"/>
            </a:br>
            <a:endParaRPr lang="en-US" sz="3200" dirty="0">
              <a:latin typeface="+mn-lt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56982" y="1613050"/>
            <a:ext cx="10131425" cy="58721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4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</a:br>
            <a:r>
              <a:rPr kumimoji="0" 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Bonus PROJECT </a:t>
            </a:r>
            <a:r>
              <a:rPr kumimoji="0" lang="zh-CN" altLang="en-US" sz="8000" b="0" i="0" u="none" strike="noStrike" kern="1200" cap="all" spc="0" normalizeH="0" baseline="0" noProof="0" dirty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华文楷体" panose="02010600040101010101" pitchFamily="2" charset="-122"/>
                <a:cs typeface="+mj-cs"/>
              </a:rPr>
              <a:t>额外项目</a:t>
            </a:r>
            <a:endParaRPr kumimoji="0" lang="en-US" sz="1600" b="0" i="0" u="none" strike="noStrike" kern="1200" cap="all" spc="0" normalizeH="0" baseline="0" noProof="0" dirty="0">
              <a:ln w="3175" cmpd="sng"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F2F946-38C5-FE6C-4FD5-D94FD064F71B}"/>
              </a:ext>
            </a:extLst>
          </p:cNvPr>
          <p:cNvSpPr txBox="1"/>
          <p:nvPr/>
        </p:nvSpPr>
        <p:spPr>
          <a:xfrm>
            <a:off x="2827356" y="2451141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/>
                <a:ea typeface="+mn-ea"/>
                <a:cs typeface="+mn-cs"/>
              </a:rPr>
              <a:t>A/B testing</a:t>
            </a:r>
          </a:p>
        </p:txBody>
      </p:sp>
    </p:spTree>
    <p:extLst>
      <p:ext uri="{BB962C8B-B14F-4D97-AF65-F5344CB8AC3E}">
        <p14:creationId xmlns:p14="http://schemas.microsoft.com/office/powerpoint/2010/main" val="3390518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2120</Words>
  <Application>Microsoft Office PowerPoint</Application>
  <PresentationFormat>Widescreen</PresentationFormat>
  <Paragraphs>183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Helvetica Neue</vt:lpstr>
      <vt:lpstr>oswaldregular</vt:lpstr>
      <vt:lpstr>Arial</vt:lpstr>
      <vt:lpstr>Arial</vt:lpstr>
      <vt:lpstr>Calibri</vt:lpstr>
      <vt:lpstr>Calibri Light</vt:lpstr>
      <vt:lpstr>Corbel</vt:lpstr>
      <vt:lpstr>Office Theme</vt:lpstr>
      <vt:lpstr>Depth</vt:lpstr>
      <vt:lpstr>理论：到底什么是数据分析？</vt:lpstr>
      <vt:lpstr>到底什么是数据分析？</vt:lpstr>
      <vt:lpstr>Dimension/Categorical  vs Measure/Numerical  </vt:lpstr>
      <vt:lpstr>PowerPoint Presentation</vt:lpstr>
      <vt:lpstr>PowerPoint Presentation</vt:lpstr>
      <vt:lpstr>Business Data analysis/商业数据分析 </vt:lpstr>
      <vt:lpstr>Business problems 1:Sales performance kpi 银行销售业务问题1：怎么提高销售业绩</vt:lpstr>
      <vt:lpstr>Sales conversion rate 销售人员客户转换率</vt:lpstr>
      <vt:lpstr>Funnel analysis 过滤分析</vt:lpstr>
      <vt:lpstr>Business problems 2: customer relationship 业务问题2：客户关系</vt:lpstr>
      <vt:lpstr>Cohort analysis</vt:lpstr>
      <vt:lpstr>Cohort analysis</vt:lpstr>
      <vt:lpstr>Business problems 3 :Marketing campaigns 业务问题3：怎么提高促销有效率</vt:lpstr>
      <vt:lpstr>RFM Analysis</vt:lpstr>
      <vt:lpstr>RFM </vt:lpstr>
      <vt:lpstr>Business Data analysis/商业数据分析  </vt:lpstr>
      <vt:lpstr>Business Data analysis /商业数据分析  </vt:lpstr>
      <vt:lpstr>Business Data analysis /商业数据分析  </vt:lpstr>
      <vt:lpstr>Credit Risk &amp; Credit Losses</vt:lpstr>
      <vt:lpstr>Credit Risk &amp; Credit Losses</vt:lpstr>
      <vt:lpstr>Credit Risk &amp; Credit Losses</vt:lpstr>
      <vt:lpstr>Business Data analysis/商业数据分析  </vt:lpstr>
      <vt:lpstr>Business Data analysis/商业数据分析  </vt:lpstr>
      <vt:lpstr>Business Data analysis/商业数据分析  </vt:lpstr>
      <vt:lpstr>Business Data analysis/商业数据分析  </vt:lpstr>
      <vt:lpstr>Business Data analysis/商业数据分析  </vt:lpstr>
      <vt:lpstr>Business Data analysis/商业数据分析  </vt:lpstr>
      <vt:lpstr>Business Data analysis/商业数据分析  </vt:lpstr>
      <vt:lpstr>Business Data analysis/商业数据分析  </vt:lpstr>
      <vt:lpstr>PowerPoint Presentation</vt:lpstr>
      <vt:lpstr>Business Data analysis /商业数据分析  </vt:lpstr>
      <vt:lpstr>Business Data analysis /商业数据分析  </vt:lpstr>
      <vt:lpstr>Business Data analysis /商业数据分析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理论：到底什么是数据分析？</dc:title>
  <dc:creator>vic abc</dc:creator>
  <cp:lastModifiedBy>vic abc</cp:lastModifiedBy>
  <cp:revision>1</cp:revision>
  <dcterms:created xsi:type="dcterms:W3CDTF">2022-07-16T15:21:22Z</dcterms:created>
  <dcterms:modified xsi:type="dcterms:W3CDTF">2022-07-16T15:23:54Z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2022-07-16T15:21:22Z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808c7684-432a-4f1d-8a27-3ab41831f393</vt:lpwstr>
  </property>
  <property fmtid="{D5CDD505-2E9C-101B-9397-08002B2CF9AE}" pid="7" name="MSIP_Label_defa4170-0d19-0005-0004-bc88714345d2_ActionId">
    <vt:lpwstr>0c736a13-6a6c-43d1-8ed0-ba6e5639cabc</vt:lpwstr>
  </property>
  <property fmtid="{D5CDD505-2E9C-101B-9397-08002B2CF9AE}" pid="8" name="MSIP_Label_defa4170-0d19-0005-0004-bc88714345d2_ContentBits">
    <vt:lpwstr>0</vt:lpwstr>
  </property>
</Properties>
</file>